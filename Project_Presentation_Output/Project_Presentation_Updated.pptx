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5181922b6ad45d6" /><Relationship Type="http://schemas.openxmlformats.org/officeDocument/2006/relationships/extended-properties" Target="/docProps/app.xml" Id="R9e12f54ee7cf40c5" /><Relationship Type="http://schemas.openxmlformats.org/officeDocument/2006/relationships/officeDocument" Target="/ppt/presentation.xml" Id="R34e80614c91b4e82" /></Relationships>
</file>

<file path=ppt/presentation.xml><?xml version="1.0" encoding="utf-8"?>
<p:presentation xmlns:p="http://schemas.openxmlformats.org/presentationml/2006/main">
  <p:sldMasterIdLst>
    <p:sldMasterId xmlns:r="http://schemas.openxmlformats.org/officeDocument/2006/relationships" id="2147483648" r:id="R57c5c1ecc9124757"/>
  </p:sldMasterIdLst>
  <p:notesMasterIdLst>
    <p:notesMasterId xmlns:r="http://schemas.openxmlformats.org/officeDocument/2006/relationships" r:id="R558d2d833e3440d4"/>
  </p:notesMasterIdLst>
  <p:sldIdLst>
    <p:sldId xmlns:r="http://schemas.openxmlformats.org/officeDocument/2006/relationships" id="256" r:id="Rc51e4ffac3db4911"/>
    <p:sldId xmlns:r="http://schemas.openxmlformats.org/officeDocument/2006/relationships" id="257" r:id="Rdbb1507d66e6463f"/>
    <p:sldId xmlns:r="http://schemas.openxmlformats.org/officeDocument/2006/relationships" id="258" r:id="Rb6077d9709d9469e"/>
    <p:sldId xmlns:r="http://schemas.openxmlformats.org/officeDocument/2006/relationships" id="259" r:id="R2dd64bbc68144625"/>
    <p:sldId xmlns:r="http://schemas.openxmlformats.org/officeDocument/2006/relationships" id="260" r:id="R4429e24741614d15"/>
    <p:sldId xmlns:r="http://schemas.openxmlformats.org/officeDocument/2006/relationships" id="261" r:id="R614429d40da44462"/>
    <p:sldId xmlns:r="http://schemas.openxmlformats.org/officeDocument/2006/relationships" id="262" r:id="Raa3b638f98db4c54"/>
    <p:sldId xmlns:r="http://schemas.openxmlformats.org/officeDocument/2006/relationships" id="263" r:id="R00e9e453563b4756"/>
    <p:sldId xmlns:r="http://schemas.openxmlformats.org/officeDocument/2006/relationships" id="264" r:id="Rd70e34c6191042a9"/>
    <p:sldId xmlns:r="http://schemas.openxmlformats.org/officeDocument/2006/relationships" id="265" r:id="R0d0a18de035b459d"/>
    <p:sldId xmlns:r="http://schemas.openxmlformats.org/officeDocument/2006/relationships" id="266" r:id="R0810ca0dcb324585"/>
    <p:sldId xmlns:r="http://schemas.openxmlformats.org/officeDocument/2006/relationships" id="267" r:id="R3089d2d348a145a3"/>
    <p:sldId xmlns:r="http://schemas.openxmlformats.org/officeDocument/2006/relationships" id="268" r:id="Re0292f76037e4a3a"/>
    <p:sldId xmlns:r="http://schemas.openxmlformats.org/officeDocument/2006/relationships" id="269" r:id="R1271f1b443e54ea1"/>
    <p:sldId xmlns:r="http://schemas.openxmlformats.org/officeDocument/2006/relationships" id="270" r:id="R8458ddab9d2c43ea"/>
    <p:sldId xmlns:r="http://schemas.openxmlformats.org/officeDocument/2006/relationships" id="271" r:id="Rf272d886af6a4b1c"/>
    <p:sldId xmlns:r="http://schemas.openxmlformats.org/officeDocument/2006/relationships" id="272" r:id="Re62452de45404e53"/>
    <p:sldId xmlns:r="http://schemas.openxmlformats.org/officeDocument/2006/relationships" id="273" r:id="R52b1db8b940d4b7a"/>
    <p:sldId xmlns:r="http://schemas.openxmlformats.org/officeDocument/2006/relationships" id="274" r:id="R8e7166ab3c714e59"/>
    <p:sldId xmlns:r="http://schemas.openxmlformats.org/officeDocument/2006/relationships" id="275" r:id="R18f2b88933784ea2"/>
    <p:sldId xmlns:r="http://schemas.openxmlformats.org/officeDocument/2006/relationships" id="276" r:id="Rcd2fa029200944f1"/>
    <p:sldId xmlns:r="http://schemas.openxmlformats.org/officeDocument/2006/relationships" id="277" r:id="Ra57b734f5c6442bc"/>
    <p:sldId xmlns:r="http://schemas.openxmlformats.org/officeDocument/2006/relationships" id="278" r:id="R5b8d3a6b9e4048e1"/>
    <p:sldId xmlns:r="http://schemas.openxmlformats.org/officeDocument/2006/relationships" id="279" r:id="Rcbbea2d81a744a35"/>
    <p:sldId xmlns:r="http://schemas.openxmlformats.org/officeDocument/2006/relationships" id="280" r:id="Rc734b725fffd4479"/>
    <p:sldId xmlns:r="http://schemas.openxmlformats.org/officeDocument/2006/relationships" id="281" r:id="R0165769a0bfd4b94"/>
    <p:sldId xmlns:r="http://schemas.openxmlformats.org/officeDocument/2006/relationships" id="282" r:id="Rf9278d298ef94d18"/>
    <p:sldId xmlns:r="http://schemas.openxmlformats.org/officeDocument/2006/relationships" id="283" r:id="Rc37f07fabbdf43c5"/>
    <p:sldId xmlns:r="http://schemas.openxmlformats.org/officeDocument/2006/relationships" id="284" r:id="Rede247ad44864447"/>
    <p:sldId xmlns:r="http://schemas.openxmlformats.org/officeDocument/2006/relationships" id="285" r:id="Rf7c54379f9ef429a"/>
    <p:sldId xmlns:r="http://schemas.openxmlformats.org/officeDocument/2006/relationships" id="286" r:id="R62220fb9917a484b"/>
    <p:sldId xmlns:r="http://schemas.openxmlformats.org/officeDocument/2006/relationships" id="287" r:id="R0cc41bd82c034815"/>
    <p:sldId xmlns:r="http://schemas.openxmlformats.org/officeDocument/2006/relationships" id="288" r:id="Rc727c9a881834a6b"/>
    <p:sldId xmlns:r="http://schemas.openxmlformats.org/officeDocument/2006/relationships" id="289" r:id="R9c7ad56170824f63"/>
    <p:sldId xmlns:r="http://schemas.openxmlformats.org/officeDocument/2006/relationships" id="290" r:id="R12d974758b894fb6"/>
    <p:sldId xmlns:r="http://schemas.openxmlformats.org/officeDocument/2006/relationships" id="291" r:id="R12606a398e154ec1"/>
    <p:sldId xmlns:r="http://schemas.openxmlformats.org/officeDocument/2006/relationships" id="292" r:id="R8dfcefe417c14fdd"/>
    <p:sldId xmlns:r="http://schemas.openxmlformats.org/officeDocument/2006/relationships" id="293" r:id="Rdd30800d7fb64caf"/>
    <p:sldId xmlns:r="http://schemas.openxmlformats.org/officeDocument/2006/relationships" id="294" r:id="Rb96f442a348b46a8"/>
    <p:sldId xmlns:r="http://schemas.openxmlformats.org/officeDocument/2006/relationships" id="295" r:id="Rb2100393328c410e"/>
    <p:sldId xmlns:r="http://schemas.openxmlformats.org/officeDocument/2006/relationships" id="296" r:id="R65bd7279e085464c"/>
    <p:sldId xmlns:r="http://schemas.openxmlformats.org/officeDocument/2006/relationships" id="297" r:id="R2d98916441b9461c"/>
    <p:sldId xmlns:r="http://schemas.openxmlformats.org/officeDocument/2006/relationships" id="298" r:id="R8b402cfc3bd947d9"/>
    <p:sldId xmlns:r="http://schemas.openxmlformats.org/officeDocument/2006/relationships" id="299" r:id="Rfe4f4ea03f0d45dc"/>
    <p:sldId xmlns:r="http://schemas.openxmlformats.org/officeDocument/2006/relationships" id="300" r:id="R6bba9409ded24e7a"/>
    <p:sldId xmlns:r="http://schemas.openxmlformats.org/officeDocument/2006/relationships" id="301" r:id="R07e6906bf3054e08"/>
    <p:sldId xmlns:r="http://schemas.openxmlformats.org/officeDocument/2006/relationships" id="302" r:id="R522b1426d5dd471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03c2201d47845d1" /><Relationship Type="http://schemas.openxmlformats.org/officeDocument/2006/relationships/slideMaster" Target="/ppt/slideMasters/slideMaster1.xml" Id="R57c5c1ecc9124757" /><Relationship Type="http://schemas.openxmlformats.org/officeDocument/2006/relationships/notesMaster" Target="/ppt/notesMasters/notesMaster1.xml" Id="R558d2d833e3440d4" /><Relationship Type="http://schemas.openxmlformats.org/officeDocument/2006/relationships/presProps" Target="/ppt/presProps.xml" Id="R33be511229e14c2c" /><Relationship Type="http://schemas.openxmlformats.org/officeDocument/2006/relationships/tableStyles" Target="/ppt/tableStyles.xml" Id="R7a4e5c683d754c70" /><Relationship Type="http://schemas.openxmlformats.org/officeDocument/2006/relationships/slide" Target="/ppt/slides/slide1.xml" Id="Rc51e4ffac3db4911" /><Relationship Type="http://schemas.openxmlformats.org/officeDocument/2006/relationships/slide" Target="/ppt/slides/slide2.xml" Id="Rdbb1507d66e6463f" /><Relationship Type="http://schemas.openxmlformats.org/officeDocument/2006/relationships/slide" Target="/ppt/slides/slide3.xml" Id="Rb6077d9709d9469e" /><Relationship Type="http://schemas.openxmlformats.org/officeDocument/2006/relationships/slide" Target="/ppt/slides/slide4.xml" Id="R2dd64bbc68144625" /><Relationship Type="http://schemas.openxmlformats.org/officeDocument/2006/relationships/slide" Target="/ppt/slides/slide5.xml" Id="R4429e24741614d15" /><Relationship Type="http://schemas.openxmlformats.org/officeDocument/2006/relationships/slide" Target="/ppt/slides/slide6.xml" Id="R614429d40da44462" /><Relationship Type="http://schemas.openxmlformats.org/officeDocument/2006/relationships/slide" Target="/ppt/slides/slide7.xml" Id="Raa3b638f98db4c54" /><Relationship Type="http://schemas.openxmlformats.org/officeDocument/2006/relationships/slide" Target="/ppt/slides/slide8.xml" Id="R00e9e453563b4756" /><Relationship Type="http://schemas.openxmlformats.org/officeDocument/2006/relationships/slide" Target="/ppt/slides/slide9.xml" Id="Rd70e34c6191042a9" /><Relationship Type="http://schemas.openxmlformats.org/officeDocument/2006/relationships/slide" Target="/ppt/slides/slide10.xml" Id="R0d0a18de035b459d" /><Relationship Type="http://schemas.openxmlformats.org/officeDocument/2006/relationships/slide" Target="/ppt/slides/slide11.xml" Id="R0810ca0dcb324585" /><Relationship Type="http://schemas.openxmlformats.org/officeDocument/2006/relationships/slide" Target="/ppt/slides/slide12.xml" Id="R3089d2d348a145a3" /><Relationship Type="http://schemas.openxmlformats.org/officeDocument/2006/relationships/slide" Target="/ppt/slides/slide13.xml" Id="Re0292f76037e4a3a" /><Relationship Type="http://schemas.openxmlformats.org/officeDocument/2006/relationships/slide" Target="/ppt/slides/slide14.xml" Id="R1271f1b443e54ea1" /><Relationship Type="http://schemas.openxmlformats.org/officeDocument/2006/relationships/slide" Target="/ppt/slides/slide15.xml" Id="R8458ddab9d2c43ea" /><Relationship Type="http://schemas.openxmlformats.org/officeDocument/2006/relationships/slide" Target="/ppt/slides/slide16.xml" Id="Rf272d886af6a4b1c" /><Relationship Type="http://schemas.openxmlformats.org/officeDocument/2006/relationships/slide" Target="/ppt/slides/slide17.xml" Id="Re62452de45404e53" /><Relationship Type="http://schemas.openxmlformats.org/officeDocument/2006/relationships/slide" Target="/ppt/slides/slide18.xml" Id="R52b1db8b940d4b7a" /><Relationship Type="http://schemas.openxmlformats.org/officeDocument/2006/relationships/slide" Target="/ppt/slides/slide19.xml" Id="R8e7166ab3c714e59" /><Relationship Type="http://schemas.openxmlformats.org/officeDocument/2006/relationships/slide" Target="/ppt/slides/slide20.xml" Id="R18f2b88933784ea2" /><Relationship Type="http://schemas.openxmlformats.org/officeDocument/2006/relationships/slide" Target="/ppt/slides/slide21.xml" Id="Rcd2fa029200944f1" /><Relationship Type="http://schemas.openxmlformats.org/officeDocument/2006/relationships/slide" Target="/ppt/slides/slide22.xml" Id="Ra57b734f5c6442bc" /><Relationship Type="http://schemas.openxmlformats.org/officeDocument/2006/relationships/slide" Target="/ppt/slides/slide23.xml" Id="R5b8d3a6b9e4048e1" /><Relationship Type="http://schemas.openxmlformats.org/officeDocument/2006/relationships/slide" Target="/ppt/slides/slide24.xml" Id="Rcbbea2d81a744a35" /><Relationship Type="http://schemas.openxmlformats.org/officeDocument/2006/relationships/slide" Target="/ppt/slides/slide25.xml" Id="Rc734b725fffd4479" /><Relationship Type="http://schemas.openxmlformats.org/officeDocument/2006/relationships/slide" Target="/ppt/slides/slide26.xml" Id="R0165769a0bfd4b94" /><Relationship Type="http://schemas.openxmlformats.org/officeDocument/2006/relationships/slide" Target="/ppt/slides/slide27.xml" Id="Rf9278d298ef94d18" /><Relationship Type="http://schemas.openxmlformats.org/officeDocument/2006/relationships/slide" Target="/ppt/slides/slide28.xml" Id="Rc37f07fabbdf43c5" /><Relationship Type="http://schemas.openxmlformats.org/officeDocument/2006/relationships/slide" Target="/ppt/slides/slide29.xml" Id="Rede247ad44864447" /><Relationship Type="http://schemas.openxmlformats.org/officeDocument/2006/relationships/slide" Target="/ppt/slides/slide30.xml" Id="Rf7c54379f9ef429a" /><Relationship Type="http://schemas.openxmlformats.org/officeDocument/2006/relationships/slide" Target="/ppt/slides/slide31.xml" Id="R62220fb9917a484b" /><Relationship Type="http://schemas.openxmlformats.org/officeDocument/2006/relationships/slide" Target="/ppt/slides/slide32.xml" Id="R0cc41bd82c034815" /><Relationship Type="http://schemas.openxmlformats.org/officeDocument/2006/relationships/slide" Target="/ppt/slides/slide33.xml" Id="Rc727c9a881834a6b" /><Relationship Type="http://schemas.openxmlformats.org/officeDocument/2006/relationships/slide" Target="/ppt/slides/slide34.xml" Id="R9c7ad56170824f63" /><Relationship Type="http://schemas.openxmlformats.org/officeDocument/2006/relationships/slide" Target="/ppt/slides/slide35.xml" Id="R12d974758b894fb6" /><Relationship Type="http://schemas.openxmlformats.org/officeDocument/2006/relationships/slide" Target="/ppt/slides/slide36.xml" Id="R12606a398e154ec1" /><Relationship Type="http://schemas.openxmlformats.org/officeDocument/2006/relationships/slide" Target="/ppt/slides/slide37.xml" Id="R8dfcefe417c14fdd" /><Relationship Type="http://schemas.openxmlformats.org/officeDocument/2006/relationships/slide" Target="/ppt/slides/slide38.xml" Id="Rdd30800d7fb64caf" /><Relationship Type="http://schemas.openxmlformats.org/officeDocument/2006/relationships/slide" Target="/ppt/slides/slide39.xml" Id="Rb96f442a348b46a8" /><Relationship Type="http://schemas.openxmlformats.org/officeDocument/2006/relationships/slide" Target="/ppt/slides/slide40.xml" Id="Rb2100393328c410e" /><Relationship Type="http://schemas.openxmlformats.org/officeDocument/2006/relationships/slide" Target="/ppt/slides/slide41.xml" Id="R65bd7279e085464c" /><Relationship Type="http://schemas.openxmlformats.org/officeDocument/2006/relationships/slide" Target="/ppt/slides/slide42.xml" Id="R2d98916441b9461c" /><Relationship Type="http://schemas.openxmlformats.org/officeDocument/2006/relationships/slide" Target="/ppt/slides/slide43.xml" Id="R8b402cfc3bd947d9" /><Relationship Type="http://schemas.openxmlformats.org/officeDocument/2006/relationships/slide" Target="/ppt/slides/slide44.xml" Id="Rfe4f4ea03f0d45dc" /><Relationship Type="http://schemas.openxmlformats.org/officeDocument/2006/relationships/slide" Target="/ppt/slides/slide45.xml" Id="R6bba9409ded24e7a" /><Relationship Type="http://schemas.openxmlformats.org/officeDocument/2006/relationships/slide" Target="/ppt/slides/slide46.xml" Id="R07e6906bf3054e08" /><Relationship Type="http://schemas.openxmlformats.org/officeDocument/2006/relationships/slide" Target="/ppt/slides/slide47.xml" Id="R522b1426d5dd471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ebe66a7555444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735a2b39ff64214" /><Relationship Type="http://schemas.openxmlformats.org/officeDocument/2006/relationships/notesMaster" Target="/ppt/notesMasters/notesMaster1.xml" Id="Rc162d41fd19a451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6abc2c995d34fee" /><Relationship Type="http://schemas.openxmlformats.org/officeDocument/2006/relationships/notesMaster" Target="/ppt/notesMasters/notesMaster1.xml" Id="R3609340418424a52" /></Relationships>
</file>

<file path=ppt/notesSlides/_rels/notesSlide3.xml.rels>&#65279;<?xml version="1.0" encoding="utf-8"?><Relationships xmlns="http://schemas.openxmlformats.org/package/2006/relationships"><Relationship Type="http://schemas.openxmlformats.org/officeDocument/2006/relationships/slide" Target="/ppt/slides/slide3.xml" Id="Rbdaae25d3ad943c5" /><Relationship Type="http://schemas.openxmlformats.org/officeDocument/2006/relationships/notesMaster" Target="/ppt/notesMasters/notesMaster1.xml" Id="R7b05376a4df24c6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5a4d02cbd5748a3" /><Relationship Type="http://schemas.openxmlformats.org/officeDocument/2006/relationships/notesMaster" Target="/ppt/notesMasters/notesMaster1.xml" Id="R0c31a21122e84fd4"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77610e62e4432a" /><Relationship Type="http://schemas.openxmlformats.org/officeDocument/2006/relationships/notesMaster" Target="/ppt/notesMasters/notesMaster1.xml" Id="R6b216f79f5da492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6363c7ddb4e4ec9" /><Relationship Type="http://schemas.openxmlformats.org/officeDocument/2006/relationships/notesMaster" Target="/ppt/notesMasters/notesMaster1.xml" Id="Rbd4b9045c2514640" /></Relationships>
</file>

<file path=ppt/notesSlides/_rels/notesSlide7.xml.rels>&#65279;<?xml version="1.0" encoding="utf-8"?><Relationships xmlns="http://schemas.openxmlformats.org/package/2006/relationships"><Relationship Type="http://schemas.openxmlformats.org/officeDocument/2006/relationships/slide" Target="/ppt/slides/slide7.xml" Id="Rd2ce4a01974c433a" /><Relationship Type="http://schemas.openxmlformats.org/officeDocument/2006/relationships/notesMaster" Target="/ppt/notesMasters/notesMaster1.xml" Id="Rc25d1648287f41de"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78f1dd0ad44991" /><Relationship Type="http://schemas.openxmlformats.org/officeDocument/2006/relationships/notesMaster" Target="/ppt/notesMasters/notesMaster1.xml" Id="R28a8d86e334145dc" /></Relationships>
</file>

<file path=ppt/notesSlides/_rels/notesSlide9.xml.rels>&#65279;<?xml version="1.0" encoding="utf-8"?><Relationships xmlns="http://schemas.openxmlformats.org/package/2006/relationships"><Relationship Type="http://schemas.openxmlformats.org/officeDocument/2006/relationships/slide" Target="/ppt/slides/slide9.xml" Id="R1a24911ad8de403f" /><Relationship Type="http://schemas.openxmlformats.org/officeDocument/2006/relationships/notesMaster" Target="/ppt/notesMasters/notesMaster1.xml" Id="Rd6c73a81a11f458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d71554c3df94ba1" /><Relationship Type="http://schemas.openxmlformats.org/officeDocument/2006/relationships/notesMaster" Target="/ppt/notesMasters/notesMaster1.xml" Id="Rc8d8566c104b428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2e0335930af45aa" /><Relationship Type="http://schemas.openxmlformats.org/officeDocument/2006/relationships/notesMaster" Target="/ppt/notesMasters/notesMaster1.xml" Id="R41071ccbe73f4bb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34f295faea4421d" /><Relationship Type="http://schemas.openxmlformats.org/officeDocument/2006/relationships/notesMaster" Target="/ppt/notesMasters/notesMaster1.xml" Id="R8e9887d006f14ad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02b826f80dc4fde" /><Relationship Type="http://schemas.openxmlformats.org/officeDocument/2006/relationships/notesMaster" Target="/ppt/notesMasters/notesMaster1.xml" Id="R238e4db6033d440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6eba33b113b411d" /><Relationship Type="http://schemas.openxmlformats.org/officeDocument/2006/relationships/notesMaster" Target="/ppt/notesMasters/notesMaster1.xml" Id="R272b6db3ca04450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f24987bb1e74405" /><Relationship Type="http://schemas.openxmlformats.org/officeDocument/2006/relationships/notesMaster" Target="/ppt/notesMasters/notesMaster1.xml" Id="R3371e125cae549e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10ba7a4baa64806" /><Relationship Type="http://schemas.openxmlformats.org/officeDocument/2006/relationships/notesMaster" Target="/ppt/notesMasters/notesMaster1.xml" Id="Re75f71ca61dc466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4f307bb02384f81" /><Relationship Type="http://schemas.openxmlformats.org/officeDocument/2006/relationships/notesMaster" Target="/ppt/notesMasters/notesMaster1.xml" Id="R81bcb117db2e44f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dc7466fc029415b" /><Relationship Type="http://schemas.openxmlformats.org/officeDocument/2006/relationships/notesMaster" Target="/ppt/notesMasters/notesMaster1.xml" Id="R6e4e7f20b262428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aa49bc5f11946fd" /><Relationship Type="http://schemas.openxmlformats.org/officeDocument/2006/relationships/notesMaster" Target="/ppt/notesMasters/notesMaster1.xml" Id="R16522ffb7f04473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a2ca8a1f392433a" /><Relationship Type="http://schemas.openxmlformats.org/officeDocument/2006/relationships/notesMaster" Target="/ppt/notesMasters/notesMaster1.xml" Id="Rebc695af643f435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de0d71e8ce84389" /><Relationship Type="http://schemas.openxmlformats.org/officeDocument/2006/relationships/notesMaster" Target="/ppt/notesMasters/notesMaster1.xml" Id="Re682b1f9317c4b4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b69f80980c74292" /><Relationship Type="http://schemas.openxmlformats.org/officeDocument/2006/relationships/notesMaster" Target="/ppt/notesMasters/notesMaster1.xml" Id="Reb5ecb5c48c1478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4cef6c876a945de" /><Relationship Type="http://schemas.openxmlformats.org/officeDocument/2006/relationships/notesMaster" Target="/ppt/notesMasters/notesMaster1.xml" Id="R861cf843608843a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4b6f586556a42a1" /><Relationship Type="http://schemas.openxmlformats.org/officeDocument/2006/relationships/notesMaster" Target="/ppt/notesMasters/notesMaster1.xml" Id="R1a048fd4e8514bc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75a0ec240394a2c" /><Relationship Type="http://schemas.openxmlformats.org/officeDocument/2006/relationships/notesMaster" Target="/ppt/notesMasters/notesMaster1.xml" Id="R53aa7d82b54c476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6e146e3fa814c56" /><Relationship Type="http://schemas.openxmlformats.org/officeDocument/2006/relationships/notesMaster" Target="/ppt/notesMasters/notesMaster1.xml" Id="Rcc4442a68d3c42c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7a8ea33a57a474a" /><Relationship Type="http://schemas.openxmlformats.org/officeDocument/2006/relationships/notesMaster" Target="/ppt/notesMasters/notesMaster1.xml" Id="R0f271d36f81b4ca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e8d0e8882d14d4d" /><Relationship Type="http://schemas.openxmlformats.org/officeDocument/2006/relationships/notesMaster" Target="/ppt/notesMasters/notesMaster1.xml" Id="Rf17c825ff76c42a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e7170904f444b4d" /><Relationship Type="http://schemas.openxmlformats.org/officeDocument/2006/relationships/notesMaster" Target="/ppt/notesMasters/notesMaster1.xml" Id="Rc2f3c00903bd4aa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89e0222142b414b" /><Relationship Type="http://schemas.openxmlformats.org/officeDocument/2006/relationships/notesMaster" Target="/ppt/notesMasters/notesMaster1.xml" Id="Rdf2cd21d9bdf462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f55da5456d84b51" /><Relationship Type="http://schemas.openxmlformats.org/officeDocument/2006/relationships/notesMaster" Target="/ppt/notesMasters/notesMaster1.xml" Id="R10dd6e9da7ac4f4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b982288e9824b7c" /><Relationship Type="http://schemas.openxmlformats.org/officeDocument/2006/relationships/notesMaster" Target="/ppt/notesMasters/notesMaster1.xml" Id="Rebc641f33b9f411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e015f079851434b" /><Relationship Type="http://schemas.openxmlformats.org/officeDocument/2006/relationships/notesMaster" Target="/ppt/notesMasters/notesMaster1.xml" Id="R6c99623c116d417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e98ff2f2dc64221" /><Relationship Type="http://schemas.openxmlformats.org/officeDocument/2006/relationships/notesMaster" Target="/ppt/notesMasters/notesMaster1.xml" Id="R2a8a8648e2c3401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87f0bcbece8451a" /><Relationship Type="http://schemas.openxmlformats.org/officeDocument/2006/relationships/notesMaster" Target="/ppt/notesMasters/notesMaster1.xml" Id="Rdcc349f11a2845d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695f39d62b749ad" /><Relationship Type="http://schemas.openxmlformats.org/officeDocument/2006/relationships/notesMaster" Target="/ppt/notesMasters/notesMaster1.xml" Id="R5c6d70625e1e451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6fa9a32df114d0d" /><Relationship Type="http://schemas.openxmlformats.org/officeDocument/2006/relationships/notesMaster" Target="/ppt/notesMasters/notesMaster1.xml" Id="R7e0bf01a3022493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0595eba123974820" /><Relationship Type="http://schemas.openxmlformats.org/officeDocument/2006/relationships/notesMaster" Target="/ppt/notesMasters/notesMaster1.xml" Id="R899801b705754cc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652ec92e1a54668" /><Relationship Type="http://schemas.openxmlformats.org/officeDocument/2006/relationships/notesMaster" Target="/ppt/notesMasters/notesMaster1.xml" Id="Rc38cbc5fdf7c44d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3505833bdd1448c" /><Relationship Type="http://schemas.openxmlformats.org/officeDocument/2006/relationships/notesMaster" Target="/ppt/notesMasters/notesMaster1.xml" Id="Rcab346e7d472499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d164b4290b34876" /><Relationship Type="http://schemas.openxmlformats.org/officeDocument/2006/relationships/notesMaster" Target="/ppt/notesMasters/notesMaster1.xml" Id="R2213b2ca86cf40f6"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e158c79b364a43a0" /><Relationship Type="http://schemas.openxmlformats.org/officeDocument/2006/relationships/notesMaster" Target="/ppt/notesMasters/notesMaster1.xml" Id="R0d50775545ae467f"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82b4c5be3b4c44e9" /><Relationship Type="http://schemas.openxmlformats.org/officeDocument/2006/relationships/notesMaster" Target="/ppt/notesMasters/notesMaster1.xml" Id="R4ee611092581432b"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19e96e0df0274d83" /><Relationship Type="http://schemas.openxmlformats.org/officeDocument/2006/relationships/notesMaster" Target="/ppt/notesMasters/notesMaster1.xml" Id="R8ce2f48290854d33"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0c0ed513255c4b70" /><Relationship Type="http://schemas.openxmlformats.org/officeDocument/2006/relationships/notesMaster" Target="/ppt/notesMasters/notesMaster1.xml" Id="R9c489c3d1d384ff5"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0626fe84164649e3" /><Relationship Type="http://schemas.openxmlformats.org/officeDocument/2006/relationships/notesMaster" Target="/ppt/notesMasters/notesMaster1.xml" Id="R02a8d76a87214840"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3df6a96233e241c3" /><Relationship Type="http://schemas.openxmlformats.org/officeDocument/2006/relationships/notesMaster" Target="/ppt/notesMasters/notesMaster1.xml" Id="Ra930c2cb907042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this as a software simulation of coordination in agricultural IoT. The central contribution is selecting temporary role holders using recursive capability, migration costs, and lease rules. The supplied folder does not identify the student, institution, department, or guide, so replace the marked fields before presenting. The implementation and stored experiments support statements about this model, not a deployed farm network. Allow about 18 minutes for slides 1–33 and use the appendix for questions.</a:t>
            </a:r>
          </a:p>
          <a:p xmlns:a="http://schemas.openxmlformats.org/drawingml/2006/main">
            <a:r>
              <a:t/>
            </a:r>
          </a:p>
          <a:p xmlns:a="http://schemas.openxmlformats.org/drawingml/2006/main">
            <a:r>
              <a:t>Implementation evidence: Project.md; simulation/config.py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distinction between a role and a scope. A gateway role exists separately for each subnet, each network, and the internetwork. Candidates are immediate children: nodes within a subnet, subnets within a network, and networks at the root. The system measures service availability and communication costs under changing conditions. Anomaly detection, health monitoring, and discoverability are role labels and scores. The code does not implement their application payload services. Transition to why reassignment is useful.</a:t>
            </a:r>
          </a:p>
          <a:p xmlns:a="http://schemas.openxmlformats.org/drawingml/2006/main">
            <a:r>
              <a:t/>
            </a:r>
          </a:p>
          <a:p xmlns:a="http://schemas.openxmlformats.org/drawingml/2006/main">
            <a:r>
              <a:t>Implementation evidence: simulation/config.py; simulation/entities.py; nodes.py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this as the problem investigated by the project rather than a claim about every IoT deployment. Node energy and link quality affect both suitability and communication. Choosing the highest current score at every step can produce unnecessary churn. Keeping every original holder can leave roles unavailable. The simulator creates a controlled way to compare those policies on the same initial world and event schedule. Ask the panel to judge the mechanism and the evidence under the stated abstraction.</a:t>
            </a:r>
          </a:p>
          <a:p xmlns:a="http://schemas.openxmlformats.org/drawingml/2006/main">
            <a:r>
              <a:t/>
            </a:r>
          </a:p>
          <a:p xmlns:a="http://schemas.openxmlformats.org/drawingml/2006/main">
            <a:r>
              <a:t>Implementation evidence: Project.md; simulation/protocols.py; simulation/runner.py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specification motivates agricultural networks with distributed, potentially solar-powered devices. In implementation, this becomes a deterministic experiment framework. Its objectives are observable: capability refresh, temporary assignments, failure recovery, and separate communication counters. Solar harvesting is a later implemented extension. Do not suggest that the project contains real agricultural sensor readings or hardware measurements. The hierarchy is an input assumption, so automatic clustering is outside the current objectives.</a:t>
            </a:r>
          </a:p>
          <a:p xmlns:a="http://schemas.openxmlformats.org/drawingml/2006/main">
            <a:r>
              <a:t/>
            </a:r>
          </a:p>
          <a:p xmlns:a="http://schemas.openxmlformats.org/drawingml/2006/main">
            <a:r>
              <a:t>Implementation evidence: Project.md; FINAL_SPRINT_PLAN.md; simulation/events.py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each row as the exact policy in this codebase. The hierarchical baseline chooses a seeded random fixed controller and random reachable eligible holders, retaining them until failure. Centralized instead uses a fixed controller selected by normalized degree and capability-based reassignment. Static stops policy updates after initialization. Dynamic has local control sources and immediately selects the best reachable score. Proposed adds cost-aware optional migration and leases. These are custom model baselines, not implementations of LEACH, RPL, or another named networking standard.</a:t>
            </a:r>
          </a:p>
          <a:p xmlns:a="http://schemas.openxmlformats.org/drawingml/2006/main">
            <a:r>
              <a:t/>
            </a:r>
          </a:p>
          <a:p xmlns:a="http://schemas.openxmlformats.org/drawingml/2006/main">
            <a:r>
              <a:t>Implementation evidence: simulation/protocols.py; simulation/runner.py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mechanism as several cooperating modules. The capability calculation says who is suitable. The protocol engine decides whether a change is justified. The lease state machine records who currently holds a role. The router makes communication success and energy visible. The system is decentralized in modeled control-source selection, but one Mesa model executes the simulation in a single process. It does not implement distributed consensus or independent devices exchanging real packets.</a:t>
            </a:r>
          </a:p>
          <a:p xmlns:a="http://schemas.openxmlformats.org/drawingml/2006/main">
            <a:r>
              <a:t/>
            </a:r>
          </a:p>
          <a:p xmlns:a="http://schemas.openxmlformats.org/drawingml/2006/main">
            <a:r>
              <a:t>Implementation evidence: simulation/capability.py; simulation/protocols.py; simulation/communications.py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responsibilities are visible in imports and code. Mesa supplies agent identity and a model clock, while transitions enforces legal state changes. NumPy supplies seeded random generators and numeric operations. Pandas exports and aggregates metrics. Matplotlib produces plots. SciPy is used for t intervals by the study analyzer, but requirements.txt does not declare it. The original specification mentions SimPy and NetworkX, but the active simulator uses neither. Adjacency dictionaries and a custom heap-based router implement the graph behavior. These rationales are architectural interpretations, not recorded author interviews. Environment verification found that Mesa 3.5.1 conflicts with assigning a string to model.scenario. Short simulations work with Mesa 3.3.1. Pin and test a compatible Mesa version before the live demo. NetworkX is a Mesa dependency in this environment, but this project does not use it directly for topology or routing.</a:t>
            </a:r>
          </a:p>
          <a:p xmlns:a="http://schemas.openxmlformats.org/drawingml/2006/main">
            <a:r>
              <a:t/>
            </a:r>
          </a:p>
          <a:p xmlns:a="http://schemas.openxmlformats.org/drawingml/2006/main">
            <a:r>
              <a:t>Implementation evidence: requirements.txt; nodes.py; simulation/*.py; patent-study/analyze_patent_study.py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 the diagram from the CLI or study runner into RoleSimulationModel. Configuration and the event schedule define the world. Topology creates positions and the physical adjacency map. EntityHierarchy maps the logical organization. Capability refresh feeds ProtocolEngine, which owns leases and uses NetworkRouter for grants, renewals, and migration. Sensor traffic uses that same router. MetricsRecorder reads the resulting state and counters. The experiment layer exports CSV and PNG, while the study layer additionally writes compressed NumPy time series. The diagram represents runtime dependencies, not separate servers.</a:t>
            </a:r>
          </a:p>
          <a:p xmlns:a="http://schemas.openxmlformats.org/drawingml/2006/main">
            <a:r>
              <a:t/>
            </a:r>
          </a:p>
          <a:p xmlns:a="http://schemas.openxmlformats.org/drawingml/2006/main">
            <a:r>
              <a:t>Implementation evidence: simulation/main.py; simulation/runner.py; simulation/experiments.py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active implementation is the simulation package plus nodes.py. The standalone placer.py creates a map and visualization but the active runner directly calls create_topology rather than loading network_map.csv. The patent-study folder contains execution, aggregation, and stored evidence. Older HANDOFF.md and Roadmap.md describe a hierarchy.py monolith that is absent from this folder. FINAL_SPRINT_PLAN.md explicitly supersedes that direction. Use the current package names when explaining code and avoid repeating old lease counts or incomplete status from the handoff.</a:t>
            </a:r>
          </a:p>
          <a:p xmlns:a="http://schemas.openxmlformats.org/drawingml/2006/main">
            <a:r>
              <a:t/>
            </a:r>
          </a:p>
          <a:p xmlns:a="http://schemas.openxmlformats.org/drawingml/2006/main">
            <a:r>
              <a:t>Implementation evidence: simulation/; nodes.py; placer.py; FINAL_SPRINT_PLAN.md</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left chain as candidate membership, not radio links. The default subnet distribution is 4, 3, and 3. A container is available if at least one descendant node is online. Its representative is the first available descendant in stored order, not necessarily its best gateway. On the physical side, distance creates undirected edges and normalized degree supplies centrality. Positive intercluster spacing also inserts nearest bridge links between adjacent clusters. These long-range links are an abstraction and can exceed the nominal communication range. No hierarchy relationship automatically provides a route.</a:t>
            </a:r>
          </a:p>
          <a:p xmlns:a="http://schemas.openxmlformats.org/drawingml/2006/main">
            <a:r>
              <a:t/>
            </a:r>
          </a:p>
          <a:p xmlns:a="http://schemas.openxmlformats.org/drawingml/2006/main">
            <a:r>
              <a:t>Implementation evidence: simulation/topology.py; simulation/entities.py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Mesa advances the step count and invokes the model step. Apply scheduled events first and fail depleted nodes. Refresh capabilities before policy decisions so failure and degradation influence selection. Mark affected scopes if configured, then update leases and migrations. Harvest solar energy after protocol decisions and before sensor traffic. Route sensor and optional backhaul traffic, fail newly depleted nodes, refresh capabilities again, and record metrics. This ordering matters: a node recharged during harvesting can rejoin, while a missing lease may only be assigned at a later policy update.</a:t>
            </a:r>
          </a:p>
          <a:p xmlns:a="http://schemas.openxmlformats.org/drawingml/2006/main">
            <a:r>
              <a:t/>
            </a:r>
          </a:p>
          <a:p xmlns:a="http://schemas.openxmlformats.org/drawingml/2006/main">
            <a:r>
              <a:t>Implementation evidence: simulation/runner.py: RoleSimulationModel.step</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E as normalized battery energy, H as health, Q as node link quality, and C as normalized initial degree. ROLE_WEIGHTS in nodes.py is the single source of truth. Gateway capability in the example is .36 plus .245 plus .15, which is .755. Both anomaly detection and health monitoring produce .85 because their weight definitions are identical. Discoverability produces .801. Scores are bounded to [0,1]. A positive capability does not guarantee a route, which is why selection also checks reachability. No learned model or classifier appears here.</a:t>
            </a:r>
          </a:p>
          <a:p xmlns:a="http://schemas.openxmlformats.org/drawingml/2006/main">
            <a:r>
              <a:t/>
            </a:r>
          </a:p>
          <a:p xmlns:a="http://schemas.openxmlformats.org/drawingml/2006/main">
            <a:r>
              <a:t>Implementation evidence: nodes.py: ROLE_WEIGHTS; NodeAgent.capability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real NodeAgent state machine has exactly two states: online and failed. Construction starts online. A scheduled fail event or the coordinator detecting zero energy invokes fail(). Both paths remove node availability and trigger graph invalidation. Scheduled recover events invoke recover(). Only nodes tracked in _energy_depleted_node_ids can rejoin automatically after solar charging reaches minimum_energy_reserve. Solar charging alone does not repair an explicit scheduled failure. Energy and link degradation update attributes rather than introducing extra states. Role ownership lives in ProtocolEngine.assignments, outside this state machine. A node may be online without holding any role, and becoming online does not guarantee a lease or route. Explain this distinction before discussing role selection.</a:t>
            </a:r>
          </a:p>
          <a:p xmlns:a="http://schemas.openxmlformats.org/drawingml/2006/main">
            <a:r>
              <a:t/>
            </a:r>
          </a:p>
          <a:p xmlns:a="http://schemas.openxmlformats.org/drawingml/2006/main">
            <a:r>
              <a:t>Implementation evidence: nodes.py: NODE_STATES; simulation/runner.py: _fail_energy_empty_nodes; _harvest_solar_energy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child gateway scores .8 and .6 with weights 1 and 3, the aggregate is (.8 + 1.8) / 4 = .65. Empty children return a zero vector. Invalid negative weights or a nonpositive total raise an error. Refresh starts with all leaf vectors and updates each parent in dependency order. The default root gives equal weight to networks despite their 4/3/3 subnet counts. That is a hierarchy weighting choice, not a population-weighted global average. Recomputing from children keeps the function deterministic and independent of previous aggregate values.</a:t>
            </a:r>
          </a:p>
          <a:p xmlns:a="http://schemas.openxmlformats.org/drawingml/2006/main">
            <a:r>
              <a:t/>
            </a:r>
          </a:p>
          <a:p xmlns:a="http://schemas.openxmlformats.org/drawingml/2006/main">
            <a:r>
              <a:t>Implementation evidence: simulation/capability.py: weighted_aggregate; refresh_capabilities</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_select_for_role and _assign together. A scope needs a control source and at least one reachable candidate. The proposed initial assignment is capability-based and does not deduct migration cost because no holder is being replaced. The hierarchical policy instead uses seeded random choice. A failed grant leaves the role unassigned. A successful grant creates a Lease and activates it. The tuple-keyed dictionary gives direct access to each role/scope assignment. Multiple roles may share a holder because the code has no capacity limit or exclusivity across different role keys.</a:t>
            </a:r>
          </a:p>
          <a:p xmlns:a="http://schemas.openxmlformats.org/drawingml/2006/main">
            <a:r>
              <a:t/>
            </a:r>
          </a:p>
          <a:p xmlns:a="http://schemas.openxmlformats.org/drawingml/2006/main">
            <a:r>
              <a:t>Implementation evidence: simulation/protocols.py: _select_for_role; _assign</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actual initial proposed-policy snapshot from SimulationConfig(seed=42). At scope network_0_subnet_0, immediate child nodes 0 through 9 compete. The control source is physical node 0. The engine filters unavailable or unreachable representatives and ranks known capability. The initial gateway lease holder is node 4. All four roles happen to select node 4 in this subnet, but the code evaluates each role independently and does not require that coincidence. Displayed node scores are sampled just after initialization and include the tiny control-energy effects of initial grants. Container scores were refreshed before those grants. The numbers illustrate the stored assignment, not a new benchmark. A failed grant would leave the role unassigned.</a:t>
            </a:r>
          </a:p>
          <a:p xmlns:a="http://schemas.openxmlformats.org/drawingml/2006/main">
            <a:r>
              <a:t/>
            </a:r>
          </a:p>
          <a:p xmlns:a="http://schemas.openxmlformats.org/drawingml/2006/main">
            <a:r>
              <a:t>Implementation evidence: simulation/entities.py: scope_candidates; simulation/protocols.py: _select_for_role; _assign</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network_0, candidates are the subnet entities network_0_subnet_0 through network_0_subnet_3. They carry aggregated capability vectors, rather than being evaluated as individual nodes. The observed gateway lease selects subnet 3. The model represents that container physically through node 30, its first available descendant. This representative is not necessarily the subnet gateway selected by a different lease. Anomaly detection, health monitoring, and discoverability choose subnet 0 in this snapshot. Stress that the holder ID is a subnet string at this level. The scope representative still sends the abstract grant over the physical mesh.</a:t>
            </a:r>
          </a:p>
          <a:p xmlns:a="http://schemas.openxmlformats.org/drawingml/2006/main">
            <a:r>
              <a:t/>
            </a:r>
          </a:p>
          <a:p xmlns:a="http://schemas.openxmlformats.org/drawingml/2006/main">
            <a:r>
              <a:t>Implementation evidence: simulation/entities.py: capability; representative_node_id; simulation/protocols.py: _assign</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the internetwork scope, the candidates are network_0, network_1, and network_2. Their capability vectors aggregate their child subnets. In the seed-42 initial proposed run, network_2 holds all four root roles. Its first available descendant is physical node 70. Gateway scores for networks 1 and 2 are close, so show six decimal places to avoid an apparent rounded tie. The max selection tie-breaker is string ID only when score values tie. The root selects a network entity, not a single node across the entire deployment. There is one root scope, so this contributes four of the total 56 role assignments.</a:t>
            </a:r>
          </a:p>
          <a:p xmlns:a="http://schemas.openxmlformats.org/drawingml/2006/main">
            <a:r>
              <a:t/>
            </a:r>
          </a:p>
          <a:p xmlns:a="http://schemas.openxmlformats.org/drawingml/2006/main">
            <a:r>
              <a:t>Implementation evidence: simulation/entities.py: scope_candidates; simulation/capability.py: refresh_capabilities; simulation/protocols.py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transitions library prohibits illegal jumps. New leases start pending and activate. Renewal temporarily enters renewing and updates timing before returning active. Migration enters migrating and replaces holder, epoch, and timing in the same lease object. Expiry or invalidation ends availability. Duration in proposed is 10 + capability times 90 by default, so a .8 score gives 82 ticks and renewal becomes due at 57.4 ticks, checked on integer ticks. Epochs advance every 20 ticks. Default behavior regrants assignments, while retention updates existing epoch labels in place. This is an in-process fencing model, not a distributed stale-message rejection protocol.</a:t>
            </a:r>
          </a:p>
          <a:p xmlns:a="http://schemas.openxmlformats.org/drawingml/2006/main">
            <a:r>
              <a:t/>
            </a:r>
          </a:p>
          <a:p xmlns:a="http://schemas.openxmlformats.org/drawingml/2006/main">
            <a:r>
              <a:t>Implementation evidence: simulation/leases.py; simulation/protocols.py: _advance_epoch; _lease_duration</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cost terms are deterministic estimates. The control-message term is fixed at two, while _migrate sends one modeled MIGRATE exchange from the scope source to the new holder. Thus the utility estimate and actual charged control energy are related but distinct models. With route cost 6 and default control energy .00001, cost is .020 + .025 + .0006 + .050 = .0956. Candidate score .88 gives utility .87044. Against current .80 and delta .05, migration passes. A .85 candidate gives .84044 and fails. Optional cooldown and adaptive hysteresis can further restrict changes.</a:t>
            </a:r>
          </a:p>
          <a:p xmlns:a="http://schemas.openxmlformats.org/drawingml/2006/main">
            <a:r>
              <a:t/>
            </a:r>
          </a:p>
          <a:p xmlns:a="http://schemas.openxmlformats.org/drawingml/2006/main">
            <a:r>
              <a:t>Implementation evidence: simulation/protocols.py: calculate_migration_cost; _consider_cost_aware_migration</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algorithm prefers the two-hop route in the example even though it uses more hops. A link at or below minimum_link_quality is excluded. Failed nodes lose incident usable links. Sorted neighbors and a numerical tolerance stabilize equal-cost behavior. Source equals destination returns a zero-hop successful route. A missing path returns None and increments a delivery-failure counter when a message is offered. Cache invalidation happens on failure, recovery, link degradation, and depletion. The router stores explicit path tuples for all reachable destinations, so path materialization adds overhead beyond the textbook Dijkstra bound.</a:t>
            </a:r>
          </a:p>
          <a:p xmlns:a="http://schemas.openxmlformats.org/drawingml/2006/main">
            <a:r>
              <a:t/>
            </a:r>
          </a:p>
          <a:p xmlns:a="http://schemas.openxmlformats.org/drawingml/2006/main">
            <a:r>
              <a:t>Implementation evidence: simulation/communications.py: _routes_from; _current_graph; find_route</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Default data energy is .00005 per endpoint and control energy .00001. Distance weight defaults to zero, while the stored clustered study uses weight one and exponent two. A zero-hop message succeeds without communication energy. Accounting records requested modeled costs even when battery depletion clamps the actual battery at zero, so communication energy and residual battery loss are not interchangeable conservation totals. Explicit degradation and harvested energy also change batteries. The model omits retransmissions, interference, sensing, CPU work, and idle consumption. All energy values use normalized units rather than joules.</a:t>
            </a:r>
          </a:p>
          <a:p xmlns:a="http://schemas.openxmlformats.org/drawingml/2006/main">
            <a:r>
              <a:t/>
            </a:r>
          </a:p>
          <a:p xmlns:a="http://schemas.openxmlformats.org/drawingml/2006/main">
            <a:r>
              <a:t>Implementation evidence: simulation/communications.py: send; _hop_energy_cost; _record_energy; nodes.py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node has a constant harvest rate for the entire run, with a separate seeded generator to avoid changing topology randomness. The projection uses battery plus horizon times harvest minus observed average communication use, then clamps capacity and subtracts essential reserve. Default horizon is 500 steps and margin is .01. Container reserve projections average available descendants. The gate does not replace capability and migration-cost ranking. It acts after hysteresis and applies only to optional migrations. This is a simple extrapolation without daylight or weather cycles, and the stored results must determine whether it actually helps.</a:t>
            </a:r>
          </a:p>
          <a:p xmlns:a="http://schemas.openxmlformats.org/drawingml/2006/main">
            <a:r>
              <a:t/>
            </a:r>
          </a:p>
          <a:p xmlns:a="http://schemas.openxmlformats.org/drawingml/2006/main">
            <a:r>
              <a:t>Implementation evidence: simulation/runner.py: _harvest_solar_energy; simulation/protocols.py: _solar_migration_is_worthwhile</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 the upper path for an unavailable holder. ProtocolEngine tracks when the holder became unavailable and honors detection_delay_steps before invalidating. Container availability uses any online descendant, so one failed descendant does not necessarily invalidate a container lease. The engine removes an invalid lease and calls _assign to select a reachable replacement. Grant success activates the new lease and records recovery time when a pending recovery exists. No reachable candidate or failed communication leaves the role unassigned and a later step retries. The optional solar migration gate only controls discretionary migration and is not invoked for this emergency assignment path. Role availability and route reachability are related but separate checks.</a:t>
            </a:r>
          </a:p>
          <a:p xmlns:a="http://schemas.openxmlformats.org/drawingml/2006/main">
            <a:r>
              <a:t/>
            </a:r>
          </a:p>
          <a:p xmlns:a="http://schemas.openxmlformats.org/drawingml/2006/main">
            <a:r>
              <a:t>Implementation evidence: simulation/protocols.py: step; _invalidate; _assign; simulation/runner.py: holder_unavailable_since</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Distinguish sensor-item delivery from hierarchical backhaul. Every currently online node offers one sensor item to its subnet gateway. The sensor delivery metric counts that first-leg success. When backhaul is enabled, successful subnets produce one aggregate to a network gateway, and active networks produce one aggregate to the internetwork gateway. Those aggregate deliveries have separate counters and do not redefine sensor-item delivery as end-to-end root receipt. Metrics accumulate in memory and export to CSV, PNG, and study NPZ files. There is no database, web API, or persistent server in this project.</a:t>
            </a:r>
          </a:p>
          <a:p xmlns:a="http://schemas.openxmlformats.org/drawingml/2006/main">
            <a:r>
              <a:t/>
            </a:r>
          </a:p>
          <a:p xmlns:a="http://schemas.openxmlformats.org/drawingml/2006/main">
            <a:r>
              <a:t>Implementation evidence: simulation/runner.py: _route_sensor_traffic; simulation/metrics.py; simulation/experiments.py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Python calls in one process, not HTTP endpoints. Configuration validates finite values, dimensions, ranges, and lease settings. Event construction rejects unsupported kinds and invalid degradation values. Model initialization rejects unknown node references and events beyond the configured horizon. Routing rejects invalid endpoint IDs but returns None for unavailable or disconnected endpoints. Lease transitions reject invalid lifecycle operations. Security is currently about input validation and state consistency. Authentication, authorization, encryption, and protection from malicious IoT nodes are absent because no actual network service is exposed.</a:t>
            </a:r>
          </a:p>
          <a:p xmlns:a="http://schemas.openxmlformats.org/drawingml/2006/main">
            <a:r>
              <a:t/>
            </a:r>
          </a:p>
          <a:p xmlns:a="http://schemas.openxmlformats.org/drawingml/2006/main">
            <a:r>
              <a:t>Implementation evidence: simulation/config.py; simulation/events.py; simulation/runner.py; simulation/communications.py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genuine stored figure on this slide as an application output, not a product UI screenshot. Its panels come from patent-study/results_20000/sensor_delivery.png. The study compares A hierarchical without harvest, B proposed without harvest, C proposed with moderate harvest, and D proposed with harvest plus the gate. These labels differ from the five generic CLI policies. Do not invent a dashboard. For a live demonstration, use the next slide and open the generated summary and migration CSV. The plot represents simulated cumulative sensor delivery under the documented study setup.</a:t>
            </a:r>
          </a:p>
          <a:p xmlns:a="http://schemas.openxmlformats.org/drawingml/2006/main">
            <a:r>
              <a:t/>
            </a:r>
          </a:p>
          <a:p xmlns:a="http://schemas.openxmlformats.org/drawingml/2006/main">
            <a:r>
              <a:t>Implementation evidence: patent-study/results_20000/sensor_delivery.png; simulation/main.py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command: python -m simulation.main --seed 42 --steps 100 --scenarios node_failures --protocols hierarchical proposed --output demo_results. With the default 100-node event generator, ten selected nodes fail at tick 25 and recover at tick 75. Failures may include nonholders, and a random baseline controller failure has an especially large effect. Open summary.csv, then timeseries/node_failures_proposed_timeseries.csv and migrations/node_failures_proposed_migrations.csv. A small run verifies behavior, while the stored 20,000-step experiment addresses longer horizons. Current verification status and actual smoke results appear on the testing slide.</a:t>
            </a:r>
          </a:p>
          <a:p xmlns:a="http://schemas.openxmlformats.org/drawingml/2006/main">
            <a:r>
              <a:t/>
            </a:r>
          </a:p>
          <a:p xmlns:a="http://schemas.openxmlformats.org/drawingml/2006/main">
            <a:r>
              <a:t>Implementation evidence: simulation/main.py; simulation/events.py; simulation/experiments.py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challenges are supported by code and development records rather than invented personal anecdotes. Early duplicated role weights motivated the single definition in nodes.py. Separating mesh from hierarchy prevents membership from silently creating radio links. The router separates logical messages from physical hop counts. The development record notes that 20-tick epoch revocation can mask longer lease renewal and batching behavior, leading to configurable retention. Explicit generated-item counts fix denominator ambiguity. A remaining concern is that shared memory gives immediate global capability knowledge unless periodic broadcasts are configured.</a:t>
            </a:r>
          </a:p>
          <a:p xmlns:a="http://schemas.openxmlformats.org/drawingml/2006/main">
            <a:r>
              <a:t/>
            </a:r>
          </a:p>
          <a:p xmlns:a="http://schemas.openxmlformats.org/drawingml/2006/main">
            <a:r>
              <a:t>Implementation evidence: Roadmap.md; finished_work.md; simulation/metrics.py; simulation/protocols.py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testing by invariant rather than only by count. Arithmetic tests check role weights and normalized aggregation. Router tests verify reliable multihop selection, same-node success, partitions, message counts, and distance energy. Protocol tests cover one assignment per key, hysteresis, renewal at the configured fraction, epoch retention, broadcasts, and recovery delay. Solar tests cover capacity, reproducible rates, reserve recovery, and gate acceptance/rejection. No coverage percentage or runtime benchmark is available. The original history reports 80 tests, while the fresh run is the relevant present result. Fresh test execution: 82 passed in 9.47s. Smoke results: hierarchical: CSC 1.0000, sensor delivery 1.0000; proposed: CSC 1.0000, sensor delivery 1.0000.</a:t>
            </a:r>
          </a:p>
          <a:p xmlns:a="http://schemas.openxmlformats.org/drawingml/2006/main">
            <a:r>
              <a:t/>
            </a:r>
          </a:p>
          <a:p xmlns:a="http://schemas.openxmlformats.org/drawingml/2006/main">
            <a:r>
              <a:t>Implementation evidence: test_nodes.py; tests/test_*.py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report declares 480 completed runs: 30 seeds times four scenarios times four arms. Seeds span 42–71 and each run lasts 20,000 ticks. Arms share the initial topology and event schedule within each seed and scenario. The study uses 100 nodes, intercluster gap 1.5 communication ranges, distance energy weight one, hierarchical backhaul, and epoch retention. Moderate harvest is .0002 before the seeded per-node multiplier. Because A and B also differ in controller and selection behavior, B minus A measures a bundled protocol contrast. C minus B isolates harvest within proposed, and D minus C isolates the optional gate.</a:t>
            </a:r>
          </a:p>
          <a:p xmlns:a="http://schemas.openxmlformats.org/drawingml/2006/main">
            <a:r>
              <a:t/>
            </a:r>
          </a:p>
          <a:p xmlns:a="http://schemas.openxmlformats.org/drawingml/2006/main">
            <a:r>
              <a:t>Implementation evidence: patent-study/run_patent_study.py; patent-study/results_20000/final_report.md</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CSC is a role-state availability proxy. It does not prove that anomaly detection or another application service performed useful computation. Sensor delivery includes unrouted generated items in the denominator, but only online nodes generate traffic, so compare offered load as well as fractions. It also measures the subnet leg rather than root delivery. The stored analyzer uses paired seed differences and 95 percent t intervals. Service lifetime uses cumulative fractions at 90 and 50 percent thresholds, while network lifetime uses instantaneous active-node fraction below 50 percent. Censored horizon values are not observed failure times.</a:t>
            </a:r>
          </a:p>
          <a:p xmlns:a="http://schemas.openxmlformats.org/drawingml/2006/main">
            <a:r>
              <a:t/>
            </a:r>
          </a:p>
          <a:p xmlns:a="http://schemas.openxmlformats.org/drawingml/2006/main">
            <a:r>
              <a:t>Implementation evidence: simulation/metrics.py; patent-study/analyze_patent_study.py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per-run means recomputed from the supplied CSV, rounded for display. A retains substantial battery but loses much of the modeled service because coordination can fail. B has much higher role continuity and sensor delivery but low ending battery. C and D reach one in the stored sensor and continuity metrics under this configuration, with higher total communication energy because they sustain service longer. This is not evidence of perfect radio delivery in the field. Fractions are means of run fractions, and energy per item is the mean of per-run ratios, so it need not equal the ratio of displayed means.</a:t>
            </a:r>
          </a:p>
          <a:p xmlns:a="http://schemas.openxmlformats.org/drawingml/2006/main">
            <a:r>
              <a:t/>
            </a:r>
          </a:p>
          <a:p xmlns:a="http://schemas.openxmlformats.org/drawingml/2006/main">
            <a:r>
              <a:t>Implementation evidence: patent-study/results_20000/per_run_metrics.csv</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percentage points for fraction differences. The stored normal B minus A delivery effect is .6801577 with interval [.6568311, .7034843]. C minus B is .1661842 with interval [.1554166, .1769518]. D minus C has zero delivery difference in normal, failures, and energy degradation. In link degradation its delivery interval includes zero. In normal, D slightly increases energy per delivered item, with a positive interval in the stored analysis. Therefore the gate does not establish a general improvement over harvest alone. These intervals describe this paired simulation design and do not establish causality for real devices or universal superiority.</a:t>
            </a:r>
          </a:p>
          <a:p xmlns:a="http://schemas.openxmlformats.org/drawingml/2006/main">
            <a:r>
              <a:t/>
            </a:r>
          </a:p>
          <a:p xmlns:a="http://schemas.openxmlformats.org/drawingml/2006/main">
            <a:r>
              <a:t>Implementation evidence: patent-study/results_20000/paired_comparison.csv</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contributions at the project level. The work integrates deterministic topology, a fixed hierarchy, capability calculations, state machines, policy alternatives, failures, solar energy, and reporting into a small modular simulator. It provides more explanatory value than a score-only demonstration because control exchanges and data routing affect batteries. Its reproducible artifacts are useful for investigating tradeoffs. Avoid claims of patentability, novel scientific priority, or deployment scalability: none follows from this repository alone. The next slide states the boundaries that evaluators are likely to challenge.</a:t>
            </a:r>
          </a:p>
          <a:p xmlns:a="http://schemas.openxmlformats.org/drawingml/2006/main">
            <a:r>
              <a:t/>
            </a:r>
          </a:p>
          <a:p xmlns:a="http://schemas.openxmlformats.org/drawingml/2006/main">
            <a:r>
              <a:t>Implementation evidence: simulation/; patent-study/run_patent_study.py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 several engineering subtleties if asked. Container representation is first available descendant, and initial degree centrality stays fixed. Role availability checks active lease, holder availability, and baseline controller availability, but does not test every application path. Broadcast snapshots default to immediate shared state because interval zero bypasses stale knowledge. Modeled energy counters can exceed actual removed battery energy near zero. The stored study has only one topology-size family and does not prove asymptotic scalability. Missing dependency pinning and an undeclared SciPy requirement reduce environment reproducibility. Fresh verification: Mesa 3.5.1 raises AttributeError when runner.py assigns scenario. Mesa 3.3.1 executes both smoke simulations. This is a concrete compatibility problem caused by the open mesa&gt;=3 requirement, not just a hypothetical risk.</a:t>
            </a:r>
          </a:p>
          <a:p xmlns:a="http://schemas.openxmlformats.org/drawingml/2006/main">
            <a:r>
              <a:t/>
            </a:r>
          </a:p>
          <a:p xmlns:a="http://schemas.openxmlformats.org/drawingml/2006/main">
            <a:r>
              <a:t>Implementation evidence: simulation/entities.py; simulation/protocols.py; simulation/metrics.py; requirements.txt</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proposals, not existing features. A natural first extension is a service interface per role, separating assignment from service execution and defining useful work. Next introduce asynchronous messages and epoch validation at receivers, then test conflicting holders and network partitions. Track original sensor items through aggregates so root receipt can be measured. Add a realistic energy budget with idle, sensing, and CPU costs. For evaluation, isolate cost awareness, hysteresis, leases, and the gate rather than treating them as one bundle. Test more seeds, node counts, and parameter sensitivities before broad claims.</a:t>
            </a:r>
          </a:p>
          <a:p xmlns:a="http://schemas.openxmlformats.org/drawingml/2006/main">
            <a:r>
              <a:t/>
            </a:r>
          </a:p>
          <a:p xmlns:a="http://schemas.openxmlformats.org/drawingml/2006/main">
            <a:r>
              <a:t>Implementation evidence: Architectural recommendations based on simulation/ and study design</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returning to the research question: when is moving a role worth its communication cost? The project gives a reproducible simulation environment to explore that question and makes its assumptions inspectable. The strongest evidence concerns this configured model. Primary internal references are Project.md, FINAL_SPRINT_PLAN.md, SIMULATION_GUIDE.md, nodes.py, simulation modules, tests, and patent-study/results_20000. The stored final report supplies interpretation but the CSVs support the numbers. Library reference names are Mesa, transitions, NumPy, Pandas, Matplotlib, and SciPy. No external papers were supplied or used as evidence. Transition to the appendix for deeper code and viva discussion.</a:t>
            </a:r>
          </a:p>
          <a:p xmlns:a="http://schemas.openxmlformats.org/drawingml/2006/main">
            <a:r>
              <a:t/>
            </a:r>
          </a:p>
          <a:p xmlns:a="http://schemas.openxmlformats.org/drawingml/2006/main">
            <a:r>
              <a:t>Implementation evidence: Project.md; SIMULATION_GUIDE.md; simulation/; tests/; patent-study/results_20000/</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faithful summary of _consider_cost_aware_migration rather than a direct code quotation. Cooldown can return before the loop. Infinite costs skip unreachable candidates. Adaptive hysteresis adds .15 times one minus mean node energy. The solar gate runs only if a candidate already clears utility and hysteresis. The actual migration control exchange can still fail, in which case the lease does not move. Emergency replacement follows _assign instead of this loop. Distinguish the current capability baseline from candidate utility: the current holder has no new switching penalty.</a:t>
            </a:r>
          </a:p>
          <a:p xmlns:a="http://schemas.openxmlformats.org/drawingml/2006/main">
            <a:r>
              <a:t/>
            </a:r>
          </a:p>
          <a:p xmlns:a="http://schemas.openxmlformats.org/drawingml/2006/main">
            <a:r>
              <a:t>Implementation evidence: simulation/protocols.py: _consider_cost_aware_migration; _migrate</a:t>
            </a:r>
          </a:p>
          <a:p xmlns:a="http://schemas.openxmlformats.org/drawingml/2006/main">
            <a:r>
              <a:t/>
            </a:r>
          </a:p>
          <a:p xmlns:a="http://schemas.openxmlformats.org/drawingml/2006/main">
            <a:r>
              <a:t>Panel prompt: Use the cited code to support the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code-derived asymptotic interpretations, not measured benchmarks. Let N be physical nodes, E usable edges, K candidates for one role/scope, and R=4 roles. Topology compares node pairs. Aggregation sorts child IDs and performs weighted sums. Each uncached source builds Dijkstra routes, then materializes each destination path. In a chain the sum of path lengths is quadratic. Caching complete routes for all sources can reach cubic path-node storage in a worst-case graph. Proposed migration scans K candidates and can trigger routes from representatives. This explains why scale tests matter even though default N is only 100.</a:t>
            </a:r>
          </a:p>
          <a:p xmlns:a="http://schemas.openxmlformats.org/drawingml/2006/main">
            <a:r>
              <a:t/>
            </a:r>
          </a:p>
          <a:p xmlns:a="http://schemas.openxmlformats.org/drawingml/2006/main">
            <a:r>
              <a:t>Implementation evidence: simulation/topology.py; simulation/capability.py; simulation/communications.py; simulation/protocols.py</a:t>
            </a:r>
          </a:p>
          <a:p xmlns:a="http://schemas.openxmlformats.org/drawingml/2006/main">
            <a:r>
              <a:t/>
            </a:r>
          </a:p>
          <a:p xmlns:a="http://schemas.openxmlformats.org/drawingml/2006/main">
            <a:r>
              <a:t>Panel prompt: Use the cited code to support the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default and study configurations separate in your explanation. The basic CLI defaults to five policies and four scenarios, while the study runner defines four particular arms. The initial topology and node attributes are seed-stable and solar randomness uses a separate offset seed. Persisting a run manifest with exact dependency versions and source hash would strengthen reproducibility. The saved NPZ and per-seed CSV files permit inspection without rerunning all 480 long experiments. The code permits configurable broadcasts, cooldown, affected-scope checks, batching, and detection delay, but the study does not enable every option.</a:t>
            </a:r>
          </a:p>
          <a:p xmlns:a="http://schemas.openxmlformats.org/drawingml/2006/main">
            <a:r>
              <a:t/>
            </a:r>
          </a:p>
          <a:p xmlns:a="http://schemas.openxmlformats.org/drawingml/2006/main">
            <a:r>
              <a:t>Implementation evidence: simulation/config.py; simulation/main.py; patent-study/run_patent_study.py; requirements.txt</a:t>
            </a:r>
          </a:p>
          <a:p xmlns:a="http://schemas.openxmlformats.org/drawingml/2006/main">
            <a:r>
              <a:t/>
            </a:r>
          </a:p>
          <a:p xmlns:a="http://schemas.openxmlformats.org/drawingml/2006/main">
            <a:r>
              <a:t>Panel prompt: Use the cited code to support the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answers as starting points and point to the named implementation when challenged. Explain assumptions explicitly. If an evaluator asks about measured runtime, radio calibration, deployment security, or statistical coverage beyond these artifacts, state that the repository provides no such evidence. The answers distinguish assignment policy from application service execution and avoid interpreting simulated counters as field measurements.</a:t>
            </a:r>
          </a:p>
          <a:p xmlns:a="http://schemas.openxmlformats.org/drawingml/2006/main">
            <a:r>
              <a:t/>
            </a:r>
          </a:p>
          <a:p xmlns:a="http://schemas.openxmlformats.org/drawingml/2006/main">
            <a:r>
              <a:t>Implementation evidence: simulation/entities.py; simulation/topology.py; simulation/config.py; ProtocolEngine.assignment_keys; nodes.py; simulation/runner.py; nodes.py</a:t>
            </a:r>
          </a:p>
          <a:p xmlns:a="http://schemas.openxmlformats.org/drawingml/2006/main">
            <a:r>
              <a:t/>
            </a:r>
          </a:p>
          <a:p xmlns:a="http://schemas.openxmlformats.org/drawingml/2006/main">
            <a:r>
              <a:t>Panel prompt: Use the cited code to support the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answers as starting points and point to the named implementation when challenged. Explain assumptions explicitly. If an evaluator asks about measured runtime, radio calibration, deployment security, or statistical coverage beyond these artifacts, state that the repository provides no such evidence. The answers distinguish assignment policy from application service execution and avoid interpreting simulated counters as field measurements.</a:t>
            </a:r>
          </a:p>
          <a:p xmlns:a="http://schemas.openxmlformats.org/drawingml/2006/main">
            <a:r>
              <a:t/>
            </a:r>
          </a:p>
          <a:p xmlns:a="http://schemas.openxmlformats.org/drawingml/2006/main">
            <a:r>
              <a:t>Implementation evidence: nodes.py; simulation/capability.py; simulation/capability.py; SimulationConfig.subnet_counts; EntityHierarchy.representative_node_id; ProtocolEngine._consider_cost_aware_migration</a:t>
            </a:r>
          </a:p>
          <a:p xmlns:a="http://schemas.openxmlformats.org/drawingml/2006/main">
            <a:r>
              <a:t/>
            </a:r>
          </a:p>
          <a:p xmlns:a="http://schemas.openxmlformats.org/drawingml/2006/main">
            <a:r>
              <a:t>Panel prompt: Use the cited code to support the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answers as starting points and point to the named implementation when challenged. Explain assumptions explicitly. If an evaluator asks about measured runtime, radio calibration, deployment security, or statistical coverage beyond these artifacts, state that the repository provides no such evidence. The answers distinguish assignment policy from application service execution and avoid interpreting simulated counters as field measurements.</a:t>
            </a:r>
          </a:p>
          <a:p xmlns:a="http://schemas.openxmlformats.org/drawingml/2006/main">
            <a:r>
              <a:t/>
            </a:r>
          </a:p>
          <a:p xmlns:a="http://schemas.openxmlformats.org/drawingml/2006/main">
            <a:r>
              <a:t>Implementation evidence: calculate_migration_cost; ProtocolEngine._migrate; ProtocolEngine._renew_if_due; _advance_epoch; simulation/protocols.py; simulation/leases.py; NetworkRouter._current_graph; _routes_from</a:t>
            </a:r>
          </a:p>
          <a:p xmlns:a="http://schemas.openxmlformats.org/drawingml/2006/main">
            <a:r>
              <a:t/>
            </a:r>
          </a:p>
          <a:p xmlns:a="http://schemas.openxmlformats.org/drawingml/2006/main">
            <a:r>
              <a:t>Panel prompt: Use the cited code to support the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answers as starting points and point to the named implementation when challenged. Explain assumptions explicitly. If an evaluator asks about measured runtime, radio calibration, deployment security, or statistical coverage beyond these artifacts, state that the repository provides no such evidence. The answers distinguish assignment policy from application service execution and avoid interpreting simulated counters as field measurements.</a:t>
            </a:r>
          </a:p>
          <a:p xmlns:a="http://schemas.openxmlformats.org/drawingml/2006/main">
            <a:r>
              <a:t/>
            </a:r>
          </a:p>
          <a:p xmlns:a="http://schemas.openxmlformats.org/drawingml/2006/main">
            <a:r>
              <a:t>Implementation evidence: simulation/runner.py; NetworkRouter.invalidate_graph; NetworkRouter._routes_from; RoleSimulationModel._harvest_solar_energy; ProtocolEngine.step; _solar_migration_is_worthwhile</a:t>
            </a:r>
          </a:p>
          <a:p xmlns:a="http://schemas.openxmlformats.org/drawingml/2006/main">
            <a:r>
              <a:t/>
            </a:r>
          </a:p>
          <a:p xmlns:a="http://schemas.openxmlformats.org/drawingml/2006/main">
            <a:r>
              <a:t>Panel prompt: Use the cited code to support the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answers as starting points and point to the named implementation when challenged. Explain assumptions explicitly. If an evaluator asks about measured runtime, radio calibration, deployment security, or statistical coverage beyond these artifacts, state that the repository provides no such evidence. The answers distinguish assignment policy from application service execution and avoid interpreting simulated counters as field measurements.</a:t>
            </a:r>
          </a:p>
          <a:p xmlns:a="http://schemas.openxmlformats.org/drawingml/2006/main">
            <a:r>
              <a:t/>
            </a:r>
          </a:p>
          <a:p xmlns:a="http://schemas.openxmlformats.org/drawingml/2006/main">
            <a:r>
              <a:t>Implementation evidence: MetricsRecorder.record; ProtocolEngine.role_available; RoleSimulationModel._route_sensor_traffic; simulation/runner.py; stored per_run_metrics.csv; simulation/metrics.py; patent-study/analyze_patent_study.py</a:t>
            </a:r>
          </a:p>
          <a:p xmlns:a="http://schemas.openxmlformats.org/drawingml/2006/main">
            <a:r>
              <a:t/>
            </a:r>
          </a:p>
          <a:p xmlns:a="http://schemas.openxmlformats.org/drawingml/2006/main">
            <a:r>
              <a:t>Panel prompt: Use the cited code to support the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answers as starting points and point to the named implementation when challenged. Explain assumptions explicitly. If an evaluator asks about measured runtime, radio calibration, deployment security, or statistical coverage beyond these artifacts, state that the repository provides no such evidence. The answers distinguish assignment policy from application service execution and avoid interpreting simulated counters as field measurements.</a:t>
            </a:r>
          </a:p>
          <a:p xmlns:a="http://schemas.openxmlformats.org/drawingml/2006/main">
            <a:r>
              <a:t/>
            </a:r>
          </a:p>
          <a:p xmlns:a="http://schemas.openxmlformats.org/drawingml/2006/main">
            <a:r>
              <a:t>Implementation evidence: patent-study/run_patent_study.py; patent-study/results_20000/paired_comparison.csv; simulation/config.py; simulation/leases.py; Architectural recommendation based on implementation</a:t>
            </a:r>
          </a:p>
          <a:p xmlns:a="http://schemas.openxmlformats.org/drawingml/2006/main">
            <a:r>
              <a:t/>
            </a:r>
          </a:p>
          <a:p xmlns:a="http://schemas.openxmlformats.org/drawingml/2006/main">
            <a:r>
              <a:t>Panel prompt: Use the cited code to support the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a835d84cdcd48d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2b9ff9e3c58493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851f94d6ddb40b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5e713683a32484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10852de3de3406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ae4e0463d0940c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8580B02-CD73-4532-AA64-6787DBC55B0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2135195-2BF3-4A1A-823B-42042E44CFE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74EFD5F-5CBD-4C9D-99A4-C3CE90D8E24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75DB31D-0F75-4AB3-ABE2-E795F3EB942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4737232-798A-4FAB-869D-CF9F551814A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759A35A-CBF5-4504-B312-367754DC443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4BC439-CA89-4D85-92BC-CF621B07591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9D3B1A5-F40A-4A38-B7B9-711D757A6FA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46F2C72-DE61-4852-8140-0DD55298C65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0640E8F-C38C-444C-8C1C-5B2B70050A4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727f9f921904e4b" /><Relationship Type="http://schemas.openxmlformats.org/officeDocument/2006/relationships/slideLayout" Target="/ppt/slideLayouts/slideLayout1.xml" Id="Rf220f1a9e31e4ea3" /><Relationship Type="http://schemas.openxmlformats.org/officeDocument/2006/relationships/slideLayout" Target="/ppt/slideLayouts/slideLayout2.xml" Id="R2496f26dc7854329" /><Relationship Type="http://schemas.openxmlformats.org/officeDocument/2006/relationships/slideLayout" Target="/ppt/slideLayouts/slideLayout3.xml" Id="Rda281c3a5efb4e41" /><Relationship Type="http://schemas.openxmlformats.org/officeDocument/2006/relationships/slideLayout" Target="/ppt/slideLayouts/slideLayout4.xml" Id="R8efe2acc2c2d46c7" /><Relationship Type="http://schemas.openxmlformats.org/officeDocument/2006/relationships/slideLayout" Target="/ppt/slideLayouts/slideLayout5.xml" Id="Rfb2a554f4ca540b7" /><Relationship Type="http://schemas.openxmlformats.org/officeDocument/2006/relationships/slideLayout" Target="/ppt/slideLayouts/slideLayout6.xml" Id="Rf1cb70dacf9f4cc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220f1a9e31e4ea3"/>
    <p:sldLayoutId xmlns:r="http://schemas.openxmlformats.org/officeDocument/2006/relationships" id="2147483650" r:id="R2496f26dc7854329"/>
    <p:sldLayoutId xmlns:r="http://schemas.openxmlformats.org/officeDocument/2006/relationships" id="2147483651" r:id="Rda281c3a5efb4e41"/>
    <p:sldLayoutId xmlns:r="http://schemas.openxmlformats.org/officeDocument/2006/relationships" id="2147483652" r:id="R8efe2acc2c2d46c7"/>
    <p:sldLayoutId xmlns:r="http://schemas.openxmlformats.org/officeDocument/2006/relationships" id="2147483653" r:id="Rfb2a554f4ca540b7"/>
    <p:sldLayoutId xmlns:r="http://schemas.openxmlformats.org/officeDocument/2006/relationships" id="2147483654" r:id="Rf1cb70dacf9f4cc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79bc6d8385f4de2" /><Relationship Type="http://schemas.openxmlformats.org/officeDocument/2006/relationships/notesSlide" Target="/ppt/notesSlides/notesSlide1.xml" Id="Rd4f3556173bd4d9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db120db1e52429d" /><Relationship Type="http://schemas.openxmlformats.org/officeDocument/2006/relationships/notesSlide" Target="/ppt/notesSlides/notesSlide2.xml" Id="R17232a30db754bc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dd266ef160b4778" /><Relationship Type="http://schemas.openxmlformats.org/officeDocument/2006/relationships/notesSlide" Target="/ppt/notesSlides/notesSlide3.xml" Id="R6fae1525707b4e8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74faef30d8a4e87" /><Relationship Type="http://schemas.openxmlformats.org/officeDocument/2006/relationships/notesSlide" Target="/ppt/notesSlides/notesSlide4.xml" Id="Raf42b7b3e270484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9f6a075a5e24ddd" /><Relationship Type="http://schemas.openxmlformats.org/officeDocument/2006/relationships/notesSlide" Target="/ppt/notesSlides/notesSlide5.xml" Id="R914195e427fa490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cbc3c56905549f0" /><Relationship Type="http://schemas.openxmlformats.org/officeDocument/2006/relationships/notesSlide" Target="/ppt/notesSlides/notesSlide6.xml" Id="Rab0392eb7dcf4a0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100a4d7c7fd4d9f" /><Relationship Type="http://schemas.openxmlformats.org/officeDocument/2006/relationships/notesSlide" Target="/ppt/notesSlides/notesSlide7.xml" Id="Rc457e24f623a459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6d7f52348f04ab8" /><Relationship Type="http://schemas.openxmlformats.org/officeDocument/2006/relationships/notesSlide" Target="/ppt/notesSlides/notesSlide8.xml" Id="R1ae2c2cc91284dc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f181f6e0e3e4d5c" /><Relationship Type="http://schemas.openxmlformats.org/officeDocument/2006/relationships/notesSlide" Target="/ppt/notesSlides/notesSlide9.xml" Id="Ra4d7e3116cf3482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c0599452c964865" /><Relationship Type="http://schemas.openxmlformats.org/officeDocument/2006/relationships/notesSlide" Target="/ppt/notesSlides/notesSlide10.xml" Id="R9afba7ce5afd457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a4573439a9c40f0" /><Relationship Type="http://schemas.openxmlformats.org/officeDocument/2006/relationships/notesSlide" Target="/ppt/notesSlides/notesSlide11.xml" Id="Rfcc90a1ce56e461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2810b20e7984301" /><Relationship Type="http://schemas.openxmlformats.org/officeDocument/2006/relationships/notesSlide" Target="/ppt/notesSlides/notesSlide12.xml" Id="R51247436c96c4ad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6bb2c7ca7454a6f" /><Relationship Type="http://schemas.openxmlformats.org/officeDocument/2006/relationships/notesSlide" Target="/ppt/notesSlides/notesSlide13.xml" Id="Rdf59869f1c64408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a262293e00942ec" /><Relationship Type="http://schemas.openxmlformats.org/officeDocument/2006/relationships/notesSlide" Target="/ppt/notesSlides/notesSlide14.xml" Id="Rfb942afb1e16430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9d626a053e54546" /><Relationship Type="http://schemas.openxmlformats.org/officeDocument/2006/relationships/notesSlide" Target="/ppt/notesSlides/notesSlide15.xml" Id="Re2b6ff751e184b2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1c7d797e23b4d97" /><Relationship Type="http://schemas.openxmlformats.org/officeDocument/2006/relationships/notesSlide" Target="/ppt/notesSlides/notesSlide16.xml" Id="Rb0b39acaa03647c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5ef60bddc3447e5" /><Relationship Type="http://schemas.openxmlformats.org/officeDocument/2006/relationships/notesSlide" Target="/ppt/notesSlides/notesSlide17.xml" Id="R4439196bc1f242d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65808995cea4c16" /><Relationship Type="http://schemas.openxmlformats.org/officeDocument/2006/relationships/notesSlide" Target="/ppt/notesSlides/notesSlide18.xml" Id="R8c6701fb1ac143a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b4434e57fc84124" /><Relationship Type="http://schemas.openxmlformats.org/officeDocument/2006/relationships/notesSlide" Target="/ppt/notesSlides/notesSlide19.xml" Id="Rfa30c3e562ac411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a93df7e517f4e15" /><Relationship Type="http://schemas.openxmlformats.org/officeDocument/2006/relationships/notesSlide" Target="/ppt/notesSlides/notesSlide20.xml" Id="R5b0a21552ebe40a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38137f2bc9b477f" /><Relationship Type="http://schemas.openxmlformats.org/officeDocument/2006/relationships/notesSlide" Target="/ppt/notesSlides/notesSlide21.xml" Id="R24c5092138494ec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006908bef35473d" /><Relationship Type="http://schemas.openxmlformats.org/officeDocument/2006/relationships/notesSlide" Target="/ppt/notesSlides/notesSlide22.xml" Id="R4f351cd691d44e4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2fdcc579d6645e1" /><Relationship Type="http://schemas.openxmlformats.org/officeDocument/2006/relationships/notesSlide" Target="/ppt/notesSlides/notesSlide23.xml" Id="Rb2c9be23abf1436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c3a4cf5411464cd7" /><Relationship Type="http://schemas.openxmlformats.org/officeDocument/2006/relationships/notesSlide" Target="/ppt/notesSlides/notesSlide24.xml" Id="Re7d6e774cb184d4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f17231f2f90f4e23" /><Relationship Type="http://schemas.openxmlformats.org/officeDocument/2006/relationships/notesSlide" Target="/ppt/notesSlides/notesSlide25.xml" Id="R0b41b21f08274dc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ebd0a6433cde4399" /><Relationship Type="http://schemas.openxmlformats.org/officeDocument/2006/relationships/notesSlide" Target="/ppt/notesSlides/notesSlide26.xml" Id="Rfee42d6a49314ab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d637671d1c0142f5" /><Relationship Type="http://schemas.openxmlformats.org/officeDocument/2006/relationships/image" Target="/ppt/media/image.png" Id="R06dd354bae934d18" /><Relationship Type="http://schemas.openxmlformats.org/officeDocument/2006/relationships/notesSlide" Target="/ppt/notesSlides/notesSlide27.xml" Id="R79a7b2ef67b449f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d33504306b3a420a" /><Relationship Type="http://schemas.openxmlformats.org/officeDocument/2006/relationships/notesSlide" Target="/ppt/notesSlides/notesSlide28.xml" Id="R241e93c86af6402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7561ce0732864358" /><Relationship Type="http://schemas.openxmlformats.org/officeDocument/2006/relationships/notesSlide" Target="/ppt/notesSlides/notesSlide29.xml" Id="R6614549c0d3249f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a0eff276d5104d7f" /><Relationship Type="http://schemas.openxmlformats.org/officeDocument/2006/relationships/notesSlide" Target="/ppt/notesSlides/notesSlide30.xml" Id="R64258b8ad35c458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b8f9cb7046624982" /><Relationship Type="http://schemas.openxmlformats.org/officeDocument/2006/relationships/notesSlide" Target="/ppt/notesSlides/notesSlide31.xml" Id="R58f9fded9cf54f4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bc25d852fb23451c" /><Relationship Type="http://schemas.openxmlformats.org/officeDocument/2006/relationships/notesSlide" Target="/ppt/notesSlides/notesSlide32.xml" Id="R770d1d5d35484b2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17d6525596fe4b94" /><Relationship Type="http://schemas.openxmlformats.org/officeDocument/2006/relationships/notesSlide" Target="/ppt/notesSlides/notesSlide33.xml" Id="Rfc5de70b0f204b9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68888a3e227a4a61" /><Relationship Type="http://schemas.openxmlformats.org/officeDocument/2006/relationships/notesSlide" Target="/ppt/notesSlides/notesSlide34.xml" Id="Rdf7e1e67c1964ae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6dea46a4a7244e1c" /><Relationship Type="http://schemas.openxmlformats.org/officeDocument/2006/relationships/notesSlide" Target="/ppt/notesSlides/notesSlide35.xml" Id="R8fc9e9e23f794bb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e69435e459e3429f" /><Relationship Type="http://schemas.openxmlformats.org/officeDocument/2006/relationships/notesSlide" Target="/ppt/notesSlides/notesSlide36.xml" Id="R798af43002f3459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fb30b3b7168e440a" /><Relationship Type="http://schemas.openxmlformats.org/officeDocument/2006/relationships/notesSlide" Target="/ppt/notesSlides/notesSlide37.xml" Id="Rcc364b249562440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95a7b1533991456c" /><Relationship Type="http://schemas.openxmlformats.org/officeDocument/2006/relationships/notesSlide" Target="/ppt/notesSlides/notesSlide38.xml" Id="R0053d2b84ad1425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f6a5a896b34a4da7" /><Relationship Type="http://schemas.openxmlformats.org/officeDocument/2006/relationships/notesSlide" Target="/ppt/notesSlides/notesSlide39.xml" Id="Rcbd5c2ffbc9b4be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dcc6ec47975a463a" /><Relationship Type="http://schemas.openxmlformats.org/officeDocument/2006/relationships/notesSlide" Target="/ppt/notesSlides/notesSlide40.xml" Id="R31e1b2a0eceb4344"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53d6ce3a9a1043f9" /><Relationship Type="http://schemas.openxmlformats.org/officeDocument/2006/relationships/notesSlide" Target="/ppt/notesSlides/notesSlide41.xml" Id="Rd4efb211c9e4479b"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b5f92b4484b842ec" /><Relationship Type="http://schemas.openxmlformats.org/officeDocument/2006/relationships/notesSlide" Target="/ppt/notesSlides/notesSlide42.xml" Id="R384d83de97214a65"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2171690c9dd34014" /><Relationship Type="http://schemas.openxmlformats.org/officeDocument/2006/relationships/notesSlide" Target="/ppt/notesSlides/notesSlide43.xml" Id="R3b8555eba4314e1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57a7a178e16f41b8" /><Relationship Type="http://schemas.openxmlformats.org/officeDocument/2006/relationships/notesSlide" Target="/ppt/notesSlides/notesSlide44.xml" Id="Raddadb25fbf84b63"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0f46a9e34b144021" /><Relationship Type="http://schemas.openxmlformats.org/officeDocument/2006/relationships/notesSlide" Target="/ppt/notesSlides/notesSlide45.xml" Id="Rf0c5c89c80c045eb"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2924a912256042a0" /><Relationship Type="http://schemas.openxmlformats.org/officeDocument/2006/relationships/notesSlide" Target="/ppt/notesSlides/notesSlide46.xml" Id="Raf26b088adc644b8"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c3ee8ccb79374357" /><Relationship Type="http://schemas.openxmlformats.org/officeDocument/2006/relationships/notesSlide" Target="/ppt/notesSlides/notesSlide47.xml" Id="R1b710b750fb04385" /></Relationships>
</file>

<file path=ppt/slides/slide1.xml><?xml version="1.0" encoding="utf-8"?>
<p:sld xmlns:p="http://schemas.openxmlformats.org/presentationml/2006/main">
  <p:cSld>
    <p:bg>
      <p:bgPr>
        <a:solidFill xmlns:a="http://schemas.openxmlformats.org/drawingml/2006/main">
          <a:srgbClr val="112B3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E977E7B-0228-4BBD-BA12-88C9BD416768}"/>
              </a:ext>
            </a:extLst>
          </p:cNvPr>
          <p:cNvSpPr>
            <a:spLocks xmlns:a="http://schemas.openxmlformats.org/drawingml/2006/main" noGrp="1"/>
          </p:cNvSpPr>
          <p:nvPr/>
        </p:nvSpPr>
        <p:spPr>
          <a:xfrm xmlns:a="http://schemas.openxmlformats.org/drawingml/2006/main">
            <a:off x="685800" y="68580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1">
                <a:solidFill>
                  <a:srgbClr val="66D5C9"/>
                </a:solidFill>
                <a:latin typeface="Arial"/>
                <a:ea typeface="Arial"/>
                <a:cs typeface="Arial"/>
              </a:defRPr>
            </a:defPPr>
          </a:lstStyle>
          <a:p xmlns:a="http://schemas.openxmlformats.org/drawingml/2006/main">
            <a:pPr>
              <a:defRPr sz="1575" b="1">
                <a:solidFill>
                  <a:srgbClr val="66D5C9"/>
                </a:solidFill>
                <a:latin typeface="Arial"/>
                <a:ea typeface="Arial"/>
                <a:cs typeface="Arial"/>
              </a:defRPr>
            </a:pPr>
            <a:r>
              <a:rPr sz="1575" b="1">
                <a:solidFill>
                  <a:srgbClr val="66D5C9"/>
                </a:solidFill>
                <a:latin typeface="Arial"/>
                <a:ea typeface="Arial"/>
                <a:cs typeface="Arial"/>
              </a:rPr>
              <a:t>COMPUTER NETWORKS PROJECT</a:t>
            </a:r>
          </a:p>
        </p:txBody>
      </p:sp>
      <p:sp>
        <p:nvSpPr>
          <p:cNvPr id="2" name="">
            <a:extLst xmlns:a="http://schemas.openxmlformats.org/drawingml/2006/main">
              <a:ext uri="{FF2B5EF4-FFF2-40B4-BE49-F238E27FC236}">
                <a16:creationId xmlns:a16="http://schemas.microsoft.com/office/drawing/2014/main" id="{E20CF129-F799-40BE-98AF-60FD847FB454}"/>
              </a:ext>
            </a:extLst>
          </p:cNvPr>
          <p:cNvSpPr>
            <a:spLocks xmlns:a="http://schemas.openxmlformats.org/drawingml/2006/main" noGrp="1"/>
          </p:cNvSpPr>
          <p:nvPr/>
        </p:nvSpPr>
        <p:spPr>
          <a:xfrm xmlns:a="http://schemas.openxmlformats.org/drawingml/2006/main">
            <a:off x="685800" y="1524000"/>
            <a:ext cx="1066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650" b="1">
                <a:solidFill>
                  <a:srgbClr val="FFFFFF"/>
                </a:solidFill>
                <a:latin typeface="Arial"/>
                <a:ea typeface="Arial"/>
                <a:cs typeface="Arial"/>
              </a:defRPr>
            </a:defPPr>
          </a:lstStyle>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Decentralized Role-Leasing</a:t>
            </a:r>
          </a:p>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IoT Protocol</a:t>
            </a:r>
          </a:p>
        </p:txBody>
      </p:sp>
      <p:sp>
        <p:nvSpPr>
          <p:cNvPr id="3" name="">
            <a:extLst xmlns:a="http://schemas.openxmlformats.org/drawingml/2006/main">
              <a:ext uri="{FF2B5EF4-FFF2-40B4-BE49-F238E27FC236}">
                <a16:creationId xmlns:a16="http://schemas.microsoft.com/office/drawing/2014/main" id="{1638BEF8-7E50-4033-9B19-4CD00107483D}"/>
              </a:ext>
            </a:extLst>
          </p:cNvPr>
          <p:cNvSpPr>
            <a:spLocks xmlns:a="http://schemas.openxmlformats.org/drawingml/2006/main" noGrp="1"/>
          </p:cNvSpPr>
          <p:nvPr/>
        </p:nvSpPr>
        <p:spPr>
          <a:xfrm xmlns:a="http://schemas.openxmlformats.org/drawingml/2006/main">
            <a:off x="723900" y="3667125"/>
            <a:ext cx="10477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D9E6EC"/>
                </a:solidFill>
                <a:latin typeface="Arial"/>
                <a:ea typeface="Arial"/>
                <a:cs typeface="Arial"/>
              </a:defRPr>
            </a:defPPr>
          </a:lstStyle>
          <a:p xmlns:a="http://schemas.openxmlformats.org/drawingml/2006/main">
            <a:pPr>
              <a:defRPr sz="1950" b="0">
                <a:solidFill>
                  <a:srgbClr val="D9E6EC"/>
                </a:solidFill>
                <a:latin typeface="Arial"/>
                <a:ea typeface="Arial"/>
                <a:cs typeface="Arial"/>
              </a:defRPr>
            </a:pPr>
            <a:r>
              <a:rPr sz="1950" b="0">
                <a:solidFill>
                  <a:srgbClr val="D9E6EC"/>
                </a:solidFill>
                <a:latin typeface="Arial"/>
                <a:ea typeface="Arial"/>
                <a:cs typeface="Arial"/>
              </a:rPr>
              <a:t>A reproducible simulator for hierarchical agricultural sensor networks</a:t>
            </a:r>
          </a:p>
          <a:p xmlns:a="http://schemas.openxmlformats.org/drawingml/2006/main">
            <a:r>
              <a:t/>
            </a:r>
          </a:p>
          <a:p xmlns:a="http://schemas.openxmlformats.org/drawingml/2006/main">
            <a:pPr>
              <a:defRPr sz="1950" b="0">
                <a:solidFill>
                  <a:srgbClr val="D9E6EC"/>
                </a:solidFill>
                <a:latin typeface="Arial"/>
                <a:ea typeface="Arial"/>
                <a:cs typeface="Arial"/>
              </a:defRPr>
            </a:pPr>
            <a:r>
              <a:rPr sz="1950" b="0">
                <a:solidFill>
                  <a:srgbClr val="D9E6EC"/>
                </a:solidFill>
                <a:latin typeface="Arial"/>
                <a:ea typeface="Arial"/>
                <a:cs typeface="Arial"/>
              </a:rPr>
              <a:t>Student: [Name]    Registration: [Number]</a:t>
            </a:r>
          </a:p>
          <a:p xmlns:a="http://schemas.openxmlformats.org/drawingml/2006/main">
            <a:pPr>
              <a:defRPr sz="1950" b="0">
                <a:solidFill>
                  <a:srgbClr val="D9E6EC"/>
                </a:solidFill>
                <a:latin typeface="Arial"/>
                <a:ea typeface="Arial"/>
                <a:cs typeface="Arial"/>
              </a:defRPr>
            </a:pPr>
            <a:r>
              <a:rPr sz="1950" b="0">
                <a:solidFill>
                  <a:srgbClr val="D9E6EC"/>
                </a:solidFill>
                <a:latin typeface="Arial"/>
                <a:ea typeface="Arial"/>
                <a:cs typeface="Arial"/>
              </a:rPr>
              <a:t>Institution: [Institution]</a:t>
            </a:r>
          </a:p>
          <a:p xmlns:a="http://schemas.openxmlformats.org/drawingml/2006/main">
            <a:pPr>
              <a:defRPr sz="1950" b="0">
                <a:solidFill>
                  <a:srgbClr val="D9E6EC"/>
                </a:solidFill>
                <a:latin typeface="Arial"/>
                <a:ea typeface="Arial"/>
                <a:cs typeface="Arial"/>
              </a:defRPr>
            </a:pPr>
            <a:r>
              <a:rPr sz="1950" b="0">
                <a:solidFill>
                  <a:srgbClr val="D9E6EC"/>
                </a:solidFill>
                <a:latin typeface="Arial"/>
                <a:ea typeface="Arial"/>
                <a:cs typeface="Arial"/>
              </a:rPr>
              <a:t>Department: [Department]    Guide: [Name]</a:t>
            </a:r>
          </a:p>
        </p:txBody>
      </p:sp>
      <p:sp>
        <p:nvSpPr>
          <p:cNvPr id="4" name="">
            <a:extLst xmlns:a="http://schemas.openxmlformats.org/drawingml/2006/main">
              <a:ext uri="{FF2B5EF4-FFF2-40B4-BE49-F238E27FC236}">
                <a16:creationId xmlns:a16="http://schemas.microsoft.com/office/drawing/2014/main" id="{909A02B6-6351-4B5E-A905-A2B258E5F075}"/>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B8D4DD"/>
                </a:solidFill>
                <a:latin typeface="Arial"/>
                <a:ea typeface="Arial"/>
                <a:cs typeface="Arial"/>
              </a:defRPr>
            </a:defPPr>
          </a:lstStyle>
          <a:p xmlns:a="http://schemas.openxmlformats.org/drawingml/2006/main">
            <a:pPr>
              <a:defRPr sz="1200" b="0">
                <a:solidFill>
                  <a:srgbClr val="B8D4DD"/>
                </a:solidFill>
                <a:latin typeface="Arial"/>
                <a:ea typeface="Arial"/>
                <a:cs typeface="Arial"/>
              </a:defRPr>
            </a:pPr>
            <a:r>
              <a:rPr sz="1200" b="0">
                <a:solidFill>
                  <a:srgbClr val="B8D4DD"/>
                </a:solidFill>
                <a:latin typeface="Arial"/>
                <a:ea typeface="Arial"/>
                <a:cs typeface="Arial"/>
              </a:rPr>
              <a:t>01 / 38</a:t>
            </a:r>
          </a:p>
        </p:txBody>
      </p:sp>
    </p:spTree>
    <p:extLst>
      <p:ext uri="{BB962C8B-B14F-4D97-AF65-F5344CB8AC3E}">
        <p14:creationId xmlns:p14="http://schemas.microsoft.com/office/powerpoint/2010/main" val="876376788"/>
      </p:ext>
    </p:extLst>
  </p:cSld>
</p:sld>
</file>

<file path=ppt/slides/slide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ED8DE90-E1D3-490A-8E96-603E9091BF00}"/>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Project overview</a:t>
            </a:r>
          </a:p>
        </p:txBody>
      </p:sp>
      <p:sp>
        <p:nvSpPr>
          <p:cNvPr id="2" name="">
            <a:extLst xmlns:a="http://schemas.openxmlformats.org/drawingml/2006/main">
              <a:ext uri="{FF2B5EF4-FFF2-40B4-BE49-F238E27FC236}">
                <a16:creationId xmlns:a16="http://schemas.microsoft.com/office/drawing/2014/main" id="{4E8DF09D-5A2D-4E36-B0B8-93ABD2506F2F}"/>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A6AD3FF1-6290-4AF6-9927-BF8530A95253}"/>
              </a:ext>
            </a:extLst>
          </p:cNvPr>
          <p:cNvSpPr>
            <a:spLocks xmlns:a="http://schemas.openxmlformats.org/drawingml/2006/main" noGrp="1"/>
          </p:cNvSpPr>
          <p:nvPr/>
        </p:nvSpPr>
        <p:spPr>
          <a:xfrm xmlns:a="http://schemas.openxmlformats.org/drawingml/2006/main">
            <a:off x="1352550" y="17145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Python simulation of a fixed logical hierarchy over a physical multi-hop mesh</a:t>
            </a:r>
          </a:p>
        </p:txBody>
      </p:sp>
      <p:sp>
        <p:nvSpPr>
          <p:cNvPr id="4" name="">
            <a:extLst xmlns:a="http://schemas.openxmlformats.org/drawingml/2006/main">
              <a:ext uri="{FF2B5EF4-FFF2-40B4-BE49-F238E27FC236}">
                <a16:creationId xmlns:a16="http://schemas.microsoft.com/office/drawing/2014/main" id="{EF7B73FB-5C7D-4F02-B1A0-183C5337CB31}"/>
              </a:ext>
            </a:extLst>
          </p:cNvPr>
          <p:cNvSpPr>
            <a:spLocks xmlns:a="http://schemas.openxmlformats.org/drawingml/2006/main" noGrp="1"/>
          </p:cNvSpPr>
          <p:nvPr/>
        </p:nvSpPr>
        <p:spPr>
          <a:xfrm xmlns:a="http://schemas.openxmlformats.org/drawingml/2006/main">
            <a:off x="685800" y="2667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CE36D00D-AC91-4F19-A5A5-EE072BF1F9EA}"/>
              </a:ext>
            </a:extLst>
          </p:cNvPr>
          <p:cNvSpPr>
            <a:spLocks xmlns:a="http://schemas.openxmlformats.org/drawingml/2006/main" noGrp="1"/>
          </p:cNvSpPr>
          <p:nvPr/>
        </p:nvSpPr>
        <p:spPr>
          <a:xfrm xmlns:a="http://schemas.openxmlformats.org/drawingml/2006/main">
            <a:off x="1352550" y="26670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100 nodes, 10 subnets, 3 networks, 1 internetwork by default</a:t>
            </a:r>
          </a:p>
        </p:txBody>
      </p:sp>
      <p:sp>
        <p:nvSpPr>
          <p:cNvPr id="6" name="">
            <a:extLst xmlns:a="http://schemas.openxmlformats.org/drawingml/2006/main">
              <a:ext uri="{FF2B5EF4-FFF2-40B4-BE49-F238E27FC236}">
                <a16:creationId xmlns:a16="http://schemas.microsoft.com/office/drawing/2014/main" id="{3BB4E19F-112B-4B1F-9A13-556A2735558C}"/>
              </a:ext>
            </a:extLst>
          </p:cNvPr>
          <p:cNvSpPr>
            <a:spLocks xmlns:a="http://schemas.openxmlformats.org/drawingml/2006/main" noGrp="1"/>
          </p:cNvSpPr>
          <p:nvPr/>
        </p:nvSpPr>
        <p:spPr>
          <a:xfrm xmlns:a="http://schemas.openxmlformats.org/drawingml/2006/main">
            <a:off x="685800" y="3619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38ABC8CB-0722-4EA3-936E-9F899DC1AB89}"/>
              </a:ext>
            </a:extLst>
          </p:cNvPr>
          <p:cNvSpPr>
            <a:spLocks xmlns:a="http://schemas.openxmlformats.org/drawingml/2006/main" noGrp="1"/>
          </p:cNvSpPr>
          <p:nvPr/>
        </p:nvSpPr>
        <p:spPr>
          <a:xfrm xmlns:a="http://schemas.openxmlformats.org/drawingml/2006/main">
            <a:off x="1352550" y="36195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Four role labels at 14 scopes produce 56 required assignments</a:t>
            </a:r>
          </a:p>
        </p:txBody>
      </p:sp>
      <p:sp>
        <p:nvSpPr>
          <p:cNvPr id="8" name="">
            <a:extLst xmlns:a="http://schemas.openxmlformats.org/drawingml/2006/main">
              <a:ext uri="{FF2B5EF4-FFF2-40B4-BE49-F238E27FC236}">
                <a16:creationId xmlns:a16="http://schemas.microsoft.com/office/drawing/2014/main" id="{E08D669B-0A43-4C76-9ACF-72FE8F298AE0}"/>
              </a:ext>
            </a:extLst>
          </p:cNvPr>
          <p:cNvSpPr>
            <a:spLocks xmlns:a="http://schemas.openxmlformats.org/drawingml/2006/main" noGrp="1"/>
          </p:cNvSpPr>
          <p:nvPr/>
        </p:nvSpPr>
        <p:spPr>
          <a:xfrm xmlns:a="http://schemas.openxmlformats.org/drawingml/2006/main">
            <a:off x="685800" y="4572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A2314A36-CE8C-4AC1-85C4-0671A6409CCF}"/>
              </a:ext>
            </a:extLst>
          </p:cNvPr>
          <p:cNvSpPr>
            <a:spLocks xmlns:a="http://schemas.openxmlformats.org/drawingml/2006/main" noGrp="1"/>
          </p:cNvSpPr>
          <p:nvPr/>
        </p:nvSpPr>
        <p:spPr>
          <a:xfrm xmlns:a="http://schemas.openxmlformats.org/drawingml/2006/main">
            <a:off x="1352550" y="45720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Users: researchers and students comparing coordination policies</a:t>
            </a:r>
          </a:p>
        </p:txBody>
      </p:sp>
      <p:sp>
        <p:nvSpPr>
          <p:cNvPr id="10" name="">
            <a:extLst xmlns:a="http://schemas.openxmlformats.org/drawingml/2006/main">
              <a:ext uri="{FF2B5EF4-FFF2-40B4-BE49-F238E27FC236}">
                <a16:creationId xmlns:a16="http://schemas.microsoft.com/office/drawing/2014/main" id="{EDEA1D3E-F23E-463C-96CE-10272E538460}"/>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02 / 38</a:t>
            </a:r>
          </a:p>
        </p:txBody>
      </p:sp>
      <p:sp>
        <p:nvSpPr>
          <p:cNvPr id="11" name="">
            <a:extLst xmlns:a="http://schemas.openxmlformats.org/drawingml/2006/main">
              <a:ext uri="{FF2B5EF4-FFF2-40B4-BE49-F238E27FC236}">
                <a16:creationId xmlns:a16="http://schemas.microsoft.com/office/drawing/2014/main" id="{F88DA609-AD96-4D5A-9051-4B661ECE7268}"/>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simulation/config.py; simulation/entities.py; nodes.py</a:t>
            </a:r>
          </a:p>
        </p:txBody>
      </p:sp>
    </p:spTree>
    <p:extLst>
      <p:ext uri="{BB962C8B-B14F-4D97-AF65-F5344CB8AC3E}">
        <p14:creationId xmlns:p14="http://schemas.microsoft.com/office/powerpoint/2010/main" val="1413056377"/>
      </p:ext>
    </p:extLst>
  </p:cSld>
</p:sld>
</file>

<file path=ppt/slides/slide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C6D4491-1244-4152-8F6D-8E33BB7FE262}"/>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Problem statement</a:t>
            </a:r>
          </a:p>
        </p:txBody>
      </p:sp>
      <p:sp>
        <p:nvSpPr>
          <p:cNvPr id="2" name="">
            <a:extLst xmlns:a="http://schemas.openxmlformats.org/drawingml/2006/main">
              <a:ext uri="{FF2B5EF4-FFF2-40B4-BE49-F238E27FC236}">
                <a16:creationId xmlns:a16="http://schemas.microsoft.com/office/drawing/2014/main" id="{2B881B88-87CC-4390-9955-7A5397C1121F}"/>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C33184CC-FC60-439C-9C23-1970423163EA}"/>
              </a:ext>
            </a:extLst>
          </p:cNvPr>
          <p:cNvSpPr>
            <a:spLocks xmlns:a="http://schemas.openxmlformats.org/drawingml/2006/main" noGrp="1"/>
          </p:cNvSpPr>
          <p:nvPr/>
        </p:nvSpPr>
        <p:spPr>
          <a:xfrm xmlns:a="http://schemas.openxmlformats.org/drawingml/2006/main">
            <a:off x="1352550" y="17145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Fixed role holders may remain assigned after their energy or connectivity deteriorates</a:t>
            </a:r>
          </a:p>
        </p:txBody>
      </p:sp>
      <p:sp>
        <p:nvSpPr>
          <p:cNvPr id="4" name="">
            <a:extLst xmlns:a="http://schemas.openxmlformats.org/drawingml/2006/main">
              <a:ext uri="{FF2B5EF4-FFF2-40B4-BE49-F238E27FC236}">
                <a16:creationId xmlns:a16="http://schemas.microsoft.com/office/drawing/2014/main" id="{99633568-6E19-4780-B7D6-55DB6F2FBA71}"/>
              </a:ext>
            </a:extLst>
          </p:cNvPr>
          <p:cNvSpPr>
            <a:spLocks xmlns:a="http://schemas.openxmlformats.org/drawingml/2006/main" noGrp="1"/>
          </p:cNvSpPr>
          <p:nvPr/>
        </p:nvSpPr>
        <p:spPr>
          <a:xfrm xmlns:a="http://schemas.openxmlformats.org/drawingml/2006/main">
            <a:off x="685800" y="2667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C99B5C9C-4B21-4892-8EE1-6A6113962548}"/>
              </a:ext>
            </a:extLst>
          </p:cNvPr>
          <p:cNvSpPr>
            <a:spLocks xmlns:a="http://schemas.openxmlformats.org/drawingml/2006/main" noGrp="1"/>
          </p:cNvSpPr>
          <p:nvPr/>
        </p:nvSpPr>
        <p:spPr>
          <a:xfrm xmlns:a="http://schemas.openxmlformats.org/drawingml/2006/main">
            <a:off x="1352550" y="26670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Global coordination creates a dependency on a controller in the modeled baselines</a:t>
            </a:r>
          </a:p>
        </p:txBody>
      </p:sp>
      <p:sp>
        <p:nvSpPr>
          <p:cNvPr id="6" name="">
            <a:extLst xmlns:a="http://schemas.openxmlformats.org/drawingml/2006/main">
              <a:ext uri="{FF2B5EF4-FFF2-40B4-BE49-F238E27FC236}">
                <a16:creationId xmlns:a16="http://schemas.microsoft.com/office/drawing/2014/main" id="{A78BB058-924E-41EA-9E76-9F397E047E8B}"/>
              </a:ext>
            </a:extLst>
          </p:cNvPr>
          <p:cNvSpPr>
            <a:spLocks xmlns:a="http://schemas.openxmlformats.org/drawingml/2006/main" noGrp="1"/>
          </p:cNvSpPr>
          <p:nvPr/>
        </p:nvSpPr>
        <p:spPr>
          <a:xfrm xmlns:a="http://schemas.openxmlformats.org/drawingml/2006/main">
            <a:off x="685800" y="3619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33218943-66AB-4D4D-B1D3-FEA95AAC0546}"/>
              </a:ext>
            </a:extLst>
          </p:cNvPr>
          <p:cNvSpPr>
            <a:spLocks xmlns:a="http://schemas.openxmlformats.org/drawingml/2006/main" noGrp="1"/>
          </p:cNvSpPr>
          <p:nvPr/>
        </p:nvSpPr>
        <p:spPr>
          <a:xfrm xmlns:a="http://schemas.openxmlformats.org/drawingml/2006/main">
            <a:off x="1352550" y="36195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Frequent reassignment consumes communication energy and can cause instability</a:t>
            </a:r>
          </a:p>
        </p:txBody>
      </p:sp>
      <p:sp>
        <p:nvSpPr>
          <p:cNvPr id="8" name="">
            <a:extLst xmlns:a="http://schemas.openxmlformats.org/drawingml/2006/main">
              <a:ext uri="{FF2B5EF4-FFF2-40B4-BE49-F238E27FC236}">
                <a16:creationId xmlns:a16="http://schemas.microsoft.com/office/drawing/2014/main" id="{326535CB-1331-441C-AC68-088E69991B1A}"/>
              </a:ext>
            </a:extLst>
          </p:cNvPr>
          <p:cNvSpPr>
            <a:spLocks xmlns:a="http://schemas.openxmlformats.org/drawingml/2006/main" noGrp="1"/>
          </p:cNvSpPr>
          <p:nvPr/>
        </p:nvSpPr>
        <p:spPr>
          <a:xfrm xmlns:a="http://schemas.openxmlformats.org/drawingml/2006/main">
            <a:off x="685800" y="4572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F105D5F2-57BC-4367-AE8B-EE1CCE4382C7}"/>
              </a:ext>
            </a:extLst>
          </p:cNvPr>
          <p:cNvSpPr>
            <a:spLocks xmlns:a="http://schemas.openxmlformats.org/drawingml/2006/main" noGrp="1"/>
          </p:cNvSpPr>
          <p:nvPr/>
        </p:nvSpPr>
        <p:spPr>
          <a:xfrm xmlns:a="http://schemas.openxmlformats.org/drawingml/2006/main">
            <a:off x="1352550" y="45720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The engineering problem is balancing capability improvement against switching cost</a:t>
            </a:r>
          </a:p>
        </p:txBody>
      </p:sp>
      <p:sp>
        <p:nvSpPr>
          <p:cNvPr id="10" name="">
            <a:extLst xmlns:a="http://schemas.openxmlformats.org/drawingml/2006/main">
              <a:ext uri="{FF2B5EF4-FFF2-40B4-BE49-F238E27FC236}">
                <a16:creationId xmlns:a16="http://schemas.microsoft.com/office/drawing/2014/main" id="{B46C7842-87CD-4053-A4C6-1964DA6373EF}"/>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03 / 38</a:t>
            </a:r>
          </a:p>
        </p:txBody>
      </p:sp>
      <p:sp>
        <p:nvSpPr>
          <p:cNvPr id="11" name="">
            <a:extLst xmlns:a="http://schemas.openxmlformats.org/drawingml/2006/main">
              <a:ext uri="{FF2B5EF4-FFF2-40B4-BE49-F238E27FC236}">
                <a16:creationId xmlns:a16="http://schemas.microsoft.com/office/drawing/2014/main" id="{B99F7F47-1E6A-47C4-BF1D-BC35DFB38A27}"/>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Project.md; simulation/protocols.py; simulation/runner.py</a:t>
            </a:r>
          </a:p>
        </p:txBody>
      </p:sp>
    </p:spTree>
    <p:extLst>
      <p:ext uri="{BB962C8B-B14F-4D97-AF65-F5344CB8AC3E}">
        <p14:creationId xmlns:p14="http://schemas.microsoft.com/office/powerpoint/2010/main" val="1444701547"/>
      </p:ext>
    </p:extLst>
  </p:cSld>
</p:sld>
</file>

<file path=ppt/slides/slide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5E311C5-C672-436A-AD8B-BEE52788C9EC}"/>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Motivation and objectives</a:t>
            </a:r>
          </a:p>
        </p:txBody>
      </p:sp>
      <p:sp>
        <p:nvSpPr>
          <p:cNvPr id="2" name="">
            <a:extLst xmlns:a="http://schemas.openxmlformats.org/drawingml/2006/main">
              <a:ext uri="{FF2B5EF4-FFF2-40B4-BE49-F238E27FC236}">
                <a16:creationId xmlns:a16="http://schemas.microsoft.com/office/drawing/2014/main" id="{26AAB594-E931-4336-89AC-FAFCF0D0212A}"/>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1B6CE1ED-4460-4080-9897-7C17DF394180}"/>
              </a:ext>
            </a:extLst>
          </p:cNvPr>
          <p:cNvSpPr>
            <a:spLocks xmlns:a="http://schemas.openxmlformats.org/drawingml/2006/main" noGrp="1"/>
          </p:cNvSpPr>
          <p:nvPr/>
        </p:nvSpPr>
        <p:spPr>
          <a:xfrm xmlns:a="http://schemas.openxmlformats.org/drawingml/2006/main">
            <a:off x="1352550" y="17145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Preserve useful role availability when nodes fail or conditions change</a:t>
            </a:r>
          </a:p>
        </p:txBody>
      </p:sp>
      <p:sp>
        <p:nvSpPr>
          <p:cNvPr id="4" name="">
            <a:extLst xmlns:a="http://schemas.openxmlformats.org/drawingml/2006/main">
              <a:ext uri="{FF2B5EF4-FFF2-40B4-BE49-F238E27FC236}">
                <a16:creationId xmlns:a16="http://schemas.microsoft.com/office/drawing/2014/main" id="{BF67FB82-9FD4-4CBE-9C55-63570FEEE9B7}"/>
              </a:ext>
            </a:extLst>
          </p:cNvPr>
          <p:cNvSpPr>
            <a:spLocks xmlns:a="http://schemas.openxmlformats.org/drawingml/2006/main" noGrp="1"/>
          </p:cNvSpPr>
          <p:nvPr/>
        </p:nvSpPr>
        <p:spPr>
          <a:xfrm xmlns:a="http://schemas.openxmlformats.org/drawingml/2006/main">
            <a:off x="685800" y="2667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0A00B2DF-14FA-42F8-9850-B4B384D0B5BD}"/>
              </a:ext>
            </a:extLst>
          </p:cNvPr>
          <p:cNvSpPr>
            <a:spLocks xmlns:a="http://schemas.openxmlformats.org/drawingml/2006/main" noGrp="1"/>
          </p:cNvSpPr>
          <p:nvPr/>
        </p:nvSpPr>
        <p:spPr>
          <a:xfrm xmlns:a="http://schemas.openxmlformats.org/drawingml/2006/main">
            <a:off x="1352550" y="26670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Reuse the same role semantics across hierarchy levels</a:t>
            </a:r>
          </a:p>
        </p:txBody>
      </p:sp>
      <p:sp>
        <p:nvSpPr>
          <p:cNvPr id="6" name="">
            <a:extLst xmlns:a="http://schemas.openxmlformats.org/drawingml/2006/main">
              <a:ext uri="{FF2B5EF4-FFF2-40B4-BE49-F238E27FC236}">
                <a16:creationId xmlns:a16="http://schemas.microsoft.com/office/drawing/2014/main" id="{B8C327DC-B5BD-42AF-A3DB-A0262B6AF276}"/>
              </a:ext>
            </a:extLst>
          </p:cNvPr>
          <p:cNvSpPr>
            <a:spLocks xmlns:a="http://schemas.openxmlformats.org/drawingml/2006/main" noGrp="1"/>
          </p:cNvSpPr>
          <p:nvPr/>
        </p:nvSpPr>
        <p:spPr>
          <a:xfrm xmlns:a="http://schemas.openxmlformats.org/drawingml/2006/main">
            <a:off x="685800" y="3619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A103475B-473D-4D78-9CD4-9E4B28ACFD7E}"/>
              </a:ext>
            </a:extLst>
          </p:cNvPr>
          <p:cNvSpPr>
            <a:spLocks xmlns:a="http://schemas.openxmlformats.org/drawingml/2006/main" noGrp="1"/>
          </p:cNvSpPr>
          <p:nvPr/>
        </p:nvSpPr>
        <p:spPr>
          <a:xfrm xmlns:a="http://schemas.openxmlformats.org/drawingml/2006/main">
            <a:off x="1352550" y="36195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Account for routed control traffic, data traffic, and endpoint energy</a:t>
            </a:r>
          </a:p>
        </p:txBody>
      </p:sp>
      <p:sp>
        <p:nvSpPr>
          <p:cNvPr id="8" name="">
            <a:extLst xmlns:a="http://schemas.openxmlformats.org/drawingml/2006/main">
              <a:ext uri="{FF2B5EF4-FFF2-40B4-BE49-F238E27FC236}">
                <a16:creationId xmlns:a16="http://schemas.microsoft.com/office/drawing/2014/main" id="{ACE2D017-69DA-4634-9979-15E6AE399FD6}"/>
              </a:ext>
            </a:extLst>
          </p:cNvPr>
          <p:cNvSpPr>
            <a:spLocks xmlns:a="http://schemas.openxmlformats.org/drawingml/2006/main" noGrp="1"/>
          </p:cNvSpPr>
          <p:nvPr/>
        </p:nvSpPr>
        <p:spPr>
          <a:xfrm xmlns:a="http://schemas.openxmlformats.org/drawingml/2006/main">
            <a:off x="685800" y="4572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2ED4A55E-5D5A-4B87-9093-9B9943971D34}"/>
              </a:ext>
            </a:extLst>
          </p:cNvPr>
          <p:cNvSpPr>
            <a:spLocks xmlns:a="http://schemas.openxmlformats.org/drawingml/2006/main" noGrp="1"/>
          </p:cNvSpPr>
          <p:nvPr/>
        </p:nvSpPr>
        <p:spPr>
          <a:xfrm xmlns:a="http://schemas.openxmlformats.org/drawingml/2006/main">
            <a:off x="1352550" y="45720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Make experiments repeatable with seeded inputs and replayable events</a:t>
            </a:r>
          </a:p>
        </p:txBody>
      </p:sp>
      <p:sp>
        <p:nvSpPr>
          <p:cNvPr id="10" name="">
            <a:extLst xmlns:a="http://schemas.openxmlformats.org/drawingml/2006/main">
              <a:ext uri="{FF2B5EF4-FFF2-40B4-BE49-F238E27FC236}">
                <a16:creationId xmlns:a16="http://schemas.microsoft.com/office/drawing/2014/main" id="{C36C1626-9B0F-4470-BEB8-E7F3F8033D51}"/>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04 / 38</a:t>
            </a:r>
          </a:p>
        </p:txBody>
      </p:sp>
      <p:sp>
        <p:nvSpPr>
          <p:cNvPr id="11" name="">
            <a:extLst xmlns:a="http://schemas.openxmlformats.org/drawingml/2006/main">
              <a:ext uri="{FF2B5EF4-FFF2-40B4-BE49-F238E27FC236}">
                <a16:creationId xmlns:a16="http://schemas.microsoft.com/office/drawing/2014/main" id="{9B6C0F04-9998-4572-BA20-41305940D1C7}"/>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Project.md; FINAL_SPRINT_PLAN.md; simulation/events.py</a:t>
            </a:r>
          </a:p>
        </p:txBody>
      </p:sp>
    </p:spTree>
    <p:extLst>
      <p:ext uri="{BB962C8B-B14F-4D97-AF65-F5344CB8AC3E}">
        <p14:creationId xmlns:p14="http://schemas.microsoft.com/office/powerpoint/2010/main" val="1181331336"/>
      </p:ext>
    </p:extLst>
  </p:cSld>
</p:sld>
</file>

<file path=ppt/slides/slide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1D42B70-09FE-4E44-AE83-9C347E2AFC87}"/>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Implemented comparison policies</a:t>
            </a:r>
          </a:p>
        </p:txBody>
      </p:sp>
      <p:graphicFrame>
        <p:nvGraphicFramePr>
          <p:cNvPr id="2" name="">
            <a:extLst xmlns:a="http://schemas.openxmlformats.org/drawingml/2006/main">
              <a:ext uri="{FF2B5EF4-FFF2-40B4-BE49-F238E27FC236}">
                <a16:creationId xmlns:a16="http://schemas.microsoft.com/office/drawing/2014/main" id="{DE4D7C03-1DA8-4ACA-879A-14E950C3D75B}"/>
              </a:ext>
            </a:extLst>
          </p:cNvPr>
          <p:cNvGraphicFramePr/>
          <p:nvPr/>
        </p:nvGraphicFramePr>
        <p:xfrm>
          <a:off xmlns:a="http://schemas.openxmlformats.org/drawingml/2006/main" x="609600" y="1714500"/>
          <a:ext xmlns:a="http://schemas.openxmlformats.org/drawingml/2006/main" cx="10972800" cy="3619500"/>
        </p:xfrm>
        <a:graphic xmlns:a="http://schemas.openxmlformats.org/drawingml/2006/main">
          <a:graphicData uri="http://schemas.openxmlformats.org/drawingml/2006/table">
            <a:tbl>
              <a:tblPr/>
              <a:tblGrid>
                <a:gridCol w="3657600"/>
                <a:gridCol w="3657600"/>
                <a:gridCol w="3657600"/>
              </a:tblGrid>
              <a:tr h="603250">
                <a:tc>
                  <a:txBody>
                    <a:bodyPr lIns="114300" tIns="114300" rIns="114300" bIns="114300"/>
                    <a:lstStyle/>
                    <a:p>
                      <a:r>
                        <a:rPr sz="1800" b="1">
                          <a:solidFill>
                            <a:srgbClr val="FFFFFF"/>
                          </a:solidFill>
                          <a:latin typeface="Arial"/>
                          <a:ea typeface="Arial"/>
                          <a:cs typeface="Arial"/>
                        </a:rPr>
                        <a:t>Policy</a:t>
                      </a:r>
                    </a:p>
                  </a:txBody>
                  <a:tcPr marL="91440" marR="91440" marT="45720" marB="45720" anchor="ctr">
                    <a:lnL w="9525">
                      <a:solidFill>
                        <a:srgbClr val="C9D6DD"/>
                      </a:solidFill>
                      <a:prstDash val="solid"/>
                    </a:lnL>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800" b="1">
                          <a:solidFill>
                            <a:srgbClr val="FFFFFF"/>
                          </a:solidFill>
                          <a:latin typeface="Arial"/>
                          <a:ea typeface="Arial"/>
                          <a:cs typeface="Arial"/>
                        </a:rPr>
                        <a:t>Control source</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800" b="1">
                          <a:solidFill>
                            <a:srgbClr val="FFFFFF"/>
                          </a:solidFill>
                          <a:latin typeface="Arial"/>
                          <a:ea typeface="Arial"/>
                          <a:cs typeface="Arial"/>
                        </a:rPr>
                        <a:t>Holder update</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r>
              <a:tr h="603250">
                <a:tc>
                  <a:txBody>
                    <a:bodyPr lIns="114300" tIns="114300" rIns="114300" bIns="114300"/>
                    <a:lstStyle/>
                    <a:p>
                      <a:r>
                        <a:rPr sz="1800" b="0">
                          <a:solidFill>
                            <a:srgbClr val="112B3C"/>
                          </a:solidFill>
                          <a:latin typeface="Arial"/>
                          <a:ea typeface="Arial"/>
                          <a:cs typeface="Arial"/>
                        </a:rPr>
                        <a:t>centralized</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Fixed controller</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Best capability, immediate</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603250">
                <a:tc>
                  <a:txBody>
                    <a:bodyPr lIns="114300" tIns="114300" rIns="114300" bIns="114300"/>
                    <a:lstStyle/>
                    <a:p>
                      <a:r>
                        <a:rPr sz="1800" b="0">
                          <a:solidFill>
                            <a:srgbClr val="112B3C"/>
                          </a:solidFill>
                          <a:latin typeface="Arial"/>
                          <a:ea typeface="Arial"/>
                          <a:cs typeface="Arial"/>
                        </a:rPr>
                        <a:t>hierarchical</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Random fixed controller</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Random initial / failure replacement</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603250">
                <a:tc>
                  <a:txBody>
                    <a:bodyPr lIns="114300" tIns="114300" rIns="114300" bIns="114300"/>
                    <a:lstStyle/>
                    <a:p>
                      <a:r>
                        <a:rPr sz="1800" b="0">
                          <a:solidFill>
                            <a:srgbClr val="112B3C"/>
                          </a:solidFill>
                          <a:latin typeface="Arial"/>
                          <a:ea typeface="Arial"/>
                          <a:cs typeface="Arial"/>
                        </a:rPr>
                        <a:t>static</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Scope representative</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Initial assignment only</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603250">
                <a:tc>
                  <a:txBody>
                    <a:bodyPr lIns="114300" tIns="114300" rIns="114300" bIns="114300"/>
                    <a:lstStyle/>
                    <a:p>
                      <a:r>
                        <a:rPr sz="1800" b="0">
                          <a:solidFill>
                            <a:srgbClr val="112B3C"/>
                          </a:solidFill>
                          <a:latin typeface="Arial"/>
                          <a:ea typeface="Arial"/>
                          <a:cs typeface="Arial"/>
                        </a:rPr>
                        <a:t>dynamic</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Scope representative</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Best capability, immediate</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603250">
                <a:tc>
                  <a:txBody>
                    <a:bodyPr lIns="114300" tIns="114300" rIns="114300" bIns="114300"/>
                    <a:lstStyle/>
                    <a:p>
                      <a:r>
                        <a:rPr sz="1800" b="0">
                          <a:solidFill>
                            <a:srgbClr val="112B3C"/>
                          </a:solidFill>
                          <a:latin typeface="Arial"/>
                          <a:ea typeface="Arial"/>
                          <a:cs typeface="Arial"/>
                        </a:rPr>
                        <a:t>proposed</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Scope representative</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Cost, hysteresis, lease lifecycle</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61F0E024-C97C-41FF-842F-8F85D8FFC4AA}"/>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05 / 38</a:t>
            </a:r>
          </a:p>
        </p:txBody>
      </p:sp>
      <p:sp>
        <p:nvSpPr>
          <p:cNvPr id="4" name="">
            <a:extLst xmlns:a="http://schemas.openxmlformats.org/drawingml/2006/main">
              <a:ext uri="{FF2B5EF4-FFF2-40B4-BE49-F238E27FC236}">
                <a16:creationId xmlns:a16="http://schemas.microsoft.com/office/drawing/2014/main" id="{D28E132C-3A85-42DE-9E2B-54F17051E376}"/>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simulation/protocols.py; simulation/runner.py</a:t>
            </a:r>
          </a:p>
        </p:txBody>
      </p:sp>
    </p:spTree>
    <p:extLst>
      <p:ext uri="{BB962C8B-B14F-4D97-AF65-F5344CB8AC3E}">
        <p14:creationId xmlns:p14="http://schemas.microsoft.com/office/powerpoint/2010/main" val="1398417541"/>
      </p:ext>
    </p:extLst>
  </p:cSld>
</p:sld>
</file>

<file path=ppt/slides/slide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CE3BE7E-CB8D-4F72-85A6-6D5680BD4DA5}"/>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Proposed solution</a:t>
            </a:r>
          </a:p>
        </p:txBody>
      </p:sp>
      <p:sp>
        <p:nvSpPr>
          <p:cNvPr id="2" name="">
            <a:extLst xmlns:a="http://schemas.openxmlformats.org/drawingml/2006/main">
              <a:ext uri="{FF2B5EF4-FFF2-40B4-BE49-F238E27FC236}">
                <a16:creationId xmlns:a16="http://schemas.microsoft.com/office/drawing/2014/main" id="{40446C24-8D35-4F01-9E31-33D3E0BDA7B8}"/>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F5A26979-BFE4-4D57-A791-A57764199255}"/>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Compute a role capability vector for each online node</a:t>
            </a:r>
          </a:p>
        </p:txBody>
      </p:sp>
      <p:sp>
        <p:nvSpPr>
          <p:cNvPr id="4" name="">
            <a:extLst xmlns:a="http://schemas.openxmlformats.org/drawingml/2006/main">
              <a:ext uri="{FF2B5EF4-FFF2-40B4-BE49-F238E27FC236}">
                <a16:creationId xmlns:a16="http://schemas.microsoft.com/office/drawing/2014/main" id="{8C7CF332-2C9E-44F9-82F0-0FCE90342D0E}"/>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4095A0C9-DEB7-44A1-812C-81E536333C39}"/>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Aggregate child vectors bottom-up through the logical hierarchy</a:t>
            </a:r>
          </a:p>
        </p:txBody>
      </p:sp>
      <p:sp>
        <p:nvSpPr>
          <p:cNvPr id="6" name="">
            <a:extLst xmlns:a="http://schemas.openxmlformats.org/drawingml/2006/main">
              <a:ext uri="{FF2B5EF4-FFF2-40B4-BE49-F238E27FC236}">
                <a16:creationId xmlns:a16="http://schemas.microsoft.com/office/drawing/2014/main" id="{2882F943-A025-4F50-99A3-7F155379186E}"/>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985DBEB7-BEEC-4BAA-A0B8-864B8ABD18E3}"/>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Grant one temporary lease for each role and scope</a:t>
            </a:r>
          </a:p>
        </p:txBody>
      </p:sp>
      <p:sp>
        <p:nvSpPr>
          <p:cNvPr id="8" name="">
            <a:extLst xmlns:a="http://schemas.openxmlformats.org/drawingml/2006/main">
              <a:ext uri="{FF2B5EF4-FFF2-40B4-BE49-F238E27FC236}">
                <a16:creationId xmlns:a16="http://schemas.microsoft.com/office/drawing/2014/main" id="{506282B8-624D-42C6-BF1E-B96BDEFCA82F}"/>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7085DCE0-4546-479E-ABDC-B5C0AA4C4B31}"/>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Migrate only when the candidate clears utility and hysteresis checks</a:t>
            </a:r>
          </a:p>
        </p:txBody>
      </p:sp>
      <p:sp>
        <p:nvSpPr>
          <p:cNvPr id="10" name="">
            <a:extLst xmlns:a="http://schemas.openxmlformats.org/drawingml/2006/main">
              <a:ext uri="{FF2B5EF4-FFF2-40B4-BE49-F238E27FC236}">
                <a16:creationId xmlns:a16="http://schemas.microsoft.com/office/drawing/2014/main" id="{F9A3F28B-32BE-48BE-B915-B65A6E02E325}"/>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2F27D527-0A46-4EA4-8AA0-05D17E0642AB}"/>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Route control exchanges and sensor load through the physical mesh</a:t>
            </a:r>
          </a:p>
        </p:txBody>
      </p:sp>
      <p:sp>
        <p:nvSpPr>
          <p:cNvPr id="12" name="">
            <a:extLst xmlns:a="http://schemas.openxmlformats.org/drawingml/2006/main">
              <a:ext uri="{FF2B5EF4-FFF2-40B4-BE49-F238E27FC236}">
                <a16:creationId xmlns:a16="http://schemas.microsoft.com/office/drawing/2014/main" id="{A970AFEC-31B8-4023-A256-51E18861D006}"/>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06 / 38</a:t>
            </a:r>
          </a:p>
        </p:txBody>
      </p:sp>
      <p:sp>
        <p:nvSpPr>
          <p:cNvPr id="13" name="">
            <a:extLst xmlns:a="http://schemas.openxmlformats.org/drawingml/2006/main">
              <a:ext uri="{FF2B5EF4-FFF2-40B4-BE49-F238E27FC236}">
                <a16:creationId xmlns:a16="http://schemas.microsoft.com/office/drawing/2014/main" id="{B4947D6D-A349-4D8B-8135-D369BC8A4AA9}"/>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simulation/capability.py; simulation/protocols.py; simulation/communications.py</a:t>
            </a:r>
          </a:p>
        </p:txBody>
      </p:sp>
    </p:spTree>
    <p:extLst>
      <p:ext uri="{BB962C8B-B14F-4D97-AF65-F5344CB8AC3E}">
        <p14:creationId xmlns:p14="http://schemas.microsoft.com/office/powerpoint/2010/main" val="1316302517"/>
      </p:ext>
    </p:extLst>
  </p:cSld>
</p:sld>
</file>

<file path=ppt/slides/slide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8ED23B2-1496-47EC-B629-A1D4C21578C8}"/>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Technology stack and tradeoffs</a:t>
            </a:r>
          </a:p>
        </p:txBody>
      </p:sp>
      <p:graphicFrame>
        <p:nvGraphicFramePr>
          <p:cNvPr id="2" name="">
            <a:extLst xmlns:a="http://schemas.openxmlformats.org/drawingml/2006/main">
              <a:ext uri="{FF2B5EF4-FFF2-40B4-BE49-F238E27FC236}">
                <a16:creationId xmlns:a16="http://schemas.microsoft.com/office/drawing/2014/main" id="{36327A8A-904B-4C4C-A671-B9645ADFCB5E}"/>
              </a:ext>
            </a:extLst>
          </p:cNvPr>
          <p:cNvGraphicFramePr/>
          <p:nvPr/>
        </p:nvGraphicFramePr>
        <p:xfrm>
          <a:off xmlns:a="http://schemas.openxmlformats.org/drawingml/2006/main" x="609600" y="1714500"/>
          <a:ext xmlns:a="http://schemas.openxmlformats.org/drawingml/2006/main" cx="10972800" cy="3619500"/>
        </p:xfrm>
        <a:graphic xmlns:a="http://schemas.openxmlformats.org/drawingml/2006/main">
          <a:graphicData uri="http://schemas.openxmlformats.org/drawingml/2006/table">
            <a:tbl>
              <a:tblPr/>
              <a:tblGrid>
                <a:gridCol w="3657600"/>
                <a:gridCol w="3657600"/>
                <a:gridCol w="3657600"/>
              </a:tblGrid>
              <a:tr h="603250">
                <a:tc>
                  <a:txBody>
                    <a:bodyPr lIns="114300" tIns="114300" rIns="114300" bIns="114300"/>
                    <a:lstStyle/>
                    <a:p>
                      <a:r>
                        <a:rPr sz="1800" b="1">
                          <a:solidFill>
                            <a:srgbClr val="FFFFFF"/>
                          </a:solidFill>
                          <a:latin typeface="Arial"/>
                          <a:ea typeface="Arial"/>
                          <a:cs typeface="Arial"/>
                        </a:rPr>
                        <a:t>Component</a:t>
                      </a:r>
                    </a:p>
                  </a:txBody>
                  <a:tcPr marL="91440" marR="91440" marT="45720" marB="45720" anchor="ctr">
                    <a:lnL w="9525">
                      <a:solidFill>
                        <a:srgbClr val="C9D6DD"/>
                      </a:solidFill>
                      <a:prstDash val="solid"/>
                    </a:lnL>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800" b="1">
                          <a:solidFill>
                            <a:srgbClr val="FFFFFF"/>
                          </a:solidFill>
                          <a:latin typeface="Arial"/>
                          <a:ea typeface="Arial"/>
                          <a:cs typeface="Arial"/>
                        </a:rPr>
                        <a:t>Actual technology</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800" b="1">
                          <a:solidFill>
                            <a:srgbClr val="FFFFFF"/>
                          </a:solidFill>
                          <a:latin typeface="Arial"/>
                          <a:ea typeface="Arial"/>
                          <a:cs typeface="Arial"/>
                        </a:rPr>
                        <a:t>Reason / tradeoff</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r>
              <a:tr h="603250">
                <a:tc>
                  <a:txBody>
                    <a:bodyPr lIns="114300" tIns="114300" rIns="114300" bIns="114300"/>
                    <a:lstStyle/>
                    <a:p>
                      <a:r>
                        <a:rPr sz="1800" b="0">
                          <a:solidFill>
                            <a:srgbClr val="112B3C"/>
                          </a:solidFill>
                          <a:latin typeface="Arial"/>
                          <a:ea typeface="Arial"/>
                          <a:cs typeface="Arial"/>
                        </a:rPr>
                        <a:t>Runtime and agents</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Python 3 + Mesa</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Inspectability and repeatable model clock</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603250">
                <a:tc>
                  <a:txBody>
                    <a:bodyPr lIns="114300" tIns="114300" rIns="114300" bIns="114300"/>
                    <a:lstStyle/>
                    <a:p>
                      <a:r>
                        <a:rPr sz="1800" b="0">
                          <a:solidFill>
                            <a:srgbClr val="112B3C"/>
                          </a:solidFill>
                          <a:latin typeface="Arial"/>
                          <a:ea typeface="Arial"/>
                          <a:cs typeface="Arial"/>
                        </a:rPr>
                        <a:t>State transitions</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transitions</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Explicit legal node and lease states</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603250">
                <a:tc>
                  <a:txBody>
                    <a:bodyPr lIns="114300" tIns="114300" rIns="114300" bIns="114300"/>
                    <a:lstStyle/>
                    <a:p>
                      <a:r>
                        <a:rPr sz="1800" b="0">
                          <a:solidFill>
                            <a:srgbClr val="112B3C"/>
                          </a:solidFill>
                          <a:latin typeface="Arial"/>
                          <a:ea typeface="Arial"/>
                          <a:cs typeface="Arial"/>
                        </a:rPr>
                        <a:t>Numerics and records</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NumPy + Pandas</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Seeded worlds and tabular exports</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603250">
                <a:tc>
                  <a:txBody>
                    <a:bodyPr lIns="114300" tIns="114300" rIns="114300" bIns="114300"/>
                    <a:lstStyle/>
                    <a:p>
                      <a:r>
                        <a:rPr sz="1800" b="0">
                          <a:solidFill>
                            <a:srgbClr val="112B3C"/>
                          </a:solidFill>
                          <a:latin typeface="Arial"/>
                          <a:ea typeface="Arial"/>
                          <a:cs typeface="Arial"/>
                        </a:rPr>
                        <a:t>Routing</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dict + heapq</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Transparent custom Dijkstra logic</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603250">
                <a:tc>
                  <a:txBody>
                    <a:bodyPr lIns="114300" tIns="114300" rIns="114300" bIns="114300"/>
                    <a:lstStyle/>
                    <a:p>
                      <a:r>
                        <a:rPr sz="1800" b="0">
                          <a:solidFill>
                            <a:srgbClr val="112B3C"/>
                          </a:solidFill>
                          <a:latin typeface="Arial"/>
                          <a:ea typeface="Arial"/>
                          <a:cs typeface="Arial"/>
                        </a:rPr>
                        <a:t>Reporting</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Matplotlib + SciPy</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Plots and paired t intervals</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C07C6B31-4525-480F-8946-59B3BCED6D21}"/>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07 / 38</a:t>
            </a:r>
          </a:p>
        </p:txBody>
      </p:sp>
      <p:sp>
        <p:nvSpPr>
          <p:cNvPr id="4" name="">
            <a:extLst xmlns:a="http://schemas.openxmlformats.org/drawingml/2006/main">
              <a:ext uri="{FF2B5EF4-FFF2-40B4-BE49-F238E27FC236}">
                <a16:creationId xmlns:a16="http://schemas.microsoft.com/office/drawing/2014/main" id="{4932FE69-4066-4854-AD31-2E9B49B10743}"/>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requirements.txt; nodes.py; simulation/*.py; patent-study/analyze_patent_study.py</a:t>
            </a:r>
          </a:p>
        </p:txBody>
      </p:sp>
    </p:spTree>
    <p:extLst>
      <p:ext uri="{BB962C8B-B14F-4D97-AF65-F5344CB8AC3E}">
        <p14:creationId xmlns:p14="http://schemas.microsoft.com/office/powerpoint/2010/main" val="188270892"/>
      </p:ext>
    </p:extLst>
  </p:cSld>
</p:sld>
</file>

<file path=ppt/slides/slide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9EAC1A2E-439B-4E75-B672-736C12343967}"/>
              </a:ext>
            </a:extLst>
          </p:cNvPr>
          <p:cNvCxnSpPr>
            <a:stCxn xmlns:a="http://schemas.openxmlformats.org/drawingml/2006/main" id="3" idx="2"/>
            <a:endCxn xmlns:a="http://schemas.openxmlformats.org/drawingml/2006/main" id="10" idx="0"/>
          </p:cNvCxnSpPr>
          <p:nvPr/>
        </p:nvCxnSpPr>
        <p:spPr>
          <a:xfrm xmlns:a="http://schemas.openxmlformats.org/drawingml/2006/main">
            <a:off x="6000750" y="2533650"/>
            <a:ext cx="4362450" cy="1228725"/>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13" name="">
            <a:extLst xmlns:a="http://schemas.openxmlformats.org/drawingml/2006/main">
              <a:ext uri="{FF2B5EF4-FFF2-40B4-BE49-F238E27FC236}">
                <a16:creationId xmlns:a16="http://schemas.microsoft.com/office/drawing/2014/main" id="{850F3B3B-EF42-451B-BBFB-11B8A9CC9AB8}"/>
              </a:ext>
            </a:extLst>
          </p:cNvPr>
          <p:cNvCxnSpPr>
            <a:stCxn xmlns:a="http://schemas.openxmlformats.org/drawingml/2006/main" id="3" idx="2"/>
            <a:endCxn xmlns:a="http://schemas.openxmlformats.org/drawingml/2006/main" id="9" idx="0"/>
          </p:cNvCxnSpPr>
          <p:nvPr/>
        </p:nvCxnSpPr>
        <p:spPr>
          <a:xfrm xmlns:a="http://schemas.openxmlformats.org/drawingml/2006/main">
            <a:off x="6000750" y="2533650"/>
            <a:ext cx="1524000" cy="1228725"/>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12" name="">
            <a:extLst xmlns:a="http://schemas.openxmlformats.org/drawingml/2006/main">
              <a:ext uri="{FF2B5EF4-FFF2-40B4-BE49-F238E27FC236}">
                <a16:creationId xmlns:a16="http://schemas.microsoft.com/office/drawing/2014/main" id="{A2F7B6A0-F104-4846-A128-6F748820493A}"/>
              </a:ext>
            </a:extLst>
          </p:cNvPr>
          <p:cNvCxnSpPr>
            <a:stCxn xmlns:a="http://schemas.openxmlformats.org/drawingml/2006/main" id="3" idx="2"/>
            <a:endCxn xmlns:a="http://schemas.openxmlformats.org/drawingml/2006/main" id="8" idx="0"/>
          </p:cNvCxnSpPr>
          <p:nvPr/>
        </p:nvCxnSpPr>
        <p:spPr>
          <a:xfrm xmlns:a="http://schemas.openxmlformats.org/drawingml/2006/main" flipH="1">
            <a:off x="4686300" y="2533650"/>
            <a:ext cx="1314450" cy="1228725"/>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11" name="">
            <a:extLst xmlns:a="http://schemas.openxmlformats.org/drawingml/2006/main">
              <a:ext uri="{FF2B5EF4-FFF2-40B4-BE49-F238E27FC236}">
                <a16:creationId xmlns:a16="http://schemas.microsoft.com/office/drawing/2014/main" id="{79C14B3D-A654-4252-ADC5-27815ED75FA8}"/>
              </a:ext>
            </a:extLst>
          </p:cNvPr>
          <p:cNvCxnSpPr>
            <a:stCxn xmlns:a="http://schemas.openxmlformats.org/drawingml/2006/main" id="3" idx="2"/>
            <a:endCxn xmlns:a="http://schemas.openxmlformats.org/drawingml/2006/main" id="7" idx="0"/>
          </p:cNvCxnSpPr>
          <p:nvPr/>
        </p:nvCxnSpPr>
        <p:spPr>
          <a:xfrm xmlns:a="http://schemas.openxmlformats.org/drawingml/2006/main" flipH="1">
            <a:off x="1847850" y="2533650"/>
            <a:ext cx="4152900" cy="1228725"/>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6" name="">
            <a:extLst xmlns:a="http://schemas.openxmlformats.org/drawingml/2006/main">
              <a:ext uri="{FF2B5EF4-FFF2-40B4-BE49-F238E27FC236}">
                <a16:creationId xmlns:a16="http://schemas.microsoft.com/office/drawing/2014/main" id="{511CB48D-1430-4564-9E48-7CA45B81E3C0}"/>
              </a:ext>
            </a:extLst>
          </p:cNvPr>
          <p:cNvCxnSpPr>
            <a:stCxn xmlns:a="http://schemas.openxmlformats.org/drawingml/2006/main" id="3" idx="3"/>
            <a:endCxn xmlns:a="http://schemas.openxmlformats.org/drawingml/2006/main" id="4" idx="1"/>
          </p:cNvCxnSpPr>
          <p:nvPr/>
        </p:nvCxnSpPr>
        <p:spPr>
          <a:xfrm xmlns:a="http://schemas.openxmlformats.org/drawingml/2006/main">
            <a:off x="7715250" y="2124075"/>
            <a:ext cx="10477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5" name="">
            <a:extLst xmlns:a="http://schemas.openxmlformats.org/drawingml/2006/main">
              <a:ext uri="{FF2B5EF4-FFF2-40B4-BE49-F238E27FC236}">
                <a16:creationId xmlns:a16="http://schemas.microsoft.com/office/drawing/2014/main" id="{E94AE1C9-0C52-4509-A7EA-09C72A6FC4E3}"/>
              </a:ext>
            </a:extLst>
          </p:cNvPr>
          <p:cNvCxnSpPr>
            <a:stCxn xmlns:a="http://schemas.openxmlformats.org/drawingml/2006/main" id="2" idx="3"/>
            <a:endCxn xmlns:a="http://schemas.openxmlformats.org/drawingml/2006/main" id="3" idx="1"/>
          </p:cNvCxnSpPr>
          <p:nvPr/>
        </p:nvCxnSpPr>
        <p:spPr>
          <a:xfrm xmlns:a="http://schemas.openxmlformats.org/drawingml/2006/main">
            <a:off x="3181350" y="2124075"/>
            <a:ext cx="1104900" cy="0"/>
          </a:xfrm>
          <a:prstGeom xmlns:a="http://schemas.openxmlformats.org/drawingml/2006/main" prst="straightConnector1">
            <a:avLst/>
          </a:prstGeom>
          <a:ln xmlns:a="http://schemas.openxmlformats.org/drawingml/2006/main" w="19050">
            <a:solidFill>
              <a:srgbClr val="526775"/>
            </a:solidFill>
            <a:tailEnd type="triangle" w="med" len="med"/>
          </a:ln>
        </p:spPr>
      </p:cxnSp>
      <p:sp>
        <p:nvSpPr>
          <p:cNvPr id="18" name="">
            <a:extLst xmlns:a="http://schemas.openxmlformats.org/drawingml/2006/main">
              <a:ext uri="{FF2B5EF4-FFF2-40B4-BE49-F238E27FC236}">
                <a16:creationId xmlns:a16="http://schemas.microsoft.com/office/drawing/2014/main" id="{E8E1BE74-93BE-4171-94C4-B824C93C83FB}"/>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System architecture</a:t>
            </a:r>
          </a:p>
        </p:txBody>
      </p:sp>
      <p:sp>
        <p:nvSpPr>
          <p:cNvPr id="2" name="">
            <a:extLst xmlns:a="http://schemas.openxmlformats.org/drawingml/2006/main">
              <a:ext uri="{FF2B5EF4-FFF2-40B4-BE49-F238E27FC236}">
                <a16:creationId xmlns:a16="http://schemas.microsoft.com/office/drawing/2014/main" id="{703EC1CD-80B1-4B20-A913-3CCFD5070D68}"/>
              </a:ext>
            </a:extLst>
          </p:cNvPr>
          <p:cNvSpPr>
            <a:spLocks xmlns:a="http://schemas.openxmlformats.org/drawingml/2006/main" noGrp="1"/>
          </p:cNvSpPr>
          <p:nvPr/>
        </p:nvSpPr>
        <p:spPr>
          <a:xfrm xmlns:a="http://schemas.openxmlformats.org/drawingml/2006/main">
            <a:off x="609600" y="1714500"/>
            <a:ext cx="2571750" cy="8191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CLI / study runner</a:t>
            </a:r>
          </a:p>
        </p:txBody>
      </p:sp>
      <p:sp>
        <p:nvSpPr>
          <p:cNvPr id="3" name="">
            <a:extLst xmlns:a="http://schemas.openxmlformats.org/drawingml/2006/main">
              <a:ext uri="{FF2B5EF4-FFF2-40B4-BE49-F238E27FC236}">
                <a16:creationId xmlns:a16="http://schemas.microsoft.com/office/drawing/2014/main" id="{609030E4-38D3-40C3-A884-27BC38F0C280}"/>
              </a:ext>
            </a:extLst>
          </p:cNvPr>
          <p:cNvSpPr>
            <a:spLocks xmlns:a="http://schemas.openxmlformats.org/drawingml/2006/main" noGrp="1"/>
          </p:cNvSpPr>
          <p:nvPr/>
        </p:nvSpPr>
        <p:spPr>
          <a:xfrm xmlns:a="http://schemas.openxmlformats.org/drawingml/2006/main">
            <a:off x="4286250" y="1714500"/>
            <a:ext cx="3429000" cy="8191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RoleSimulationModel</a:t>
            </a:r>
          </a:p>
        </p:txBody>
      </p:sp>
      <p:sp>
        <p:nvSpPr>
          <p:cNvPr id="4" name="">
            <a:extLst xmlns:a="http://schemas.openxmlformats.org/drawingml/2006/main">
              <a:ext uri="{FF2B5EF4-FFF2-40B4-BE49-F238E27FC236}">
                <a16:creationId xmlns:a16="http://schemas.microsoft.com/office/drawing/2014/main" id="{D9C7A067-A2E3-4E51-9F07-EC52610C9C52}"/>
              </a:ext>
            </a:extLst>
          </p:cNvPr>
          <p:cNvSpPr>
            <a:spLocks xmlns:a="http://schemas.openxmlformats.org/drawingml/2006/main" noGrp="1"/>
          </p:cNvSpPr>
          <p:nvPr/>
        </p:nvSpPr>
        <p:spPr>
          <a:xfrm xmlns:a="http://schemas.openxmlformats.org/drawingml/2006/main">
            <a:off x="8763000" y="1714500"/>
            <a:ext cx="2762250" cy="8191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Metrics and exports</a:t>
            </a:r>
          </a:p>
        </p:txBody>
      </p:sp>
      <p:sp>
        <p:nvSpPr>
          <p:cNvPr id="7" name="">
            <a:extLst xmlns:a="http://schemas.openxmlformats.org/drawingml/2006/main">
              <a:ext uri="{FF2B5EF4-FFF2-40B4-BE49-F238E27FC236}">
                <a16:creationId xmlns:a16="http://schemas.microsoft.com/office/drawing/2014/main" id="{6F9705CB-B7E0-4D55-BDFB-6F8789466A7A}"/>
              </a:ext>
            </a:extLst>
          </p:cNvPr>
          <p:cNvSpPr>
            <a:spLocks xmlns:a="http://schemas.openxmlformats.org/drawingml/2006/main" noGrp="1"/>
          </p:cNvSpPr>
          <p:nvPr/>
        </p:nvSpPr>
        <p:spPr>
          <a:xfrm xmlns:a="http://schemas.openxmlformats.org/drawingml/2006/main">
            <a:off x="609600" y="3762375"/>
            <a:ext cx="2476500" cy="95250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Topology + hierarchy</a:t>
            </a:r>
          </a:p>
        </p:txBody>
      </p:sp>
      <p:sp>
        <p:nvSpPr>
          <p:cNvPr id="8" name="">
            <a:extLst xmlns:a="http://schemas.openxmlformats.org/drawingml/2006/main">
              <a:ext uri="{FF2B5EF4-FFF2-40B4-BE49-F238E27FC236}">
                <a16:creationId xmlns:a16="http://schemas.microsoft.com/office/drawing/2014/main" id="{377C3F17-14C1-4979-BD86-6A163704D490}"/>
              </a:ext>
            </a:extLst>
          </p:cNvPr>
          <p:cNvSpPr>
            <a:spLocks xmlns:a="http://schemas.openxmlformats.org/drawingml/2006/main" noGrp="1"/>
          </p:cNvSpPr>
          <p:nvPr/>
        </p:nvSpPr>
        <p:spPr>
          <a:xfrm xmlns:a="http://schemas.openxmlformats.org/drawingml/2006/main">
            <a:off x="3448050" y="3762375"/>
            <a:ext cx="2476500" cy="9525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Capability refresh</a:t>
            </a:r>
          </a:p>
        </p:txBody>
      </p:sp>
      <p:sp>
        <p:nvSpPr>
          <p:cNvPr id="9" name="">
            <a:extLst xmlns:a="http://schemas.openxmlformats.org/drawingml/2006/main">
              <a:ext uri="{FF2B5EF4-FFF2-40B4-BE49-F238E27FC236}">
                <a16:creationId xmlns:a16="http://schemas.microsoft.com/office/drawing/2014/main" id="{AA5BF017-1C5A-45FD-BB9C-26BC49F9AF07}"/>
              </a:ext>
            </a:extLst>
          </p:cNvPr>
          <p:cNvSpPr>
            <a:spLocks xmlns:a="http://schemas.openxmlformats.org/drawingml/2006/main" noGrp="1"/>
          </p:cNvSpPr>
          <p:nvPr/>
        </p:nvSpPr>
        <p:spPr>
          <a:xfrm xmlns:a="http://schemas.openxmlformats.org/drawingml/2006/main">
            <a:off x="6286500" y="3762375"/>
            <a:ext cx="2476500" cy="95250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ProtocolEngine + Lease</a:t>
            </a:r>
          </a:p>
        </p:txBody>
      </p:sp>
      <p:sp>
        <p:nvSpPr>
          <p:cNvPr id="10" name="">
            <a:extLst xmlns:a="http://schemas.openxmlformats.org/drawingml/2006/main">
              <a:ext uri="{FF2B5EF4-FFF2-40B4-BE49-F238E27FC236}">
                <a16:creationId xmlns:a16="http://schemas.microsoft.com/office/drawing/2014/main" id="{7D118977-9A6E-4992-95AA-4D9118542BE7}"/>
              </a:ext>
            </a:extLst>
          </p:cNvPr>
          <p:cNvSpPr>
            <a:spLocks xmlns:a="http://schemas.openxmlformats.org/drawingml/2006/main" noGrp="1"/>
          </p:cNvSpPr>
          <p:nvPr/>
        </p:nvSpPr>
        <p:spPr>
          <a:xfrm xmlns:a="http://schemas.openxmlformats.org/drawingml/2006/main">
            <a:off x="9124950" y="3762375"/>
            <a:ext cx="2476500" cy="9525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NetworkRouter</a:t>
            </a:r>
          </a:p>
        </p:txBody>
      </p:sp>
      <p:sp>
        <p:nvSpPr>
          <p:cNvPr id="15" name="">
            <a:extLst xmlns:a="http://schemas.openxmlformats.org/drawingml/2006/main">
              <a:ext uri="{FF2B5EF4-FFF2-40B4-BE49-F238E27FC236}">
                <a16:creationId xmlns:a16="http://schemas.microsoft.com/office/drawing/2014/main" id="{8D078FAE-2086-4AC7-9808-1AD97D7C06AF}"/>
              </a:ext>
            </a:extLst>
          </p:cNvPr>
          <p:cNvSpPr>
            <a:spLocks xmlns:a="http://schemas.openxmlformats.org/drawingml/2006/main" noGrp="1"/>
          </p:cNvSpPr>
          <p:nvPr/>
        </p:nvSpPr>
        <p:spPr>
          <a:xfrm xmlns:a="http://schemas.openxmlformats.org/drawingml/2006/main">
            <a:off x="685800" y="54292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526775"/>
                </a:solidFill>
                <a:latin typeface="Arial"/>
                <a:ea typeface="Arial"/>
                <a:cs typeface="Arial"/>
              </a:defRPr>
            </a:defPPr>
          </a:lstStyle>
          <a:p xmlns:a="http://schemas.openxmlformats.org/drawingml/2006/main">
            <a:pPr>
              <a:defRPr sz="2025" b="0">
                <a:solidFill>
                  <a:srgbClr val="526775"/>
                </a:solidFill>
                <a:latin typeface="Arial"/>
                <a:ea typeface="Arial"/>
                <a:cs typeface="Arial"/>
              </a:defRPr>
            </a:pPr>
            <a:r>
              <a:rPr sz="2025" b="0">
                <a:solidFill>
                  <a:srgbClr val="526775"/>
                </a:solidFill>
                <a:latin typeface="Arial"/>
                <a:ea typeface="Arial"/>
                <a:cs typeface="Arial"/>
              </a:rPr>
              <a:t>Shared world state, physical routes, policy decisions, and counters</a:t>
            </a:r>
          </a:p>
        </p:txBody>
      </p:sp>
      <p:sp>
        <p:nvSpPr>
          <p:cNvPr id="16" name="">
            <a:extLst xmlns:a="http://schemas.openxmlformats.org/drawingml/2006/main">
              <a:ext uri="{FF2B5EF4-FFF2-40B4-BE49-F238E27FC236}">
                <a16:creationId xmlns:a16="http://schemas.microsoft.com/office/drawing/2014/main" id="{669B48A1-3916-470D-9ECD-9E901AC4685C}"/>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08 / 38</a:t>
            </a:r>
          </a:p>
        </p:txBody>
      </p:sp>
      <p:sp>
        <p:nvSpPr>
          <p:cNvPr id="17" name="">
            <a:extLst xmlns:a="http://schemas.openxmlformats.org/drawingml/2006/main">
              <a:ext uri="{FF2B5EF4-FFF2-40B4-BE49-F238E27FC236}">
                <a16:creationId xmlns:a16="http://schemas.microsoft.com/office/drawing/2014/main" id="{26DF8313-233A-471F-BDB4-2A29E3C22818}"/>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simulation/main.py; simulation/runner.py; simulation/experiments.py</a:t>
            </a:r>
          </a:p>
        </p:txBody>
      </p:sp>
    </p:spTree>
    <p:extLst>
      <p:ext uri="{BB962C8B-B14F-4D97-AF65-F5344CB8AC3E}">
        <p14:creationId xmlns:p14="http://schemas.microsoft.com/office/powerpoint/2010/main" val="1339699476"/>
      </p:ext>
    </p:extLst>
  </p:cSld>
</p:sld>
</file>

<file path=ppt/slides/slide9.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D8BD5AE-A871-462E-A623-C4AFAB03CE63}"/>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Project structure</a:t>
            </a:r>
          </a:p>
        </p:txBody>
      </p:sp>
      <p:graphicFrame>
        <p:nvGraphicFramePr>
          <p:cNvPr id="2" name="">
            <a:extLst xmlns:a="http://schemas.openxmlformats.org/drawingml/2006/main">
              <a:ext uri="{FF2B5EF4-FFF2-40B4-BE49-F238E27FC236}">
                <a16:creationId xmlns:a16="http://schemas.microsoft.com/office/drawing/2014/main" id="{3FBD32F3-7D16-4FD3-B134-69724BA755A9}"/>
              </a:ext>
            </a:extLst>
          </p:cNvPr>
          <p:cNvGraphicFramePr/>
          <p:nvPr/>
        </p:nvGraphicFramePr>
        <p:xfrm>
          <a:off xmlns:a="http://schemas.openxmlformats.org/drawingml/2006/main" x="609600" y="1714500"/>
          <a:ext xmlns:a="http://schemas.openxmlformats.org/drawingml/2006/main" cx="10972800" cy="4000500"/>
        </p:xfrm>
        <a:graphic xmlns:a="http://schemas.openxmlformats.org/drawingml/2006/main">
          <a:graphicData uri="http://schemas.openxmlformats.org/drawingml/2006/table">
            <a:tbl>
              <a:tblPr/>
              <a:tblGrid>
                <a:gridCol w="5486400"/>
                <a:gridCol w="5486400"/>
              </a:tblGrid>
              <a:tr h="571500">
                <a:tc>
                  <a:txBody>
                    <a:bodyPr lIns="114300" tIns="114300" rIns="114300" bIns="114300"/>
                    <a:lstStyle/>
                    <a:p>
                      <a:r>
                        <a:rPr sz="1800" b="1">
                          <a:solidFill>
                            <a:srgbClr val="FFFFFF"/>
                          </a:solidFill>
                          <a:latin typeface="Arial"/>
                          <a:ea typeface="Arial"/>
                          <a:cs typeface="Arial"/>
                        </a:rPr>
                        <a:t>Path</a:t>
                      </a:r>
                    </a:p>
                  </a:txBody>
                  <a:tcPr marL="91440" marR="91440" marT="45720" marB="45720" anchor="ctr">
                    <a:lnL w="9525">
                      <a:solidFill>
                        <a:srgbClr val="C9D6DD"/>
                      </a:solidFill>
                      <a:prstDash val="solid"/>
                    </a:lnL>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800" b="1">
                          <a:solidFill>
                            <a:srgbClr val="FFFFFF"/>
                          </a:solidFill>
                          <a:latin typeface="Arial"/>
                          <a:ea typeface="Arial"/>
                          <a:cs typeface="Arial"/>
                        </a:rPr>
                        <a:t>Responsibility</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r>
              <a:tr h="571500">
                <a:tc>
                  <a:txBody>
                    <a:bodyPr lIns="114300" tIns="114300" rIns="114300" bIns="114300"/>
                    <a:lstStyle/>
                    <a:p>
                      <a:r>
                        <a:rPr sz="1800" b="0">
                          <a:solidFill>
                            <a:srgbClr val="112B3C"/>
                          </a:solidFill>
                          <a:latin typeface="Arial"/>
                          <a:ea typeface="Arial"/>
                          <a:cs typeface="Arial"/>
                        </a:rPr>
                        <a:t>nodes.py</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Node attributes, capability, online / failed state</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571500">
                <a:tc>
                  <a:txBody>
                    <a:bodyPr lIns="114300" tIns="114300" rIns="114300" bIns="114300"/>
                    <a:lstStyle/>
                    <a:p>
                      <a:r>
                        <a:rPr sz="1800" b="0">
                          <a:solidFill>
                            <a:srgbClr val="112B3C"/>
                          </a:solidFill>
                          <a:latin typeface="Arial"/>
                          <a:ea typeface="Arial"/>
                          <a:cs typeface="Arial"/>
                        </a:rPr>
                        <a:t>simulation/topology.py + entities.py</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Mesh construction and hierarchy mapping</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571500">
                <a:tc>
                  <a:txBody>
                    <a:bodyPr lIns="114300" tIns="114300" rIns="114300" bIns="114300"/>
                    <a:lstStyle/>
                    <a:p>
                      <a:r>
                        <a:rPr sz="1800" b="0">
                          <a:solidFill>
                            <a:srgbClr val="112B3C"/>
                          </a:solidFill>
                          <a:latin typeface="Arial"/>
                          <a:ea typeface="Arial"/>
                          <a:cs typeface="Arial"/>
                        </a:rPr>
                        <a:t>capability.py + leases.py + protocols.py</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Aggregation, lifecycle, selection, migration</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571500">
                <a:tc>
                  <a:txBody>
                    <a:bodyPr lIns="114300" tIns="114300" rIns="114300" bIns="114300"/>
                    <a:lstStyle/>
                    <a:p>
                      <a:r>
                        <a:rPr sz="1800" b="0">
                          <a:solidFill>
                            <a:srgbClr val="112B3C"/>
                          </a:solidFill>
                          <a:latin typeface="Arial"/>
                          <a:ea typeface="Arial"/>
                          <a:cs typeface="Arial"/>
                        </a:rPr>
                        <a:t>communications.py + runner.py</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Routing, energy, tick coordination</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571500">
                <a:tc>
                  <a:txBody>
                    <a:bodyPr lIns="114300" tIns="114300" rIns="114300" bIns="114300"/>
                    <a:lstStyle/>
                    <a:p>
                      <a:r>
                        <a:rPr sz="1800" b="0">
                          <a:solidFill>
                            <a:srgbClr val="112B3C"/>
                          </a:solidFill>
                          <a:latin typeface="Arial"/>
                          <a:ea typeface="Arial"/>
                          <a:cs typeface="Arial"/>
                        </a:rPr>
                        <a:t>events.py + metrics.py + experiments.py</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Replay, measurement, exports</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571500">
                <a:tc>
                  <a:txBody>
                    <a:bodyPr lIns="114300" tIns="114300" rIns="114300" bIns="114300"/>
                    <a:lstStyle/>
                    <a:p>
                      <a:r>
                        <a:rPr sz="1800" b="0">
                          <a:solidFill>
                            <a:srgbClr val="112B3C"/>
                          </a:solidFill>
                          <a:latin typeface="Arial"/>
                          <a:ea typeface="Arial"/>
                          <a:cs typeface="Arial"/>
                        </a:rPr>
                        <a:t>tests/ + patent-study/</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Regression suite and matched study</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bl>
          </a:graphicData>
        </a:graphic>
      </p:graphicFrame>
      <p:sp>
        <p:nvSpPr>
          <p:cNvPr id="3" name="">
            <a:extLst xmlns:a="http://schemas.openxmlformats.org/drawingml/2006/main">
              <a:ext uri="{FF2B5EF4-FFF2-40B4-BE49-F238E27FC236}">
                <a16:creationId xmlns:a16="http://schemas.microsoft.com/office/drawing/2014/main" id="{BCA86E3F-4A28-404C-BE68-1374B512AD57}"/>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09 / 38</a:t>
            </a:r>
          </a:p>
        </p:txBody>
      </p:sp>
      <p:sp>
        <p:nvSpPr>
          <p:cNvPr id="4" name="">
            <a:extLst xmlns:a="http://schemas.openxmlformats.org/drawingml/2006/main">
              <a:ext uri="{FF2B5EF4-FFF2-40B4-BE49-F238E27FC236}">
                <a16:creationId xmlns:a16="http://schemas.microsoft.com/office/drawing/2014/main" id="{2BDA6E4D-6058-421D-9259-7F033BBA524D}"/>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 nodes.py; placer.py; FINAL_SPRINT_PLAN.md</a:t>
            </a:r>
          </a:p>
        </p:txBody>
      </p:sp>
    </p:spTree>
    <p:extLst>
      <p:ext uri="{BB962C8B-B14F-4D97-AF65-F5344CB8AC3E}">
        <p14:creationId xmlns:p14="http://schemas.microsoft.com/office/powerpoint/2010/main" val="1386635051"/>
      </p:ext>
    </p:extLst>
  </p:cSld>
</p:sld>
</file>

<file path=ppt/slides/slide10.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DD5CC36C-9CA2-4565-8ED8-A975551D0C6A}"/>
              </a:ext>
            </a:extLst>
          </p:cNvPr>
          <p:cNvCxnSpPr>
            <a:stCxn xmlns:a="http://schemas.openxmlformats.org/drawingml/2006/main" id="5" idx="2"/>
            <a:endCxn xmlns:a="http://schemas.openxmlformats.org/drawingml/2006/main" id="6" idx="0"/>
          </p:cNvCxnSpPr>
          <p:nvPr/>
        </p:nvCxnSpPr>
        <p:spPr>
          <a:xfrm xmlns:a="http://schemas.openxmlformats.org/drawingml/2006/main">
            <a:off x="3095625" y="4371975"/>
            <a:ext cx="0" cy="22860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8" name="">
            <a:extLst xmlns:a="http://schemas.openxmlformats.org/drawingml/2006/main">
              <a:ext uri="{FF2B5EF4-FFF2-40B4-BE49-F238E27FC236}">
                <a16:creationId xmlns:a16="http://schemas.microsoft.com/office/drawing/2014/main" id="{F105845D-BB88-4A76-B087-006F68D23C93}"/>
              </a:ext>
            </a:extLst>
          </p:cNvPr>
          <p:cNvCxnSpPr>
            <a:stCxn xmlns:a="http://schemas.openxmlformats.org/drawingml/2006/main" id="4" idx="2"/>
            <a:endCxn xmlns:a="http://schemas.openxmlformats.org/drawingml/2006/main" id="5" idx="0"/>
          </p:cNvCxnSpPr>
          <p:nvPr/>
        </p:nvCxnSpPr>
        <p:spPr>
          <a:xfrm xmlns:a="http://schemas.openxmlformats.org/drawingml/2006/main">
            <a:off x="3095625" y="3552825"/>
            <a:ext cx="0" cy="22860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7" name="">
            <a:extLst xmlns:a="http://schemas.openxmlformats.org/drawingml/2006/main">
              <a:ext uri="{FF2B5EF4-FFF2-40B4-BE49-F238E27FC236}">
                <a16:creationId xmlns:a16="http://schemas.microsoft.com/office/drawing/2014/main" id="{9A2A023B-0EF4-4218-AC02-76664394F4B8}"/>
              </a:ext>
            </a:extLst>
          </p:cNvPr>
          <p:cNvCxnSpPr>
            <a:stCxn xmlns:a="http://schemas.openxmlformats.org/drawingml/2006/main" id="3" idx="2"/>
            <a:endCxn xmlns:a="http://schemas.openxmlformats.org/drawingml/2006/main" id="4" idx="0"/>
          </p:cNvCxnSpPr>
          <p:nvPr/>
        </p:nvCxnSpPr>
        <p:spPr>
          <a:xfrm xmlns:a="http://schemas.openxmlformats.org/drawingml/2006/main">
            <a:off x="3095625" y="2733675"/>
            <a:ext cx="0" cy="228600"/>
          </a:xfrm>
          <a:prstGeom xmlns:a="http://schemas.openxmlformats.org/drawingml/2006/main" prst="straightConnector1">
            <a:avLst/>
          </a:prstGeom>
          <a:ln xmlns:a="http://schemas.openxmlformats.org/drawingml/2006/main" w="19050">
            <a:solidFill>
              <a:srgbClr val="526775"/>
            </a:solidFill>
            <a:tailEnd type="triangle" w="med" len="med"/>
          </a:ln>
        </p:spPr>
      </p:cxnSp>
      <p:sp>
        <p:nvSpPr>
          <p:cNvPr id="21" name="">
            <a:extLst xmlns:a="http://schemas.openxmlformats.org/drawingml/2006/main">
              <a:ext uri="{FF2B5EF4-FFF2-40B4-BE49-F238E27FC236}">
                <a16:creationId xmlns:a16="http://schemas.microsoft.com/office/drawing/2014/main" id="{6920146E-8484-43E2-9C5F-DBBE9DAC9D08}"/>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Physical mesh and logical hierarchy</a:t>
            </a:r>
          </a:p>
        </p:txBody>
      </p:sp>
      <p:sp>
        <p:nvSpPr>
          <p:cNvPr id="2" name="">
            <a:extLst xmlns:a="http://schemas.openxmlformats.org/drawingml/2006/main">
              <a:ext uri="{FF2B5EF4-FFF2-40B4-BE49-F238E27FC236}">
                <a16:creationId xmlns:a16="http://schemas.microsoft.com/office/drawing/2014/main" id="{7036E971-5D25-4ADF-A5BC-96E713C0275B}"/>
              </a:ext>
            </a:extLst>
          </p:cNvPr>
          <p:cNvSpPr>
            <a:spLocks xmlns:a="http://schemas.openxmlformats.org/drawingml/2006/main" noGrp="1"/>
          </p:cNvSpPr>
          <p:nvPr/>
        </p:nvSpPr>
        <p:spPr>
          <a:xfrm xmlns:a="http://schemas.openxmlformats.org/drawingml/2006/main">
            <a:off x="666750" y="161925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007F7B"/>
                </a:solidFill>
                <a:latin typeface="Arial"/>
                <a:ea typeface="Arial"/>
                <a:cs typeface="Arial"/>
              </a:defRPr>
            </a:defPPr>
          </a:lstStyle>
          <a:p xmlns:a="http://schemas.openxmlformats.org/drawingml/2006/main">
            <a:pPr>
              <a:defRPr sz="1725" b="1">
                <a:solidFill>
                  <a:srgbClr val="007F7B"/>
                </a:solidFill>
                <a:latin typeface="Arial"/>
                <a:ea typeface="Arial"/>
                <a:cs typeface="Arial"/>
              </a:defRPr>
            </a:pPr>
            <a:r>
              <a:rPr sz="1725" b="1">
                <a:solidFill>
                  <a:srgbClr val="007F7B"/>
                </a:solidFill>
                <a:latin typeface="Arial"/>
                <a:ea typeface="Arial"/>
                <a:cs typeface="Arial"/>
              </a:rPr>
              <a:t>LOGICAL CANDIDATES</a:t>
            </a:r>
          </a:p>
        </p:txBody>
      </p:sp>
      <p:sp>
        <p:nvSpPr>
          <p:cNvPr id="3" name="">
            <a:extLst xmlns:a="http://schemas.openxmlformats.org/drawingml/2006/main">
              <a:ext uri="{FF2B5EF4-FFF2-40B4-BE49-F238E27FC236}">
                <a16:creationId xmlns:a16="http://schemas.microsoft.com/office/drawing/2014/main" id="{385C8D20-2AB2-4D5F-AF07-03B633D206F7}"/>
              </a:ext>
            </a:extLst>
          </p:cNvPr>
          <p:cNvSpPr>
            <a:spLocks xmlns:a="http://schemas.openxmlformats.org/drawingml/2006/main" noGrp="1"/>
          </p:cNvSpPr>
          <p:nvPr/>
        </p:nvSpPr>
        <p:spPr>
          <a:xfrm xmlns:a="http://schemas.openxmlformats.org/drawingml/2006/main">
            <a:off x="952500" y="2143125"/>
            <a:ext cx="4286250" cy="5905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Internetwork: 1</a:t>
            </a:r>
          </a:p>
        </p:txBody>
      </p:sp>
      <p:sp>
        <p:nvSpPr>
          <p:cNvPr id="4" name="">
            <a:extLst xmlns:a="http://schemas.openxmlformats.org/drawingml/2006/main">
              <a:ext uri="{FF2B5EF4-FFF2-40B4-BE49-F238E27FC236}">
                <a16:creationId xmlns:a16="http://schemas.microsoft.com/office/drawing/2014/main" id="{1606A4C7-138D-403D-9188-225CD18602DF}"/>
              </a:ext>
            </a:extLst>
          </p:cNvPr>
          <p:cNvSpPr>
            <a:spLocks xmlns:a="http://schemas.openxmlformats.org/drawingml/2006/main" noGrp="1"/>
          </p:cNvSpPr>
          <p:nvPr/>
        </p:nvSpPr>
        <p:spPr>
          <a:xfrm xmlns:a="http://schemas.openxmlformats.org/drawingml/2006/main">
            <a:off x="952500" y="2962275"/>
            <a:ext cx="4286250" cy="5905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Networks: 3</a:t>
            </a:r>
          </a:p>
        </p:txBody>
      </p:sp>
      <p:sp>
        <p:nvSpPr>
          <p:cNvPr id="5" name="">
            <a:extLst xmlns:a="http://schemas.openxmlformats.org/drawingml/2006/main">
              <a:ext uri="{FF2B5EF4-FFF2-40B4-BE49-F238E27FC236}">
                <a16:creationId xmlns:a16="http://schemas.microsoft.com/office/drawing/2014/main" id="{FA824D88-B179-472B-A72F-0CA7972EDD00}"/>
              </a:ext>
            </a:extLst>
          </p:cNvPr>
          <p:cNvSpPr>
            <a:spLocks xmlns:a="http://schemas.openxmlformats.org/drawingml/2006/main" noGrp="1"/>
          </p:cNvSpPr>
          <p:nvPr/>
        </p:nvSpPr>
        <p:spPr>
          <a:xfrm xmlns:a="http://schemas.openxmlformats.org/drawingml/2006/main">
            <a:off x="952500" y="3781425"/>
            <a:ext cx="4286250" cy="5905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Subnets: 10</a:t>
            </a:r>
          </a:p>
        </p:txBody>
      </p:sp>
      <p:sp>
        <p:nvSpPr>
          <p:cNvPr id="6" name="">
            <a:extLst xmlns:a="http://schemas.openxmlformats.org/drawingml/2006/main">
              <a:ext uri="{FF2B5EF4-FFF2-40B4-BE49-F238E27FC236}">
                <a16:creationId xmlns:a16="http://schemas.microsoft.com/office/drawing/2014/main" id="{F5968E40-BA68-463D-960E-4254430EFEF9}"/>
              </a:ext>
            </a:extLst>
          </p:cNvPr>
          <p:cNvSpPr>
            <a:spLocks xmlns:a="http://schemas.openxmlformats.org/drawingml/2006/main" noGrp="1"/>
          </p:cNvSpPr>
          <p:nvPr/>
        </p:nvSpPr>
        <p:spPr>
          <a:xfrm xmlns:a="http://schemas.openxmlformats.org/drawingml/2006/main">
            <a:off x="952500" y="4600575"/>
            <a:ext cx="4286250" cy="5905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Physical nodes: 100</a:t>
            </a:r>
          </a:p>
        </p:txBody>
      </p:sp>
      <p:sp>
        <p:nvSpPr>
          <p:cNvPr id="10" name="">
            <a:extLst xmlns:a="http://schemas.openxmlformats.org/drawingml/2006/main">
              <a:ext uri="{FF2B5EF4-FFF2-40B4-BE49-F238E27FC236}">
                <a16:creationId xmlns:a16="http://schemas.microsoft.com/office/drawing/2014/main" id="{4AB0A514-A950-4FB0-8E85-D0E60112CDDC}"/>
              </a:ext>
            </a:extLst>
          </p:cNvPr>
          <p:cNvSpPr>
            <a:spLocks xmlns:a="http://schemas.openxmlformats.org/drawingml/2006/main" noGrp="1"/>
          </p:cNvSpPr>
          <p:nvPr/>
        </p:nvSpPr>
        <p:spPr>
          <a:xfrm xmlns:a="http://schemas.openxmlformats.org/drawingml/2006/main">
            <a:off x="6477000" y="161925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007F7B"/>
                </a:solidFill>
                <a:latin typeface="Arial"/>
                <a:ea typeface="Arial"/>
                <a:cs typeface="Arial"/>
              </a:defRPr>
            </a:defPPr>
          </a:lstStyle>
          <a:p xmlns:a="http://schemas.openxmlformats.org/drawingml/2006/main">
            <a:pPr>
              <a:defRPr sz="1725" b="1">
                <a:solidFill>
                  <a:srgbClr val="007F7B"/>
                </a:solidFill>
                <a:latin typeface="Arial"/>
                <a:ea typeface="Arial"/>
                <a:cs typeface="Arial"/>
              </a:defRPr>
            </a:pPr>
            <a:r>
              <a:rPr sz="1725" b="1">
                <a:solidFill>
                  <a:srgbClr val="007F7B"/>
                </a:solidFill>
                <a:latin typeface="Arial"/>
                <a:ea typeface="Arial"/>
                <a:cs typeface="Arial"/>
              </a:rPr>
              <a:t>PHYSICAL COMMUNICATION</a:t>
            </a:r>
          </a:p>
        </p:txBody>
      </p:sp>
      <p:sp>
        <p:nvSpPr>
          <p:cNvPr id="11" name="">
            <a:extLst xmlns:a="http://schemas.openxmlformats.org/drawingml/2006/main">
              <a:ext uri="{FF2B5EF4-FFF2-40B4-BE49-F238E27FC236}">
                <a16:creationId xmlns:a16="http://schemas.microsoft.com/office/drawing/2014/main" id="{85CA221B-340E-4AE1-89D9-6FD29DB5E1E6}"/>
              </a:ext>
            </a:extLst>
          </p:cNvPr>
          <p:cNvSpPr>
            <a:spLocks xmlns:a="http://schemas.openxmlformats.org/drawingml/2006/main" noGrp="1"/>
          </p:cNvSpPr>
          <p:nvPr/>
        </p:nvSpPr>
        <p:spPr>
          <a:xfrm xmlns:a="http://schemas.openxmlformats.org/drawingml/2006/main">
            <a:off x="6191250" y="2238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63B01C8B-750B-4330-A27A-4CE2CF0B80B2}"/>
              </a:ext>
            </a:extLst>
          </p:cNvPr>
          <p:cNvSpPr>
            <a:spLocks xmlns:a="http://schemas.openxmlformats.org/drawingml/2006/main" noGrp="1"/>
          </p:cNvSpPr>
          <p:nvPr/>
        </p:nvSpPr>
        <p:spPr>
          <a:xfrm xmlns:a="http://schemas.openxmlformats.org/drawingml/2006/main">
            <a:off x="6858000" y="2238375"/>
            <a:ext cx="466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12B3C"/>
                </a:solidFill>
                <a:latin typeface="Arial"/>
                <a:ea typeface="Arial"/>
                <a:cs typeface="Arial"/>
              </a:defRPr>
            </a:defPPr>
          </a:lstStyle>
          <a:p xmlns:a="http://schemas.openxmlformats.org/drawingml/2006/main">
            <a:pPr>
              <a:defRPr sz="1875" b="0">
                <a:solidFill>
                  <a:srgbClr val="112B3C"/>
                </a:solidFill>
                <a:latin typeface="Arial"/>
                <a:ea typeface="Arial"/>
                <a:cs typeface="Arial"/>
              </a:defRPr>
            </a:pPr>
            <a:r>
              <a:rPr sz="1875" b="0">
                <a:solidFill>
                  <a:srgbClr val="112B3C"/>
                </a:solidFill>
                <a:latin typeface="Arial"/>
                <a:ea typeface="Arial"/>
                <a:cs typeface="Arial"/>
              </a:rPr>
              <a:t>Position-based undirected edges</a:t>
            </a:r>
          </a:p>
        </p:txBody>
      </p:sp>
      <p:sp>
        <p:nvSpPr>
          <p:cNvPr id="13" name="">
            <a:extLst xmlns:a="http://schemas.openxmlformats.org/drawingml/2006/main">
              <a:ext uri="{FF2B5EF4-FFF2-40B4-BE49-F238E27FC236}">
                <a16:creationId xmlns:a16="http://schemas.microsoft.com/office/drawing/2014/main" id="{239282DE-B9E6-4675-80D1-0209658F876B}"/>
              </a:ext>
            </a:extLst>
          </p:cNvPr>
          <p:cNvSpPr>
            <a:spLocks xmlns:a="http://schemas.openxmlformats.org/drawingml/2006/main" noGrp="1"/>
          </p:cNvSpPr>
          <p:nvPr/>
        </p:nvSpPr>
        <p:spPr>
          <a:xfrm xmlns:a="http://schemas.openxmlformats.org/drawingml/2006/main">
            <a:off x="6191250" y="3048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D87ECF23-FCD6-49DD-BC34-3866E1E68A09}"/>
              </a:ext>
            </a:extLst>
          </p:cNvPr>
          <p:cNvSpPr>
            <a:spLocks xmlns:a="http://schemas.openxmlformats.org/drawingml/2006/main" noGrp="1"/>
          </p:cNvSpPr>
          <p:nvPr/>
        </p:nvSpPr>
        <p:spPr>
          <a:xfrm xmlns:a="http://schemas.openxmlformats.org/drawingml/2006/main">
            <a:off x="6858000" y="3048000"/>
            <a:ext cx="466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12B3C"/>
                </a:solidFill>
                <a:latin typeface="Arial"/>
                <a:ea typeface="Arial"/>
                <a:cs typeface="Arial"/>
              </a:defRPr>
            </a:defPPr>
          </a:lstStyle>
          <a:p xmlns:a="http://schemas.openxmlformats.org/drawingml/2006/main">
            <a:pPr>
              <a:defRPr sz="1875" b="0">
                <a:solidFill>
                  <a:srgbClr val="112B3C"/>
                </a:solidFill>
                <a:latin typeface="Arial"/>
                <a:ea typeface="Arial"/>
                <a:cs typeface="Arial"/>
              </a:defRPr>
            </a:pPr>
            <a:r>
              <a:rPr sz="1875" b="0">
                <a:solidFill>
                  <a:srgbClr val="112B3C"/>
                </a:solidFill>
                <a:latin typeface="Arial"/>
                <a:ea typeface="Arial"/>
                <a:cs typeface="Arial"/>
              </a:rPr>
              <a:t>Optional intercluster bridges</a:t>
            </a:r>
          </a:p>
        </p:txBody>
      </p:sp>
      <p:sp>
        <p:nvSpPr>
          <p:cNvPr id="15" name="">
            <a:extLst xmlns:a="http://schemas.openxmlformats.org/drawingml/2006/main">
              <a:ext uri="{FF2B5EF4-FFF2-40B4-BE49-F238E27FC236}">
                <a16:creationId xmlns:a16="http://schemas.microsoft.com/office/drawing/2014/main" id="{A8E1302F-3CF3-46CE-B954-D7B28742112C}"/>
              </a:ext>
            </a:extLst>
          </p:cNvPr>
          <p:cNvSpPr>
            <a:spLocks xmlns:a="http://schemas.openxmlformats.org/drawingml/2006/main" noGrp="1"/>
          </p:cNvSpPr>
          <p:nvPr/>
        </p:nvSpPr>
        <p:spPr>
          <a:xfrm xmlns:a="http://schemas.openxmlformats.org/drawingml/2006/main">
            <a:off x="6191250" y="38576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1DF28151-5B5E-40A4-9FC9-47EC0C2267FD}"/>
              </a:ext>
            </a:extLst>
          </p:cNvPr>
          <p:cNvSpPr>
            <a:spLocks xmlns:a="http://schemas.openxmlformats.org/drawingml/2006/main" noGrp="1"/>
          </p:cNvSpPr>
          <p:nvPr/>
        </p:nvSpPr>
        <p:spPr>
          <a:xfrm xmlns:a="http://schemas.openxmlformats.org/drawingml/2006/main">
            <a:off x="6858000" y="3857625"/>
            <a:ext cx="466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12B3C"/>
                </a:solidFill>
                <a:latin typeface="Arial"/>
                <a:ea typeface="Arial"/>
                <a:cs typeface="Arial"/>
              </a:defRPr>
            </a:defPPr>
          </a:lstStyle>
          <a:p xmlns:a="http://schemas.openxmlformats.org/drawingml/2006/main">
            <a:pPr>
              <a:defRPr sz="1875" b="0">
                <a:solidFill>
                  <a:srgbClr val="112B3C"/>
                </a:solidFill>
                <a:latin typeface="Arial"/>
                <a:ea typeface="Arial"/>
                <a:cs typeface="Arial"/>
              </a:defRPr>
            </a:pPr>
            <a:r>
              <a:rPr sz="1875" b="0">
                <a:solidFill>
                  <a:srgbClr val="112B3C"/>
                </a:solidFill>
                <a:latin typeface="Arial"/>
                <a:ea typeface="Arial"/>
                <a:cs typeface="Arial"/>
              </a:rPr>
              <a:t>Quality-weighted shortest paths</a:t>
            </a:r>
          </a:p>
        </p:txBody>
      </p:sp>
      <p:sp>
        <p:nvSpPr>
          <p:cNvPr id="17" name="">
            <a:extLst xmlns:a="http://schemas.openxmlformats.org/drawingml/2006/main">
              <a:ext uri="{FF2B5EF4-FFF2-40B4-BE49-F238E27FC236}">
                <a16:creationId xmlns:a16="http://schemas.microsoft.com/office/drawing/2014/main" id="{21267E1D-EEC3-443A-AD34-91ED77D1F81E}"/>
              </a:ext>
            </a:extLst>
          </p:cNvPr>
          <p:cNvSpPr>
            <a:spLocks xmlns:a="http://schemas.openxmlformats.org/drawingml/2006/main" noGrp="1"/>
          </p:cNvSpPr>
          <p:nvPr/>
        </p:nvSpPr>
        <p:spPr>
          <a:xfrm xmlns:a="http://schemas.openxmlformats.org/drawingml/2006/main">
            <a:off x="6191250" y="46672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FF5D7C60-06F8-4213-8E43-10F284AD3CCE}"/>
              </a:ext>
            </a:extLst>
          </p:cNvPr>
          <p:cNvSpPr>
            <a:spLocks xmlns:a="http://schemas.openxmlformats.org/drawingml/2006/main" noGrp="1"/>
          </p:cNvSpPr>
          <p:nvPr/>
        </p:nvSpPr>
        <p:spPr>
          <a:xfrm xmlns:a="http://schemas.openxmlformats.org/drawingml/2006/main">
            <a:off x="6858000" y="4667250"/>
            <a:ext cx="466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12B3C"/>
                </a:solidFill>
                <a:latin typeface="Arial"/>
                <a:ea typeface="Arial"/>
                <a:cs typeface="Arial"/>
              </a:defRPr>
            </a:defPPr>
          </a:lstStyle>
          <a:p xmlns:a="http://schemas.openxmlformats.org/drawingml/2006/main">
            <a:pPr>
              <a:defRPr sz="1875" b="0">
                <a:solidFill>
                  <a:srgbClr val="112B3C"/>
                </a:solidFill>
                <a:latin typeface="Arial"/>
                <a:ea typeface="Arial"/>
                <a:cs typeface="Arial"/>
              </a:defRPr>
            </a:pPr>
            <a:r>
              <a:rPr sz="1875" b="0">
                <a:solidFill>
                  <a:srgbClr val="112B3C"/>
                </a:solidFill>
                <a:latin typeface="Arial"/>
                <a:ea typeface="Arial"/>
                <a:cs typeface="Arial"/>
              </a:rPr>
              <a:t>First online descendant represents a container</a:t>
            </a:r>
          </a:p>
        </p:txBody>
      </p:sp>
      <p:sp>
        <p:nvSpPr>
          <p:cNvPr id="19" name="">
            <a:extLst xmlns:a="http://schemas.openxmlformats.org/drawingml/2006/main">
              <a:ext uri="{FF2B5EF4-FFF2-40B4-BE49-F238E27FC236}">
                <a16:creationId xmlns:a16="http://schemas.microsoft.com/office/drawing/2014/main" id="{07D5C3BC-8F1E-4B51-B3A7-151A4C69718B}"/>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10 / 38</a:t>
            </a:r>
          </a:p>
        </p:txBody>
      </p:sp>
      <p:sp>
        <p:nvSpPr>
          <p:cNvPr id="20" name="">
            <a:extLst xmlns:a="http://schemas.openxmlformats.org/drawingml/2006/main">
              <a:ext uri="{FF2B5EF4-FFF2-40B4-BE49-F238E27FC236}">
                <a16:creationId xmlns:a16="http://schemas.microsoft.com/office/drawing/2014/main" id="{3ED07237-AEC9-40DE-B579-F8B96AB4E544}"/>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simulation/topology.py; simulation/entities.py</a:t>
            </a:r>
          </a:p>
        </p:txBody>
      </p:sp>
    </p:spTree>
    <p:extLst>
      <p:ext uri="{BB962C8B-B14F-4D97-AF65-F5344CB8AC3E}">
        <p14:creationId xmlns:p14="http://schemas.microsoft.com/office/powerpoint/2010/main" val="1872060132"/>
      </p:ext>
    </p:extLst>
  </p:cSld>
</p:sld>
</file>

<file path=ppt/slides/slide1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4B57967A-40A0-4B92-9ACB-AAA701DFF461}"/>
              </a:ext>
            </a:extLst>
          </p:cNvPr>
          <p:cNvCxnSpPr>
            <a:stCxn xmlns:a="http://schemas.openxmlformats.org/drawingml/2006/main" id="4" idx="3"/>
            <a:endCxn xmlns:a="http://schemas.openxmlformats.org/drawingml/2006/main" id="5" idx="1"/>
          </p:cNvCxnSpPr>
          <p:nvPr/>
        </p:nvCxnSpPr>
        <p:spPr>
          <a:xfrm xmlns:a="http://schemas.openxmlformats.org/drawingml/2006/main">
            <a:off x="8639175" y="2571750"/>
            <a:ext cx="3238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7" name="">
            <a:extLst xmlns:a="http://schemas.openxmlformats.org/drawingml/2006/main">
              <a:ext uri="{FF2B5EF4-FFF2-40B4-BE49-F238E27FC236}">
                <a16:creationId xmlns:a16="http://schemas.microsoft.com/office/drawing/2014/main" id="{4A14D247-CB23-4F2F-B062-E59B67149B5E}"/>
              </a:ext>
            </a:extLst>
          </p:cNvPr>
          <p:cNvCxnSpPr>
            <a:stCxn xmlns:a="http://schemas.openxmlformats.org/drawingml/2006/main" id="3" idx="3"/>
            <a:endCxn xmlns:a="http://schemas.openxmlformats.org/drawingml/2006/main" id="4" idx="1"/>
          </p:cNvCxnSpPr>
          <p:nvPr/>
        </p:nvCxnSpPr>
        <p:spPr>
          <a:xfrm xmlns:a="http://schemas.openxmlformats.org/drawingml/2006/main">
            <a:off x="5934075" y="2571750"/>
            <a:ext cx="3238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6" name="">
            <a:extLst xmlns:a="http://schemas.openxmlformats.org/drawingml/2006/main">
              <a:ext uri="{FF2B5EF4-FFF2-40B4-BE49-F238E27FC236}">
                <a16:creationId xmlns:a16="http://schemas.microsoft.com/office/drawing/2014/main" id="{73783461-AD36-47D2-A0C1-EFB61A17967E}"/>
              </a:ext>
            </a:extLst>
          </p:cNvPr>
          <p:cNvCxnSpPr>
            <a:stCxn xmlns:a="http://schemas.openxmlformats.org/drawingml/2006/main" id="2" idx="3"/>
            <a:endCxn xmlns:a="http://schemas.openxmlformats.org/drawingml/2006/main" id="3" idx="1"/>
          </p:cNvCxnSpPr>
          <p:nvPr/>
        </p:nvCxnSpPr>
        <p:spPr>
          <a:xfrm xmlns:a="http://schemas.openxmlformats.org/drawingml/2006/main">
            <a:off x="3228975" y="2571750"/>
            <a:ext cx="323850" cy="0"/>
          </a:xfrm>
          <a:prstGeom xmlns:a="http://schemas.openxmlformats.org/drawingml/2006/main" prst="straightConnector1">
            <a:avLst/>
          </a:prstGeom>
          <a:ln xmlns:a="http://schemas.openxmlformats.org/drawingml/2006/main" w="19050">
            <a:solidFill>
              <a:srgbClr val="526775"/>
            </a:solidFill>
            <a:tailEnd type="triangle" w="med" len="med"/>
          </a:ln>
        </p:spPr>
      </p:cxnSp>
      <p:sp>
        <p:nvSpPr>
          <p:cNvPr id="13" name="">
            <a:extLst xmlns:a="http://schemas.openxmlformats.org/drawingml/2006/main">
              <a:ext uri="{FF2B5EF4-FFF2-40B4-BE49-F238E27FC236}">
                <a16:creationId xmlns:a16="http://schemas.microsoft.com/office/drawing/2014/main" id="{69E67F08-12AE-476B-948E-4C781721A8F3}"/>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Simulation tick workflow</a:t>
            </a:r>
          </a:p>
        </p:txBody>
      </p:sp>
      <p:sp>
        <p:nvSpPr>
          <p:cNvPr id="2" name="">
            <a:extLst xmlns:a="http://schemas.openxmlformats.org/drawingml/2006/main">
              <a:ext uri="{FF2B5EF4-FFF2-40B4-BE49-F238E27FC236}">
                <a16:creationId xmlns:a16="http://schemas.microsoft.com/office/drawing/2014/main" id="{8CEB9AF8-933E-4F84-9BA2-A44853AEB251}"/>
              </a:ext>
            </a:extLst>
          </p:cNvPr>
          <p:cNvSpPr>
            <a:spLocks xmlns:a="http://schemas.openxmlformats.org/drawingml/2006/main" noGrp="1"/>
          </p:cNvSpPr>
          <p:nvPr/>
        </p:nvSpPr>
        <p:spPr>
          <a:xfrm xmlns:a="http://schemas.openxmlformats.org/drawingml/2006/main">
            <a:off x="847725" y="2047875"/>
            <a:ext cx="2381250" cy="10477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Apply events +</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depletion</a:t>
            </a:r>
          </a:p>
        </p:txBody>
      </p:sp>
      <p:sp>
        <p:nvSpPr>
          <p:cNvPr id="3" name="">
            <a:extLst xmlns:a="http://schemas.openxmlformats.org/drawingml/2006/main">
              <a:ext uri="{FF2B5EF4-FFF2-40B4-BE49-F238E27FC236}">
                <a16:creationId xmlns:a16="http://schemas.microsoft.com/office/drawing/2014/main" id="{EFC3757A-1C1A-468E-B970-AE4E0FB52F55}"/>
              </a:ext>
            </a:extLst>
          </p:cNvPr>
          <p:cNvSpPr>
            <a:spLocks xmlns:a="http://schemas.openxmlformats.org/drawingml/2006/main" noGrp="1"/>
          </p:cNvSpPr>
          <p:nvPr/>
        </p:nvSpPr>
        <p:spPr>
          <a:xfrm xmlns:a="http://schemas.openxmlformats.org/drawingml/2006/main">
            <a:off x="3552825" y="2047875"/>
            <a:ext cx="2381250" cy="10477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Refresh scores +</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policy decisions</a:t>
            </a:r>
          </a:p>
        </p:txBody>
      </p:sp>
      <p:sp>
        <p:nvSpPr>
          <p:cNvPr id="4" name="">
            <a:extLst xmlns:a="http://schemas.openxmlformats.org/drawingml/2006/main">
              <a:ext uri="{FF2B5EF4-FFF2-40B4-BE49-F238E27FC236}">
                <a16:creationId xmlns:a16="http://schemas.microsoft.com/office/drawing/2014/main" id="{1C82D75F-8425-443B-9677-502364E929EF}"/>
              </a:ext>
            </a:extLst>
          </p:cNvPr>
          <p:cNvSpPr>
            <a:spLocks xmlns:a="http://schemas.openxmlformats.org/drawingml/2006/main" noGrp="1"/>
          </p:cNvSpPr>
          <p:nvPr/>
        </p:nvSpPr>
        <p:spPr>
          <a:xfrm xmlns:a="http://schemas.openxmlformats.org/drawingml/2006/main">
            <a:off x="6257925" y="2047875"/>
            <a:ext cx="2381250" cy="10477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Harvest +</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route traffic</a:t>
            </a:r>
          </a:p>
        </p:txBody>
      </p:sp>
      <p:sp>
        <p:nvSpPr>
          <p:cNvPr id="5" name="">
            <a:extLst xmlns:a="http://schemas.openxmlformats.org/drawingml/2006/main">
              <a:ext uri="{FF2B5EF4-FFF2-40B4-BE49-F238E27FC236}">
                <a16:creationId xmlns:a16="http://schemas.microsoft.com/office/drawing/2014/main" id="{485D0816-52CD-4A0D-9AF1-BA169442EBB9}"/>
              </a:ext>
            </a:extLst>
          </p:cNvPr>
          <p:cNvSpPr>
            <a:spLocks xmlns:a="http://schemas.openxmlformats.org/drawingml/2006/main" noGrp="1"/>
          </p:cNvSpPr>
          <p:nvPr/>
        </p:nvSpPr>
        <p:spPr>
          <a:xfrm xmlns:a="http://schemas.openxmlformats.org/drawingml/2006/main">
            <a:off x="8963025" y="2047875"/>
            <a:ext cx="2381250" cy="10477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Depletion +</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metrics</a:t>
            </a:r>
          </a:p>
        </p:txBody>
      </p:sp>
      <p:sp>
        <p:nvSpPr>
          <p:cNvPr id="9" name="">
            <a:extLst xmlns:a="http://schemas.openxmlformats.org/drawingml/2006/main">
              <a:ext uri="{FF2B5EF4-FFF2-40B4-BE49-F238E27FC236}">
                <a16:creationId xmlns:a16="http://schemas.microsoft.com/office/drawing/2014/main" id="{E1629005-7512-42AA-A011-7AE1F578AB74}"/>
              </a:ext>
            </a:extLst>
          </p:cNvPr>
          <p:cNvSpPr>
            <a:spLocks xmlns:a="http://schemas.openxmlformats.org/drawingml/2006/main" noGrp="1"/>
          </p:cNvSpPr>
          <p:nvPr/>
        </p:nvSpPr>
        <p:spPr>
          <a:xfrm xmlns:a="http://schemas.openxmlformats.org/drawingml/2006/main">
            <a:off x="819150" y="41910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007F7B"/>
                </a:solidFill>
                <a:latin typeface="Arial"/>
                <a:ea typeface="Arial"/>
                <a:cs typeface="Arial"/>
              </a:defRPr>
            </a:defPPr>
          </a:lstStyle>
          <a:p xmlns:a="http://schemas.openxmlformats.org/drawingml/2006/main">
            <a:pPr>
              <a:defRPr sz="2250" b="1">
                <a:solidFill>
                  <a:srgbClr val="007F7B"/>
                </a:solidFill>
                <a:latin typeface="Arial"/>
                <a:ea typeface="Arial"/>
                <a:cs typeface="Arial"/>
              </a:defRPr>
            </a:pPr>
            <a:r>
              <a:rPr sz="2250" b="1">
                <a:solidFill>
                  <a:srgbClr val="007F7B"/>
                </a:solidFill>
                <a:latin typeface="Arial"/>
                <a:ea typeface="Arial"/>
                <a:cs typeface="Arial"/>
              </a:rPr>
              <a:t>Capabilities refresh again after communication energy changes.</a:t>
            </a:r>
          </a:p>
        </p:txBody>
      </p:sp>
      <p:sp>
        <p:nvSpPr>
          <p:cNvPr id="10" name="">
            <a:extLst xmlns:a="http://schemas.openxmlformats.org/drawingml/2006/main">
              <a:ext uri="{FF2B5EF4-FFF2-40B4-BE49-F238E27FC236}">
                <a16:creationId xmlns:a16="http://schemas.microsoft.com/office/drawing/2014/main" id="{90097487-D22F-4334-8F5E-498D2813B11F}"/>
              </a:ext>
            </a:extLst>
          </p:cNvPr>
          <p:cNvSpPr>
            <a:spLocks xmlns:a="http://schemas.openxmlformats.org/drawingml/2006/main" noGrp="1"/>
          </p:cNvSpPr>
          <p:nvPr/>
        </p:nvSpPr>
        <p:spPr>
          <a:xfrm xmlns:a="http://schemas.openxmlformats.org/drawingml/2006/main">
            <a:off x="819150" y="50482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526775"/>
                </a:solidFill>
                <a:latin typeface="Arial"/>
                <a:ea typeface="Arial"/>
                <a:cs typeface="Arial"/>
              </a:defRPr>
            </a:defPPr>
          </a:lstStyle>
          <a:p xmlns:a="http://schemas.openxmlformats.org/drawingml/2006/main">
            <a:pPr>
              <a:defRPr sz="2100" b="0">
                <a:solidFill>
                  <a:srgbClr val="526775"/>
                </a:solidFill>
                <a:latin typeface="Arial"/>
                <a:ea typeface="Arial"/>
                <a:cs typeface="Arial"/>
              </a:defRPr>
            </a:pPr>
            <a:r>
              <a:rPr sz="2100" b="0">
                <a:solidFill>
                  <a:srgbClr val="526775"/>
                </a:solidFill>
                <a:latin typeface="Arial"/>
                <a:ea typeface="Arial"/>
                <a:cs typeface="Arial"/>
              </a:rPr>
              <a:t>All protocol variants use this same coordinator and event schedule.</a:t>
            </a:r>
          </a:p>
        </p:txBody>
      </p:sp>
      <p:sp>
        <p:nvSpPr>
          <p:cNvPr id="11" name="">
            <a:extLst xmlns:a="http://schemas.openxmlformats.org/drawingml/2006/main">
              <a:ext uri="{FF2B5EF4-FFF2-40B4-BE49-F238E27FC236}">
                <a16:creationId xmlns:a16="http://schemas.microsoft.com/office/drawing/2014/main" id="{486B38B5-CCC7-4C48-B3C1-7FDA6C61F95D}"/>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11 / 38</a:t>
            </a:r>
          </a:p>
        </p:txBody>
      </p:sp>
      <p:sp>
        <p:nvSpPr>
          <p:cNvPr id="12" name="">
            <a:extLst xmlns:a="http://schemas.openxmlformats.org/drawingml/2006/main">
              <a:ext uri="{FF2B5EF4-FFF2-40B4-BE49-F238E27FC236}">
                <a16:creationId xmlns:a16="http://schemas.microsoft.com/office/drawing/2014/main" id="{965FB7D8-41E4-4D0C-8AFE-22129D700C24}"/>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simulation/runner.py: RoleSimulationModel.step</a:t>
            </a:r>
          </a:p>
        </p:txBody>
      </p:sp>
    </p:spTree>
    <p:extLst>
      <p:ext uri="{BB962C8B-B14F-4D97-AF65-F5344CB8AC3E}">
        <p14:creationId xmlns:p14="http://schemas.microsoft.com/office/powerpoint/2010/main" val="272219481"/>
      </p:ext>
    </p:extLst>
  </p:cSld>
</p:sld>
</file>

<file path=ppt/slides/slide1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FF67AF0-9A10-4FBC-BC7D-C154BC4B6A84}"/>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Node capability scoring</a:t>
            </a:r>
          </a:p>
        </p:txBody>
      </p:sp>
      <p:sp>
        <p:nvSpPr>
          <p:cNvPr id="2" name="">
            <a:extLst xmlns:a="http://schemas.openxmlformats.org/drawingml/2006/main">
              <a:ext uri="{FF2B5EF4-FFF2-40B4-BE49-F238E27FC236}">
                <a16:creationId xmlns:a16="http://schemas.microsoft.com/office/drawing/2014/main" id="{14BA030C-F465-4844-9C69-0B52B935E3AA}"/>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A37F99D1-50E7-42BF-8D72-5A0865EB0FCC}"/>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Gateway = 0.40E + 0.35Q + 0.25C</a:t>
            </a:r>
          </a:p>
        </p:txBody>
      </p:sp>
      <p:sp>
        <p:nvSpPr>
          <p:cNvPr id="4" name="">
            <a:extLst xmlns:a="http://schemas.openxmlformats.org/drawingml/2006/main">
              <a:ext uri="{FF2B5EF4-FFF2-40B4-BE49-F238E27FC236}">
                <a16:creationId xmlns:a16="http://schemas.microsoft.com/office/drawing/2014/main" id="{DC8CCB44-FB2A-4649-8686-C501527EB381}"/>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CE345C03-2AFC-409D-8411-101856E223F7}"/>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Anomaly detection = health monitoring = 0.50E + 0.50H</a:t>
            </a:r>
          </a:p>
        </p:txBody>
      </p:sp>
      <p:sp>
        <p:nvSpPr>
          <p:cNvPr id="6" name="">
            <a:extLst xmlns:a="http://schemas.openxmlformats.org/drawingml/2006/main">
              <a:ext uri="{FF2B5EF4-FFF2-40B4-BE49-F238E27FC236}">
                <a16:creationId xmlns:a16="http://schemas.microsoft.com/office/drawing/2014/main" id="{20FE89C6-4E69-4791-B4AD-C7924F59F51C}"/>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DA4C62A0-7A87-4461-9694-146625A80660}"/>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Discoverability = 0.34E + 0.33Q + 0.33H</a:t>
            </a:r>
          </a:p>
        </p:txBody>
      </p:sp>
      <p:sp>
        <p:nvSpPr>
          <p:cNvPr id="8" name="">
            <a:extLst xmlns:a="http://schemas.openxmlformats.org/drawingml/2006/main">
              <a:ext uri="{FF2B5EF4-FFF2-40B4-BE49-F238E27FC236}">
                <a16:creationId xmlns:a16="http://schemas.microsoft.com/office/drawing/2014/main" id="{63B7808D-8127-467E-81B3-B2DA83E65CE0}"/>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8F8201AA-4D89-43ED-949A-5D27500D6F93}"/>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Example: E=.9, H=.8, Q=.7, C=.6 gives gateway .755</a:t>
            </a:r>
          </a:p>
        </p:txBody>
      </p:sp>
      <p:sp>
        <p:nvSpPr>
          <p:cNvPr id="10" name="">
            <a:extLst xmlns:a="http://schemas.openxmlformats.org/drawingml/2006/main">
              <a:ext uri="{FF2B5EF4-FFF2-40B4-BE49-F238E27FC236}">
                <a16:creationId xmlns:a16="http://schemas.microsoft.com/office/drawing/2014/main" id="{244DFC3F-D2B9-4DDD-8059-DD57058A7935}"/>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A789AE20-3BEA-41C8-A265-7DDCD2ED7D34}"/>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Failed nodes contribute zero capability</a:t>
            </a:r>
          </a:p>
        </p:txBody>
      </p:sp>
      <p:sp>
        <p:nvSpPr>
          <p:cNvPr id="12" name="">
            <a:extLst xmlns:a="http://schemas.openxmlformats.org/drawingml/2006/main">
              <a:ext uri="{FF2B5EF4-FFF2-40B4-BE49-F238E27FC236}">
                <a16:creationId xmlns:a16="http://schemas.microsoft.com/office/drawing/2014/main" id="{B9B62994-3E87-49A8-8526-5DEB322B0E54}"/>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12 / 38</a:t>
            </a:r>
          </a:p>
        </p:txBody>
      </p:sp>
      <p:sp>
        <p:nvSpPr>
          <p:cNvPr id="13" name="">
            <a:extLst xmlns:a="http://schemas.openxmlformats.org/drawingml/2006/main">
              <a:ext uri="{FF2B5EF4-FFF2-40B4-BE49-F238E27FC236}">
                <a16:creationId xmlns:a16="http://schemas.microsoft.com/office/drawing/2014/main" id="{224577A9-EED5-4EBE-BCD8-43BB3C764C73}"/>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nodes.py: ROLE_WEIGHTS; NodeAgent.capability</a:t>
            </a:r>
          </a:p>
        </p:txBody>
      </p:sp>
    </p:spTree>
    <p:extLst>
      <p:ext uri="{BB962C8B-B14F-4D97-AF65-F5344CB8AC3E}">
        <p14:creationId xmlns:p14="http://schemas.microsoft.com/office/powerpoint/2010/main" val="467061960"/>
      </p:ext>
    </p:extLst>
  </p:cSld>
</p:sld>
</file>

<file path=ppt/slides/slide1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44040AAD-F7B5-41F7-A581-B7DC32A21951}"/>
              </a:ext>
            </a:extLst>
          </p:cNvPr>
          <p:cNvCxnSpPr>
            <a:stCxn xmlns:a="http://schemas.openxmlformats.org/drawingml/2006/main" id="9" idx="1"/>
            <a:endCxn xmlns:a="http://schemas.openxmlformats.org/drawingml/2006/main" id="3" idx="2"/>
          </p:cNvCxnSpPr>
          <p:nvPr/>
        </p:nvCxnSpPr>
        <p:spPr>
          <a:xfrm xmlns:a="http://schemas.openxmlformats.org/drawingml/2006/main" flipH="1" flipV="1">
            <a:off x="2733675" y="4248150"/>
            <a:ext cx="1190625" cy="1019175"/>
          </a:xfrm>
          <a:prstGeom xmlns:a="http://schemas.openxmlformats.org/drawingml/2006/main" prst="bentConnector2">
            <a:avLst/>
          </a:prstGeom>
          <a:ln xmlns:a="http://schemas.openxmlformats.org/drawingml/2006/main" w="19050">
            <a:solidFill>
              <a:srgbClr val="526775"/>
            </a:solidFill>
            <a:tailEnd type="triangle" w="med" len="med"/>
          </a:ln>
        </p:spPr>
      </p:cxnSp>
      <p:cxnSp>
        <p:nvCxnSpPr>
          <p:cNvPr id="10" name="">
            <a:extLst xmlns:a="http://schemas.openxmlformats.org/drawingml/2006/main">
              <a:ext uri="{FF2B5EF4-FFF2-40B4-BE49-F238E27FC236}">
                <a16:creationId xmlns:a16="http://schemas.microsoft.com/office/drawing/2014/main" id="{C1924BB3-FCBF-43CE-9E38-0D7D8133563C}"/>
              </a:ext>
            </a:extLst>
          </p:cNvPr>
          <p:cNvCxnSpPr>
            <a:stCxn xmlns:a="http://schemas.openxmlformats.org/drawingml/2006/main" id="4" idx="2"/>
            <a:endCxn xmlns:a="http://schemas.openxmlformats.org/drawingml/2006/main" id="9" idx="3"/>
          </p:cNvCxnSpPr>
          <p:nvPr/>
        </p:nvCxnSpPr>
        <p:spPr>
          <a:xfrm xmlns:a="http://schemas.openxmlformats.org/drawingml/2006/main" flipH="1">
            <a:off x="8305800" y="4248150"/>
            <a:ext cx="1095375" cy="1019175"/>
          </a:xfrm>
          <a:prstGeom xmlns:a="http://schemas.openxmlformats.org/drawingml/2006/main" prst="bentConnector5">
            <a:avLst>
              <a:gd name="adj1" fmla="val 0"/>
              <a:gd name="adj2" fmla="val 22430"/>
              <a:gd name="adj3" fmla="val 79130"/>
            </a:avLst>
          </a:prstGeom>
          <a:ln xmlns:a="http://schemas.openxmlformats.org/drawingml/2006/main" w="19050">
            <a:solidFill>
              <a:srgbClr val="526775"/>
            </a:solidFill>
            <a:tailEnd type="triangle" w="med" len="med"/>
          </a:ln>
        </p:spPr>
      </p:cxnSp>
      <p:cxnSp>
        <p:nvCxnSpPr>
          <p:cNvPr id="7" name="">
            <a:extLst xmlns:a="http://schemas.openxmlformats.org/drawingml/2006/main">
              <a:ext uri="{FF2B5EF4-FFF2-40B4-BE49-F238E27FC236}">
                <a16:creationId xmlns:a16="http://schemas.microsoft.com/office/drawing/2014/main" id="{9EB16202-DBA1-4DA7-9218-F066FA68C6B2}"/>
              </a:ext>
            </a:extLst>
          </p:cNvPr>
          <p:cNvCxnSpPr>
            <a:stCxn xmlns:a="http://schemas.openxmlformats.org/drawingml/2006/main" id="3" idx="3"/>
            <a:endCxn xmlns:a="http://schemas.openxmlformats.org/drawingml/2006/main" id="4" idx="1"/>
          </p:cNvCxnSpPr>
          <p:nvPr/>
        </p:nvCxnSpPr>
        <p:spPr>
          <a:xfrm xmlns:a="http://schemas.openxmlformats.org/drawingml/2006/main">
            <a:off x="4781550" y="3743325"/>
            <a:ext cx="25717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5" name="">
            <a:extLst xmlns:a="http://schemas.openxmlformats.org/drawingml/2006/main">
              <a:ext uri="{FF2B5EF4-FFF2-40B4-BE49-F238E27FC236}">
                <a16:creationId xmlns:a16="http://schemas.microsoft.com/office/drawing/2014/main" id="{3C0A95CC-1AF2-4BAB-AC5B-713B3EA290D5}"/>
              </a:ext>
            </a:extLst>
          </p:cNvPr>
          <p:cNvCxnSpPr>
            <a:stCxn xmlns:a="http://schemas.openxmlformats.org/drawingml/2006/main" id="2" idx="2"/>
            <a:endCxn xmlns:a="http://schemas.openxmlformats.org/drawingml/2006/main" id="3" idx="0"/>
          </p:cNvCxnSpPr>
          <p:nvPr/>
        </p:nvCxnSpPr>
        <p:spPr>
          <a:xfrm xmlns:a="http://schemas.openxmlformats.org/drawingml/2006/main">
            <a:off x="2733675" y="2362200"/>
            <a:ext cx="0" cy="876300"/>
          </a:xfrm>
          <a:prstGeom xmlns:a="http://schemas.openxmlformats.org/drawingml/2006/main" prst="straightConnector1">
            <a:avLst/>
          </a:prstGeom>
          <a:ln xmlns:a="http://schemas.openxmlformats.org/drawingml/2006/main" w="19050">
            <a:solidFill>
              <a:srgbClr val="526775"/>
            </a:solidFill>
            <a:tailEnd type="triangle" w="med" len="med"/>
          </a:ln>
        </p:spPr>
      </p:cxnSp>
      <p:sp>
        <p:nvSpPr>
          <p:cNvPr id="15" name="">
            <a:extLst xmlns:a="http://schemas.openxmlformats.org/drawingml/2006/main">
              <a:ext uri="{FF2B5EF4-FFF2-40B4-BE49-F238E27FC236}">
                <a16:creationId xmlns:a16="http://schemas.microsoft.com/office/drawing/2014/main" id="{959A8813-C44E-466A-B9DA-02CEE8A90A7F}"/>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Node lifecycle: online, failure, and recovery</a:t>
            </a:r>
          </a:p>
        </p:txBody>
      </p:sp>
      <p:sp>
        <p:nvSpPr>
          <p:cNvPr id="2" name="">
            <a:extLst xmlns:a="http://schemas.openxmlformats.org/drawingml/2006/main">
              <a:ext uri="{FF2B5EF4-FFF2-40B4-BE49-F238E27FC236}">
                <a16:creationId xmlns:a16="http://schemas.microsoft.com/office/drawing/2014/main" id="{6B4DBDB7-4190-4381-954F-123D96CDDFCB}"/>
              </a:ext>
            </a:extLst>
          </p:cNvPr>
          <p:cNvSpPr>
            <a:spLocks xmlns:a="http://schemas.openxmlformats.org/drawingml/2006/main" noGrp="1"/>
          </p:cNvSpPr>
          <p:nvPr/>
        </p:nvSpPr>
        <p:spPr>
          <a:xfrm xmlns:a="http://schemas.openxmlformats.org/drawingml/2006/main">
            <a:off x="1304925" y="1714500"/>
            <a:ext cx="2857500" cy="6477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Create NodeAgent</a:t>
            </a:r>
          </a:p>
        </p:txBody>
      </p:sp>
      <p:sp>
        <p:nvSpPr>
          <p:cNvPr id="3" name="">
            <a:extLst xmlns:a="http://schemas.openxmlformats.org/drawingml/2006/main">
              <a:ext uri="{FF2B5EF4-FFF2-40B4-BE49-F238E27FC236}">
                <a16:creationId xmlns:a16="http://schemas.microsoft.com/office/drawing/2014/main" id="{F38D6A34-CF19-4A8E-82D9-D8B80A725686}"/>
              </a:ext>
            </a:extLst>
          </p:cNvPr>
          <p:cNvSpPr>
            <a:spLocks xmlns:a="http://schemas.openxmlformats.org/drawingml/2006/main" noGrp="1"/>
          </p:cNvSpPr>
          <p:nvPr/>
        </p:nvSpPr>
        <p:spPr>
          <a:xfrm xmlns:a="http://schemas.openxmlformats.org/drawingml/2006/main">
            <a:off x="685800" y="3238500"/>
            <a:ext cx="4095750" cy="10096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ONLINE</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Available for scoring and traffic</a:t>
            </a:r>
          </a:p>
        </p:txBody>
      </p:sp>
      <p:sp>
        <p:nvSpPr>
          <p:cNvPr id="4" name="">
            <a:extLst xmlns:a="http://schemas.openxmlformats.org/drawingml/2006/main">
              <a:ext uri="{FF2B5EF4-FFF2-40B4-BE49-F238E27FC236}">
                <a16:creationId xmlns:a16="http://schemas.microsoft.com/office/drawing/2014/main" id="{9808C248-79DD-4DFD-ADD5-386F1DC96A3D}"/>
              </a:ext>
            </a:extLst>
          </p:cNvPr>
          <p:cNvSpPr>
            <a:spLocks xmlns:a="http://schemas.openxmlformats.org/drawingml/2006/main" noGrp="1"/>
          </p:cNvSpPr>
          <p:nvPr/>
        </p:nvSpPr>
        <p:spPr>
          <a:xfrm xmlns:a="http://schemas.openxmlformats.org/drawingml/2006/main">
            <a:off x="7353300" y="3238500"/>
            <a:ext cx="4095750" cy="1009650"/>
          </a:xfrm>
          <a:prstGeom xmlns:a="http://schemas.openxmlformats.org/drawingml/2006/main" prst="rect">
            <a:avLst/>
          </a:prstGeom>
          <a:solidFill xmlns:a="http://schemas.openxmlformats.org/drawingml/2006/main">
            <a:srgbClr val="112B3C"/>
          </a:solidFill>
          <a:ln xmlns:a="http://schemas.openxmlformats.org/drawingml/2006/main" w="9525">
            <a:solidFill>
              <a:srgbClr val="112B3C"/>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FAILED</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Unavailable, capability = 0</a:t>
            </a:r>
          </a:p>
        </p:txBody>
      </p:sp>
      <p:sp>
        <p:nvSpPr>
          <p:cNvPr id="6" name="">
            <a:extLst xmlns:a="http://schemas.openxmlformats.org/drawingml/2006/main">
              <a:ext uri="{FF2B5EF4-FFF2-40B4-BE49-F238E27FC236}">
                <a16:creationId xmlns:a16="http://schemas.microsoft.com/office/drawing/2014/main" id="{9F350E61-621B-4007-A5B5-9E56A7B86CBE}"/>
              </a:ext>
            </a:extLst>
          </p:cNvPr>
          <p:cNvSpPr>
            <a:spLocks xmlns:a="http://schemas.openxmlformats.org/drawingml/2006/main" noGrp="1"/>
          </p:cNvSpPr>
          <p:nvPr/>
        </p:nvSpPr>
        <p:spPr>
          <a:xfrm xmlns:a="http://schemas.openxmlformats.org/drawingml/2006/main">
            <a:off x="781050" y="2619375"/>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initial="online"</a:t>
            </a:r>
          </a:p>
        </p:txBody>
      </p:sp>
      <p:sp>
        <p:nvSpPr>
          <p:cNvPr id="8" name="">
            <a:extLst xmlns:a="http://schemas.openxmlformats.org/drawingml/2006/main">
              <a:ext uri="{FF2B5EF4-FFF2-40B4-BE49-F238E27FC236}">
                <a16:creationId xmlns:a16="http://schemas.microsoft.com/office/drawing/2014/main" id="{FC47FA11-5EE9-48B0-A050-2E4D3BFA30AF}"/>
              </a:ext>
            </a:extLst>
          </p:cNvPr>
          <p:cNvSpPr>
            <a:spLocks xmlns:a="http://schemas.openxmlformats.org/drawingml/2006/main" noGrp="1"/>
          </p:cNvSpPr>
          <p:nvPr/>
        </p:nvSpPr>
        <p:spPr>
          <a:xfrm xmlns:a="http://schemas.openxmlformats.org/drawingml/2006/main">
            <a:off x="4857750" y="3000375"/>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fail() / energy reaches zero</a:t>
            </a:r>
          </a:p>
        </p:txBody>
      </p:sp>
      <p:sp>
        <p:nvSpPr>
          <p:cNvPr id="9" name="">
            <a:extLst xmlns:a="http://schemas.openxmlformats.org/drawingml/2006/main">
              <a:ext uri="{FF2B5EF4-FFF2-40B4-BE49-F238E27FC236}">
                <a16:creationId xmlns:a16="http://schemas.microsoft.com/office/drawing/2014/main" id="{9C0CD02E-3F8A-4EDD-832A-4668138B625A}"/>
              </a:ext>
            </a:extLst>
          </p:cNvPr>
          <p:cNvSpPr>
            <a:spLocks xmlns:a="http://schemas.openxmlformats.org/drawingml/2006/main" noGrp="1"/>
          </p:cNvSpPr>
          <p:nvPr/>
        </p:nvSpPr>
        <p:spPr>
          <a:xfrm xmlns:a="http://schemas.openxmlformats.org/drawingml/2006/main">
            <a:off x="3924300" y="4857750"/>
            <a:ext cx="4381500" cy="81915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recover() event</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or depleted-node recharge to reserve</a:t>
            </a:r>
          </a:p>
        </p:txBody>
      </p:sp>
      <p:sp>
        <p:nvSpPr>
          <p:cNvPr id="12" name="">
            <a:extLst xmlns:a="http://schemas.openxmlformats.org/drawingml/2006/main">
              <a:ext uri="{FF2B5EF4-FFF2-40B4-BE49-F238E27FC236}">
                <a16:creationId xmlns:a16="http://schemas.microsoft.com/office/drawing/2014/main" id="{E7C40DDE-FE39-4B0A-A3CA-0BD46CA62537}"/>
              </a:ext>
            </a:extLst>
          </p:cNvPr>
          <p:cNvSpPr>
            <a:spLocks xmlns:a="http://schemas.openxmlformats.org/drawingml/2006/main" noGrp="1"/>
          </p:cNvSpPr>
          <p:nvPr/>
        </p:nvSpPr>
        <p:spPr>
          <a:xfrm xmlns:a="http://schemas.openxmlformats.org/drawingml/2006/main">
            <a:off x="685800" y="59055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775"/>
                </a:solidFill>
                <a:latin typeface="Arial"/>
                <a:ea typeface="Arial"/>
                <a:cs typeface="Arial"/>
              </a:defRPr>
            </a:defPPr>
          </a:lstStyle>
          <a:p xmlns:a="http://schemas.openxmlformats.org/drawingml/2006/main">
            <a:pPr>
              <a:defRPr sz="1800" b="0">
                <a:solidFill>
                  <a:srgbClr val="526775"/>
                </a:solidFill>
                <a:latin typeface="Arial"/>
                <a:ea typeface="Arial"/>
                <a:cs typeface="Arial"/>
              </a:defRPr>
            </a:pPr>
            <a:r>
              <a:rPr sz="1800" b="0">
                <a:solidFill>
                  <a:srgbClr val="526775"/>
                </a:solidFill>
                <a:latin typeface="Arial"/>
                <a:ea typeface="Arial"/>
                <a:cs typeface="Arial"/>
              </a:rPr>
              <a:t>Role ownership is separate. An online node can hold zero, one, or several role leases.</a:t>
            </a:r>
          </a:p>
        </p:txBody>
      </p:sp>
      <p:sp>
        <p:nvSpPr>
          <p:cNvPr id="13" name="">
            <a:extLst xmlns:a="http://schemas.openxmlformats.org/drawingml/2006/main">
              <a:ext uri="{FF2B5EF4-FFF2-40B4-BE49-F238E27FC236}">
                <a16:creationId xmlns:a16="http://schemas.microsoft.com/office/drawing/2014/main" id="{F493A0A9-C9F5-4A97-9EED-DAF1F224CB57}"/>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13 / 38</a:t>
            </a:r>
          </a:p>
        </p:txBody>
      </p:sp>
      <p:sp>
        <p:nvSpPr>
          <p:cNvPr id="14" name="">
            <a:extLst xmlns:a="http://schemas.openxmlformats.org/drawingml/2006/main">
              <a:ext uri="{FF2B5EF4-FFF2-40B4-BE49-F238E27FC236}">
                <a16:creationId xmlns:a16="http://schemas.microsoft.com/office/drawing/2014/main" id="{405C685A-6DA1-4EF9-91E4-A10878D39C17}"/>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nodes.py: NODE_STATES; simulation/runner.py: _fail_energy_empty_nodes; _harvest_solar_energy</a:t>
            </a:r>
          </a:p>
        </p:txBody>
      </p:sp>
    </p:spTree>
    <p:extLst>
      <p:ext uri="{BB962C8B-B14F-4D97-AF65-F5344CB8AC3E}">
        <p14:creationId xmlns:p14="http://schemas.microsoft.com/office/powerpoint/2010/main" val="1498441636"/>
      </p:ext>
    </p:extLst>
  </p:cSld>
</p:sld>
</file>

<file path=ppt/slides/slide1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50385542-9BCB-4F2E-9605-C55CE30C1C55}"/>
              </a:ext>
            </a:extLst>
          </p:cNvPr>
          <p:cNvCxnSpPr>
            <a:stCxn xmlns:a="http://schemas.openxmlformats.org/drawingml/2006/main" id="11" idx="3"/>
            <a:endCxn xmlns:a="http://schemas.openxmlformats.org/drawingml/2006/main" id="13" idx="1"/>
          </p:cNvCxnSpPr>
          <p:nvPr/>
        </p:nvCxnSpPr>
        <p:spPr>
          <a:xfrm xmlns:a="http://schemas.openxmlformats.org/drawingml/2006/main">
            <a:off x="9353550" y="5210175"/>
            <a:ext cx="314325"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12" name="">
            <a:extLst xmlns:a="http://schemas.openxmlformats.org/drawingml/2006/main">
              <a:ext uri="{FF2B5EF4-FFF2-40B4-BE49-F238E27FC236}">
                <a16:creationId xmlns:a16="http://schemas.microsoft.com/office/drawing/2014/main" id="{CE6E6F9F-7D36-47D3-A325-35EE22C9F133}"/>
              </a:ext>
            </a:extLst>
          </p:cNvPr>
          <p:cNvCxnSpPr>
            <a:stCxn xmlns:a="http://schemas.openxmlformats.org/drawingml/2006/main" id="9" idx="2"/>
            <a:endCxn xmlns:a="http://schemas.openxmlformats.org/drawingml/2006/main" id="11" idx="0"/>
          </p:cNvCxnSpPr>
          <p:nvPr/>
        </p:nvCxnSpPr>
        <p:spPr>
          <a:xfrm xmlns:a="http://schemas.openxmlformats.org/drawingml/2006/main">
            <a:off x="8162925" y="4371975"/>
            <a:ext cx="0" cy="485775"/>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10" name="">
            <a:extLst xmlns:a="http://schemas.openxmlformats.org/drawingml/2006/main">
              <a:ext uri="{FF2B5EF4-FFF2-40B4-BE49-F238E27FC236}">
                <a16:creationId xmlns:a16="http://schemas.microsoft.com/office/drawing/2014/main" id="{4DA72DD4-1D19-4C37-A5E7-0A4C1E029AE9}"/>
              </a:ext>
            </a:extLst>
          </p:cNvPr>
          <p:cNvCxnSpPr>
            <a:stCxn xmlns:a="http://schemas.openxmlformats.org/drawingml/2006/main" id="5" idx="3"/>
            <a:endCxn xmlns:a="http://schemas.openxmlformats.org/drawingml/2006/main" id="9" idx="1"/>
          </p:cNvCxnSpPr>
          <p:nvPr/>
        </p:nvCxnSpPr>
        <p:spPr>
          <a:xfrm xmlns:a="http://schemas.openxmlformats.org/drawingml/2006/main">
            <a:off x="5734050" y="3924300"/>
            <a:ext cx="12382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8" name="">
            <a:extLst xmlns:a="http://schemas.openxmlformats.org/drawingml/2006/main">
              <a:ext uri="{FF2B5EF4-FFF2-40B4-BE49-F238E27FC236}">
                <a16:creationId xmlns:a16="http://schemas.microsoft.com/office/drawing/2014/main" id="{F4503750-680A-40A9-B349-14B795A0D0C8}"/>
              </a:ext>
            </a:extLst>
          </p:cNvPr>
          <p:cNvCxnSpPr>
            <a:stCxn xmlns:a="http://schemas.openxmlformats.org/drawingml/2006/main" id="4" idx="2"/>
            <a:endCxn xmlns:a="http://schemas.openxmlformats.org/drawingml/2006/main" id="5" idx="0"/>
          </p:cNvCxnSpPr>
          <p:nvPr/>
        </p:nvCxnSpPr>
        <p:spPr>
          <a:xfrm xmlns:a="http://schemas.openxmlformats.org/drawingml/2006/main" flipH="1">
            <a:off x="3209925" y="2505075"/>
            <a:ext cx="4381500" cy="971550"/>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7" name="">
            <a:extLst xmlns:a="http://schemas.openxmlformats.org/drawingml/2006/main">
              <a:ext uri="{FF2B5EF4-FFF2-40B4-BE49-F238E27FC236}">
                <a16:creationId xmlns:a16="http://schemas.microsoft.com/office/drawing/2014/main" id="{CD4C0E0D-7AF0-4E58-A9CE-E74717FDDD34}"/>
              </a:ext>
            </a:extLst>
          </p:cNvPr>
          <p:cNvCxnSpPr>
            <a:stCxn xmlns:a="http://schemas.openxmlformats.org/drawingml/2006/main" id="3" idx="2"/>
            <a:endCxn xmlns:a="http://schemas.openxmlformats.org/drawingml/2006/main" id="5" idx="0"/>
          </p:cNvCxnSpPr>
          <p:nvPr/>
        </p:nvCxnSpPr>
        <p:spPr>
          <a:xfrm xmlns:a="http://schemas.openxmlformats.org/drawingml/2006/main" flipH="1">
            <a:off x="3209925" y="2505075"/>
            <a:ext cx="1524000" cy="971550"/>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6" name="">
            <a:extLst xmlns:a="http://schemas.openxmlformats.org/drawingml/2006/main">
              <a:ext uri="{FF2B5EF4-FFF2-40B4-BE49-F238E27FC236}">
                <a16:creationId xmlns:a16="http://schemas.microsoft.com/office/drawing/2014/main" id="{24220EB5-1A68-4F24-A638-96624D50C28C}"/>
              </a:ext>
            </a:extLst>
          </p:cNvPr>
          <p:cNvCxnSpPr>
            <a:stCxn xmlns:a="http://schemas.openxmlformats.org/drawingml/2006/main" id="2" idx="2"/>
            <a:endCxn xmlns:a="http://schemas.openxmlformats.org/drawingml/2006/main" id="5" idx="0"/>
          </p:cNvCxnSpPr>
          <p:nvPr/>
        </p:nvCxnSpPr>
        <p:spPr>
          <a:xfrm xmlns:a="http://schemas.openxmlformats.org/drawingml/2006/main">
            <a:off x="1876425" y="2505075"/>
            <a:ext cx="1333500" cy="971550"/>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sp>
        <p:nvSpPr>
          <p:cNvPr id="20" name="">
            <a:extLst xmlns:a="http://schemas.openxmlformats.org/drawingml/2006/main">
              <a:ext uri="{FF2B5EF4-FFF2-40B4-BE49-F238E27FC236}">
                <a16:creationId xmlns:a16="http://schemas.microsoft.com/office/drawing/2014/main" id="{014FA114-1350-4A68-A3EC-D657CDF999AA}"/>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Recursive capability aggregation</a:t>
            </a:r>
          </a:p>
        </p:txBody>
      </p:sp>
      <p:sp>
        <p:nvSpPr>
          <p:cNvPr id="2" name="">
            <a:extLst xmlns:a="http://schemas.openxmlformats.org/drawingml/2006/main">
              <a:ext uri="{FF2B5EF4-FFF2-40B4-BE49-F238E27FC236}">
                <a16:creationId xmlns:a16="http://schemas.microsoft.com/office/drawing/2014/main" id="{51CB0D61-593F-42AF-9EDB-5A16B9B164FD}"/>
              </a:ext>
            </a:extLst>
          </p:cNvPr>
          <p:cNvSpPr>
            <a:spLocks xmlns:a="http://schemas.openxmlformats.org/drawingml/2006/main" noGrp="1"/>
          </p:cNvSpPr>
          <p:nvPr/>
        </p:nvSpPr>
        <p:spPr>
          <a:xfrm xmlns:a="http://schemas.openxmlformats.org/drawingml/2006/main">
            <a:off x="685800" y="1762125"/>
            <a:ext cx="2381250" cy="7429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7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725">
                <a:solidFill>
                  <a:srgbClr val="112B3C"/>
                </a:solidFill>
                <a:latin typeface="Arial"/>
                <a:ea typeface="Arial"/>
                <a:cs typeface="Arial"/>
              </a:rPr>
              <a:t>Node / child A</a:t>
            </a:r>
          </a:p>
          <a:p xmlns:a="http://schemas.openxmlformats.org/drawingml/2006/main">
            <a:pPr algn="ctr">
              <a:defRPr sz="1725">
                <a:solidFill>
                  <a:srgbClr val="112B3C"/>
                </a:solidFill>
                <a:latin typeface="Arial"/>
                <a:ea typeface="Arial"/>
                <a:cs typeface="Arial"/>
              </a:defRPr>
            </a:pPr>
            <a:r>
              <a:rPr sz="1725">
                <a:solidFill>
                  <a:srgbClr val="112B3C"/>
                </a:solidFill>
                <a:latin typeface="Arial"/>
                <a:ea typeface="Arial"/>
                <a:cs typeface="Arial"/>
              </a:rPr>
              <a:t>role vector</a:t>
            </a:r>
          </a:p>
        </p:txBody>
      </p:sp>
      <p:sp>
        <p:nvSpPr>
          <p:cNvPr id="3" name="">
            <a:extLst xmlns:a="http://schemas.openxmlformats.org/drawingml/2006/main">
              <a:ext uri="{FF2B5EF4-FFF2-40B4-BE49-F238E27FC236}">
                <a16:creationId xmlns:a16="http://schemas.microsoft.com/office/drawing/2014/main" id="{83C9E322-3D50-4404-A421-C15285E07E2F}"/>
              </a:ext>
            </a:extLst>
          </p:cNvPr>
          <p:cNvSpPr>
            <a:spLocks xmlns:a="http://schemas.openxmlformats.org/drawingml/2006/main" noGrp="1"/>
          </p:cNvSpPr>
          <p:nvPr/>
        </p:nvSpPr>
        <p:spPr>
          <a:xfrm xmlns:a="http://schemas.openxmlformats.org/drawingml/2006/main">
            <a:off x="3543300" y="1762125"/>
            <a:ext cx="2381250" cy="7429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7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725">
                <a:solidFill>
                  <a:srgbClr val="112B3C"/>
                </a:solidFill>
                <a:latin typeface="Arial"/>
                <a:ea typeface="Arial"/>
                <a:cs typeface="Arial"/>
              </a:rPr>
              <a:t>Node / child B</a:t>
            </a:r>
          </a:p>
          <a:p xmlns:a="http://schemas.openxmlformats.org/drawingml/2006/main">
            <a:pPr algn="ctr">
              <a:defRPr sz="1725">
                <a:solidFill>
                  <a:srgbClr val="112B3C"/>
                </a:solidFill>
                <a:latin typeface="Arial"/>
                <a:ea typeface="Arial"/>
                <a:cs typeface="Arial"/>
              </a:defRPr>
            </a:pPr>
            <a:r>
              <a:rPr sz="1725">
                <a:solidFill>
                  <a:srgbClr val="112B3C"/>
                </a:solidFill>
                <a:latin typeface="Arial"/>
                <a:ea typeface="Arial"/>
                <a:cs typeface="Arial"/>
              </a:rPr>
              <a:t>role vector</a:t>
            </a:r>
          </a:p>
        </p:txBody>
      </p:sp>
      <p:sp>
        <p:nvSpPr>
          <p:cNvPr id="4" name="">
            <a:extLst xmlns:a="http://schemas.openxmlformats.org/drawingml/2006/main">
              <a:ext uri="{FF2B5EF4-FFF2-40B4-BE49-F238E27FC236}">
                <a16:creationId xmlns:a16="http://schemas.microsoft.com/office/drawing/2014/main" id="{2A522C87-DE7A-4682-AEF9-9DF00EF1EBE3}"/>
              </a:ext>
            </a:extLst>
          </p:cNvPr>
          <p:cNvSpPr>
            <a:spLocks xmlns:a="http://schemas.openxmlformats.org/drawingml/2006/main" noGrp="1"/>
          </p:cNvSpPr>
          <p:nvPr/>
        </p:nvSpPr>
        <p:spPr>
          <a:xfrm xmlns:a="http://schemas.openxmlformats.org/drawingml/2006/main">
            <a:off x="6400800" y="1762125"/>
            <a:ext cx="2381250" cy="7429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7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725">
                <a:solidFill>
                  <a:srgbClr val="112B3C"/>
                </a:solidFill>
                <a:latin typeface="Arial"/>
                <a:ea typeface="Arial"/>
                <a:cs typeface="Arial"/>
              </a:rPr>
              <a:t>Other children</a:t>
            </a:r>
          </a:p>
          <a:p xmlns:a="http://schemas.openxmlformats.org/drawingml/2006/main">
            <a:pPr algn="ctr">
              <a:defRPr sz="1725">
                <a:solidFill>
                  <a:srgbClr val="112B3C"/>
                </a:solidFill>
                <a:latin typeface="Arial"/>
                <a:ea typeface="Arial"/>
                <a:cs typeface="Arial"/>
              </a:defRPr>
            </a:pPr>
            <a:r>
              <a:rPr sz="1725">
                <a:solidFill>
                  <a:srgbClr val="112B3C"/>
                </a:solidFill>
                <a:latin typeface="Arial"/>
                <a:ea typeface="Arial"/>
                <a:cs typeface="Arial"/>
              </a:rPr>
              <a:t>role vectors</a:t>
            </a:r>
          </a:p>
        </p:txBody>
      </p:sp>
      <p:sp>
        <p:nvSpPr>
          <p:cNvPr id="5" name="">
            <a:extLst xmlns:a="http://schemas.openxmlformats.org/drawingml/2006/main">
              <a:ext uri="{FF2B5EF4-FFF2-40B4-BE49-F238E27FC236}">
                <a16:creationId xmlns:a16="http://schemas.microsoft.com/office/drawing/2014/main" id="{6B70D62B-4C97-43DE-B22C-1AB4C1F51C9A}"/>
              </a:ext>
            </a:extLst>
          </p:cNvPr>
          <p:cNvSpPr>
            <a:spLocks xmlns:a="http://schemas.openxmlformats.org/drawingml/2006/main" noGrp="1"/>
          </p:cNvSpPr>
          <p:nvPr/>
        </p:nvSpPr>
        <p:spPr>
          <a:xfrm xmlns:a="http://schemas.openxmlformats.org/drawingml/2006/main">
            <a:off x="685800" y="3476625"/>
            <a:ext cx="5048250" cy="8953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Normalized weighted sum</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C(parent, role) = Σ wᵢ Cᵢ / Σ wᵢ</a:t>
            </a:r>
          </a:p>
        </p:txBody>
      </p:sp>
      <p:sp>
        <p:nvSpPr>
          <p:cNvPr id="9" name="">
            <a:extLst xmlns:a="http://schemas.openxmlformats.org/drawingml/2006/main">
              <a:ext uri="{FF2B5EF4-FFF2-40B4-BE49-F238E27FC236}">
                <a16:creationId xmlns:a16="http://schemas.microsoft.com/office/drawing/2014/main" id="{B3DAD087-EA6D-436A-807C-B10C9092D76A}"/>
              </a:ext>
            </a:extLst>
          </p:cNvPr>
          <p:cNvSpPr>
            <a:spLocks xmlns:a="http://schemas.openxmlformats.org/drawingml/2006/main" noGrp="1"/>
          </p:cNvSpPr>
          <p:nvPr/>
        </p:nvSpPr>
        <p:spPr>
          <a:xfrm xmlns:a="http://schemas.openxmlformats.org/drawingml/2006/main">
            <a:off x="6972300" y="3476625"/>
            <a:ext cx="2381250" cy="8953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Subnet vectors</a:t>
            </a:r>
          </a:p>
        </p:txBody>
      </p:sp>
      <p:sp>
        <p:nvSpPr>
          <p:cNvPr id="11" name="">
            <a:extLst xmlns:a="http://schemas.openxmlformats.org/drawingml/2006/main">
              <a:ext uri="{FF2B5EF4-FFF2-40B4-BE49-F238E27FC236}">
                <a16:creationId xmlns:a16="http://schemas.microsoft.com/office/drawing/2014/main" id="{A96FA3E6-5EB3-4C2A-800A-8E983B884E44}"/>
              </a:ext>
            </a:extLst>
          </p:cNvPr>
          <p:cNvSpPr>
            <a:spLocks xmlns:a="http://schemas.openxmlformats.org/drawingml/2006/main" noGrp="1"/>
          </p:cNvSpPr>
          <p:nvPr/>
        </p:nvSpPr>
        <p:spPr>
          <a:xfrm xmlns:a="http://schemas.openxmlformats.org/drawingml/2006/main">
            <a:off x="6972300" y="4857750"/>
            <a:ext cx="2381250" cy="70485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Network vectors</a:t>
            </a:r>
          </a:p>
        </p:txBody>
      </p:sp>
      <p:sp>
        <p:nvSpPr>
          <p:cNvPr id="13" name="">
            <a:extLst xmlns:a="http://schemas.openxmlformats.org/drawingml/2006/main">
              <a:ext uri="{FF2B5EF4-FFF2-40B4-BE49-F238E27FC236}">
                <a16:creationId xmlns:a16="http://schemas.microsoft.com/office/drawing/2014/main" id="{E986BA92-CE38-4AF4-B99E-67B6B2D5A812}"/>
              </a:ext>
            </a:extLst>
          </p:cNvPr>
          <p:cNvSpPr>
            <a:spLocks xmlns:a="http://schemas.openxmlformats.org/drawingml/2006/main" noGrp="1"/>
          </p:cNvSpPr>
          <p:nvPr/>
        </p:nvSpPr>
        <p:spPr>
          <a:xfrm xmlns:a="http://schemas.openxmlformats.org/drawingml/2006/main">
            <a:off x="9667875" y="4857750"/>
            <a:ext cx="1857375" cy="7048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Internetwork vector</a:t>
            </a:r>
          </a:p>
        </p:txBody>
      </p:sp>
      <p:sp>
        <p:nvSpPr>
          <p:cNvPr id="15" name="">
            <a:extLst xmlns:a="http://schemas.openxmlformats.org/drawingml/2006/main">
              <a:ext uri="{FF2B5EF4-FFF2-40B4-BE49-F238E27FC236}">
                <a16:creationId xmlns:a16="http://schemas.microsoft.com/office/drawing/2014/main" id="{E136C487-20AB-41E8-8335-50A6A0B5F68F}"/>
              </a:ext>
            </a:extLst>
          </p:cNvPr>
          <p:cNvSpPr>
            <a:spLocks xmlns:a="http://schemas.openxmlformats.org/drawingml/2006/main" noGrp="1"/>
          </p:cNvSpPr>
          <p:nvPr/>
        </p:nvSpPr>
        <p:spPr>
          <a:xfrm xmlns:a="http://schemas.openxmlformats.org/drawingml/2006/main">
            <a:off x="685800" y="4857750"/>
            <a:ext cx="533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Same aggregation rule at every parent level</a:t>
            </a:r>
          </a:p>
        </p:txBody>
      </p:sp>
      <p:sp>
        <p:nvSpPr>
          <p:cNvPr id="16" name="">
            <a:extLst xmlns:a="http://schemas.openxmlformats.org/drawingml/2006/main">
              <a:ext uri="{FF2B5EF4-FFF2-40B4-BE49-F238E27FC236}">
                <a16:creationId xmlns:a16="http://schemas.microsoft.com/office/drawing/2014/main" id="{84567F7C-7CD9-4430-A2BA-4F06984F45B8}"/>
              </a:ext>
            </a:extLst>
          </p:cNvPr>
          <p:cNvSpPr>
            <a:spLocks xmlns:a="http://schemas.openxmlformats.org/drawingml/2006/main" noGrp="1"/>
          </p:cNvSpPr>
          <p:nvPr/>
        </p:nvSpPr>
        <p:spPr>
          <a:xfrm xmlns:a="http://schemas.openxmlformats.org/drawingml/2006/main">
            <a:off x="685800" y="5381625"/>
            <a:ext cx="571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12B3C"/>
                </a:solidFill>
                <a:latin typeface="Arial"/>
                <a:ea typeface="Arial"/>
                <a:cs typeface="Arial"/>
              </a:defRPr>
            </a:defPPr>
          </a:lstStyle>
          <a:p xmlns:a="http://schemas.openxmlformats.org/drawingml/2006/main">
            <a:pPr>
              <a:defRPr sz="1875" b="0">
                <a:solidFill>
                  <a:srgbClr val="112B3C"/>
                </a:solidFill>
                <a:latin typeface="Arial"/>
                <a:ea typeface="Arial"/>
                <a:cs typeface="Arial"/>
              </a:defRPr>
            </a:pPr>
            <a:r>
              <a:rPr sz="1875" b="0">
                <a:solidFill>
                  <a:srgbClr val="112B3C"/>
                </a:solidFill>
                <a:latin typeface="Arial"/>
                <a:ea typeface="Arial"/>
                <a:cs typeface="Arial"/>
              </a:rPr>
              <a:t>Default weights = 1. Failed children contribute zero.</a:t>
            </a:r>
          </a:p>
        </p:txBody>
      </p:sp>
      <p:sp>
        <p:nvSpPr>
          <p:cNvPr id="17" name="">
            <a:extLst xmlns:a="http://schemas.openxmlformats.org/drawingml/2006/main">
              <a:ext uri="{FF2B5EF4-FFF2-40B4-BE49-F238E27FC236}">
                <a16:creationId xmlns:a16="http://schemas.microsoft.com/office/drawing/2014/main" id="{FD667C0A-437A-477D-BCE9-BBA93E24659B}"/>
              </a:ext>
            </a:extLst>
          </p:cNvPr>
          <p:cNvSpPr>
            <a:spLocks xmlns:a="http://schemas.openxmlformats.org/drawingml/2006/main" noGrp="1"/>
          </p:cNvSpPr>
          <p:nvPr/>
        </p:nvSpPr>
        <p:spPr>
          <a:xfrm xmlns:a="http://schemas.openxmlformats.org/drawingml/2006/main">
            <a:off x="685800" y="59055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775"/>
                </a:solidFill>
                <a:latin typeface="Arial"/>
                <a:ea typeface="Arial"/>
                <a:cs typeface="Arial"/>
              </a:defRPr>
            </a:defPPr>
          </a:lstStyle>
          <a:p xmlns:a="http://schemas.openxmlformats.org/drawingml/2006/main">
            <a:pPr>
              <a:defRPr sz="1800" b="0">
                <a:solidFill>
                  <a:srgbClr val="526775"/>
                </a:solidFill>
                <a:latin typeface="Arial"/>
                <a:ea typeface="Arial"/>
                <a:cs typeface="Arial"/>
              </a:defRPr>
            </a:pPr>
            <a:r>
              <a:rPr sz="1800" b="0">
                <a:solidFill>
                  <a:srgbClr val="526775"/>
                </a:solidFill>
                <a:latin typeface="Arial"/>
                <a:ea typeface="Arial"/>
                <a:cs typeface="Arial"/>
              </a:rPr>
              <a:t>Example: scores .8 and .6 with weights 1 and 3 produce .65.</a:t>
            </a:r>
          </a:p>
        </p:txBody>
      </p:sp>
      <p:sp>
        <p:nvSpPr>
          <p:cNvPr id="18" name="">
            <a:extLst xmlns:a="http://schemas.openxmlformats.org/drawingml/2006/main">
              <a:ext uri="{FF2B5EF4-FFF2-40B4-BE49-F238E27FC236}">
                <a16:creationId xmlns:a16="http://schemas.microsoft.com/office/drawing/2014/main" id="{7A4E7F33-98E3-4258-B9E7-8E9F5126A039}"/>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14 / 38</a:t>
            </a:r>
          </a:p>
        </p:txBody>
      </p:sp>
      <p:sp>
        <p:nvSpPr>
          <p:cNvPr id="19" name="">
            <a:extLst xmlns:a="http://schemas.openxmlformats.org/drawingml/2006/main">
              <a:ext uri="{FF2B5EF4-FFF2-40B4-BE49-F238E27FC236}">
                <a16:creationId xmlns:a16="http://schemas.microsoft.com/office/drawing/2014/main" id="{54DE4C2F-713D-4846-AAEE-C64D4CC97466}"/>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simulation/capability.py: weighted_aggregate; refresh_capabilities</a:t>
            </a:r>
          </a:p>
        </p:txBody>
      </p:sp>
    </p:spTree>
    <p:extLst>
      <p:ext uri="{BB962C8B-B14F-4D97-AF65-F5344CB8AC3E}">
        <p14:creationId xmlns:p14="http://schemas.microsoft.com/office/powerpoint/2010/main" val="104680329"/>
      </p:ext>
    </p:extLst>
  </p:cSld>
</p:sld>
</file>

<file path=ppt/slides/slide1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78107A4E-EEAB-4F60-A8A9-E07AE52C863B}"/>
              </a:ext>
            </a:extLst>
          </p:cNvPr>
          <p:cNvCxnSpPr>
            <a:stCxn xmlns:a="http://schemas.openxmlformats.org/drawingml/2006/main" id="9" idx="1"/>
            <a:endCxn xmlns:a="http://schemas.openxmlformats.org/drawingml/2006/main" id="11" idx="3"/>
          </p:cNvCxnSpPr>
          <p:nvPr/>
        </p:nvCxnSpPr>
        <p:spPr>
          <a:xfrm xmlns:a="http://schemas.openxmlformats.org/drawingml/2006/main" flipH="1">
            <a:off x="3448050" y="4219575"/>
            <a:ext cx="1266825"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10" name="">
            <a:extLst xmlns:a="http://schemas.openxmlformats.org/drawingml/2006/main">
              <a:ext uri="{FF2B5EF4-FFF2-40B4-BE49-F238E27FC236}">
                <a16:creationId xmlns:a16="http://schemas.microsoft.com/office/drawing/2014/main" id="{87709AD0-541D-4099-9DA0-2C1D74463AD0}"/>
              </a:ext>
            </a:extLst>
          </p:cNvPr>
          <p:cNvCxnSpPr>
            <a:stCxn xmlns:a="http://schemas.openxmlformats.org/drawingml/2006/main" id="7" idx="1"/>
            <a:endCxn xmlns:a="http://schemas.openxmlformats.org/drawingml/2006/main" id="9" idx="3"/>
          </p:cNvCxnSpPr>
          <p:nvPr/>
        </p:nvCxnSpPr>
        <p:spPr>
          <a:xfrm xmlns:a="http://schemas.openxmlformats.org/drawingml/2006/main" flipH="1">
            <a:off x="7477125" y="4219575"/>
            <a:ext cx="1266825"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8" name="">
            <a:extLst xmlns:a="http://schemas.openxmlformats.org/drawingml/2006/main">
              <a:ext uri="{FF2B5EF4-FFF2-40B4-BE49-F238E27FC236}">
                <a16:creationId xmlns:a16="http://schemas.microsoft.com/office/drawing/2014/main" id="{746D990C-2AD8-450A-B908-73C0AF10EA7C}"/>
              </a:ext>
            </a:extLst>
          </p:cNvPr>
          <p:cNvCxnSpPr>
            <a:stCxn xmlns:a="http://schemas.openxmlformats.org/drawingml/2006/main" id="4" idx="2"/>
            <a:endCxn xmlns:a="http://schemas.openxmlformats.org/drawingml/2006/main" id="7" idx="0"/>
          </p:cNvCxnSpPr>
          <p:nvPr/>
        </p:nvCxnSpPr>
        <p:spPr>
          <a:xfrm xmlns:a="http://schemas.openxmlformats.org/drawingml/2006/main">
            <a:off x="10125075" y="2676525"/>
            <a:ext cx="0" cy="1133475"/>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6" name="">
            <a:extLst xmlns:a="http://schemas.openxmlformats.org/drawingml/2006/main">
              <a:ext uri="{FF2B5EF4-FFF2-40B4-BE49-F238E27FC236}">
                <a16:creationId xmlns:a16="http://schemas.microsoft.com/office/drawing/2014/main" id="{342A9F38-ACD9-49CA-B0F4-9BD401DCED7E}"/>
              </a:ext>
            </a:extLst>
          </p:cNvPr>
          <p:cNvCxnSpPr>
            <a:stCxn xmlns:a="http://schemas.openxmlformats.org/drawingml/2006/main" id="3" idx="3"/>
            <a:endCxn xmlns:a="http://schemas.openxmlformats.org/drawingml/2006/main" id="4" idx="1"/>
          </p:cNvCxnSpPr>
          <p:nvPr/>
        </p:nvCxnSpPr>
        <p:spPr>
          <a:xfrm xmlns:a="http://schemas.openxmlformats.org/drawingml/2006/main">
            <a:off x="7477125" y="2266950"/>
            <a:ext cx="1266825"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5" name="">
            <a:extLst xmlns:a="http://schemas.openxmlformats.org/drawingml/2006/main">
              <a:ext uri="{FF2B5EF4-FFF2-40B4-BE49-F238E27FC236}">
                <a16:creationId xmlns:a16="http://schemas.microsoft.com/office/drawing/2014/main" id="{C9A63F67-1E60-4C0F-A72D-44D73CA83D06}"/>
              </a:ext>
            </a:extLst>
          </p:cNvPr>
          <p:cNvCxnSpPr>
            <a:stCxn xmlns:a="http://schemas.openxmlformats.org/drawingml/2006/main" id="2" idx="3"/>
            <a:endCxn xmlns:a="http://schemas.openxmlformats.org/drawingml/2006/main" id="3" idx="1"/>
          </p:cNvCxnSpPr>
          <p:nvPr/>
        </p:nvCxnSpPr>
        <p:spPr>
          <a:xfrm xmlns:a="http://schemas.openxmlformats.org/drawingml/2006/main">
            <a:off x="3448050" y="2266950"/>
            <a:ext cx="1266825" cy="0"/>
          </a:xfrm>
          <a:prstGeom xmlns:a="http://schemas.openxmlformats.org/drawingml/2006/main" prst="straightConnector1">
            <a:avLst/>
          </a:prstGeom>
          <a:ln xmlns:a="http://schemas.openxmlformats.org/drawingml/2006/main" w="19050">
            <a:solidFill>
              <a:srgbClr val="526775"/>
            </a:solidFill>
            <a:tailEnd type="triangle" w="med" len="med"/>
          </a:ln>
        </p:spPr>
      </p:cxnSp>
      <p:sp>
        <p:nvSpPr>
          <p:cNvPr id="18" name="">
            <a:extLst xmlns:a="http://schemas.openxmlformats.org/drawingml/2006/main">
              <a:ext uri="{FF2B5EF4-FFF2-40B4-BE49-F238E27FC236}">
                <a16:creationId xmlns:a16="http://schemas.microsoft.com/office/drawing/2014/main" id="{97719FD9-1E73-41CD-96D2-B235EEC29541}"/>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Selection and assignment</a:t>
            </a:r>
          </a:p>
        </p:txBody>
      </p:sp>
      <p:sp>
        <p:nvSpPr>
          <p:cNvPr id="2" name="">
            <a:extLst xmlns:a="http://schemas.openxmlformats.org/drawingml/2006/main">
              <a:ext uri="{FF2B5EF4-FFF2-40B4-BE49-F238E27FC236}">
                <a16:creationId xmlns:a16="http://schemas.microsoft.com/office/drawing/2014/main" id="{B786FAA2-5616-4B40-BC64-997AD6FE377B}"/>
              </a:ext>
            </a:extLst>
          </p:cNvPr>
          <p:cNvSpPr>
            <a:spLocks xmlns:a="http://schemas.openxmlformats.org/drawingml/2006/main" noGrp="1"/>
          </p:cNvSpPr>
          <p:nvPr/>
        </p:nvSpPr>
        <p:spPr>
          <a:xfrm xmlns:a="http://schemas.openxmlformats.org/drawingml/2006/main">
            <a:off x="685800" y="1857375"/>
            <a:ext cx="2762250" cy="8191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Read immediate</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child candidates</a:t>
            </a:r>
          </a:p>
        </p:txBody>
      </p:sp>
      <p:sp>
        <p:nvSpPr>
          <p:cNvPr id="3" name="">
            <a:extLst xmlns:a="http://schemas.openxmlformats.org/drawingml/2006/main">
              <a:ext uri="{FF2B5EF4-FFF2-40B4-BE49-F238E27FC236}">
                <a16:creationId xmlns:a16="http://schemas.microsoft.com/office/drawing/2014/main" id="{93138A55-D0B1-426C-BF65-53A37F26F670}"/>
              </a:ext>
            </a:extLst>
          </p:cNvPr>
          <p:cNvSpPr>
            <a:spLocks xmlns:a="http://schemas.openxmlformats.org/drawingml/2006/main" noGrp="1"/>
          </p:cNvSpPr>
          <p:nvPr/>
        </p:nvSpPr>
        <p:spPr>
          <a:xfrm xmlns:a="http://schemas.openxmlformats.org/drawingml/2006/main">
            <a:off x="4714875" y="1857375"/>
            <a:ext cx="2762250" cy="8191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Filter available</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and reachable</a:t>
            </a:r>
          </a:p>
        </p:txBody>
      </p:sp>
      <p:sp>
        <p:nvSpPr>
          <p:cNvPr id="4" name="">
            <a:extLst xmlns:a="http://schemas.openxmlformats.org/drawingml/2006/main">
              <a:ext uri="{FF2B5EF4-FFF2-40B4-BE49-F238E27FC236}">
                <a16:creationId xmlns:a16="http://schemas.microsoft.com/office/drawing/2014/main" id="{4E175EF5-A9B7-4290-9E30-138FDEE6CCAA}"/>
              </a:ext>
            </a:extLst>
          </p:cNvPr>
          <p:cNvSpPr>
            <a:spLocks xmlns:a="http://schemas.openxmlformats.org/drawingml/2006/main" noGrp="1"/>
          </p:cNvSpPr>
          <p:nvPr/>
        </p:nvSpPr>
        <p:spPr>
          <a:xfrm xmlns:a="http://schemas.openxmlformats.org/drawingml/2006/main">
            <a:off x="8743950" y="1857375"/>
            <a:ext cx="2762250" cy="8191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Rank by known</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role capability</a:t>
            </a:r>
          </a:p>
        </p:txBody>
      </p:sp>
      <p:sp>
        <p:nvSpPr>
          <p:cNvPr id="7" name="">
            <a:extLst xmlns:a="http://schemas.openxmlformats.org/drawingml/2006/main">
              <a:ext uri="{FF2B5EF4-FFF2-40B4-BE49-F238E27FC236}">
                <a16:creationId xmlns:a16="http://schemas.microsoft.com/office/drawing/2014/main" id="{19382650-5652-4DD0-8299-DA624BE6CFEF}"/>
              </a:ext>
            </a:extLst>
          </p:cNvPr>
          <p:cNvSpPr>
            <a:spLocks xmlns:a="http://schemas.openxmlformats.org/drawingml/2006/main" noGrp="1"/>
          </p:cNvSpPr>
          <p:nvPr/>
        </p:nvSpPr>
        <p:spPr>
          <a:xfrm xmlns:a="http://schemas.openxmlformats.org/drawingml/2006/main">
            <a:off x="8743950" y="3810000"/>
            <a:ext cx="2762250" cy="81915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Send LEASE_GRANT</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over physical route</a:t>
            </a:r>
          </a:p>
        </p:txBody>
      </p:sp>
      <p:sp>
        <p:nvSpPr>
          <p:cNvPr id="9" name="">
            <a:extLst xmlns:a="http://schemas.openxmlformats.org/drawingml/2006/main">
              <a:ext uri="{FF2B5EF4-FFF2-40B4-BE49-F238E27FC236}">
                <a16:creationId xmlns:a16="http://schemas.microsoft.com/office/drawing/2014/main" id="{AE078C4C-409D-4F52-A32C-AB077C41C60D}"/>
              </a:ext>
            </a:extLst>
          </p:cNvPr>
          <p:cNvSpPr>
            <a:spLocks xmlns:a="http://schemas.openxmlformats.org/drawingml/2006/main" noGrp="1"/>
          </p:cNvSpPr>
          <p:nvPr/>
        </p:nvSpPr>
        <p:spPr>
          <a:xfrm xmlns:a="http://schemas.openxmlformats.org/drawingml/2006/main">
            <a:off x="4714875" y="3810000"/>
            <a:ext cx="2762250" cy="8191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Grant delivered</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Create + activate lease</a:t>
            </a:r>
          </a:p>
        </p:txBody>
      </p:sp>
      <p:sp>
        <p:nvSpPr>
          <p:cNvPr id="11" name="">
            <a:extLst xmlns:a="http://schemas.openxmlformats.org/drawingml/2006/main">
              <a:ext uri="{FF2B5EF4-FFF2-40B4-BE49-F238E27FC236}">
                <a16:creationId xmlns:a16="http://schemas.microsoft.com/office/drawing/2014/main" id="{FB526565-54A2-4946-A7B1-2A5F51165FB6}"/>
              </a:ext>
            </a:extLst>
          </p:cNvPr>
          <p:cNvSpPr>
            <a:spLocks xmlns:a="http://schemas.openxmlformats.org/drawingml/2006/main" noGrp="1"/>
          </p:cNvSpPr>
          <p:nvPr/>
        </p:nvSpPr>
        <p:spPr>
          <a:xfrm xmlns:a="http://schemas.openxmlformats.org/drawingml/2006/main">
            <a:off x="685800" y="3810000"/>
            <a:ext cx="2762250" cy="8191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One lease per</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(role, scope)</a:t>
            </a:r>
          </a:p>
        </p:txBody>
      </p:sp>
      <p:sp>
        <p:nvSpPr>
          <p:cNvPr id="13" name="">
            <a:extLst xmlns:a="http://schemas.openxmlformats.org/drawingml/2006/main">
              <a:ext uri="{FF2B5EF4-FFF2-40B4-BE49-F238E27FC236}">
                <a16:creationId xmlns:a16="http://schemas.microsoft.com/office/drawing/2014/main" id="{D6B4EC2D-6824-4B79-B272-872C7A25F254}"/>
              </a:ext>
            </a:extLst>
          </p:cNvPr>
          <p:cNvSpPr>
            <a:spLocks xmlns:a="http://schemas.openxmlformats.org/drawingml/2006/main" noGrp="1"/>
          </p:cNvSpPr>
          <p:nvPr/>
        </p:nvSpPr>
        <p:spPr>
          <a:xfrm xmlns:a="http://schemas.openxmlformats.org/drawingml/2006/main">
            <a:off x="685800" y="500062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No candidate or failed grant</a:t>
            </a:r>
          </a:p>
        </p:txBody>
      </p:sp>
      <p:sp>
        <p:nvSpPr>
          <p:cNvPr id="14" name="">
            <a:extLst xmlns:a="http://schemas.openxmlformats.org/drawingml/2006/main">
              <a:ext uri="{FF2B5EF4-FFF2-40B4-BE49-F238E27FC236}">
                <a16:creationId xmlns:a16="http://schemas.microsoft.com/office/drawing/2014/main" id="{451DA35F-A38D-4896-8B8B-82E6B83953BD}"/>
              </a:ext>
            </a:extLst>
          </p:cNvPr>
          <p:cNvSpPr>
            <a:spLocks xmlns:a="http://schemas.openxmlformats.org/drawingml/2006/main" noGrp="1"/>
          </p:cNvSpPr>
          <p:nvPr/>
        </p:nvSpPr>
        <p:spPr>
          <a:xfrm xmlns:a="http://schemas.openxmlformats.org/drawingml/2006/main">
            <a:off x="685800" y="53816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12B3C"/>
                </a:solidFill>
                <a:latin typeface="Arial"/>
                <a:ea typeface="Arial"/>
                <a:cs typeface="Arial"/>
              </a:defRPr>
            </a:defPPr>
          </a:lstStyle>
          <a:p xmlns:a="http://schemas.openxmlformats.org/drawingml/2006/main">
            <a:pPr>
              <a:defRPr sz="1875" b="0">
                <a:solidFill>
                  <a:srgbClr val="112B3C"/>
                </a:solidFill>
                <a:latin typeface="Arial"/>
                <a:ea typeface="Arial"/>
                <a:cs typeface="Arial"/>
              </a:defRPr>
            </a:pPr>
            <a:r>
              <a:rPr sz="1875" b="0">
                <a:solidFill>
                  <a:srgbClr val="112B3C"/>
                </a:solidFill>
                <a:latin typeface="Arial"/>
                <a:ea typeface="Arial"/>
                <a:cs typeface="Arial"/>
              </a:rPr>
              <a:t>Leave the role unassigned and retry on a later policy step.</a:t>
            </a:r>
          </a:p>
        </p:txBody>
      </p:sp>
      <p:sp>
        <p:nvSpPr>
          <p:cNvPr id="15" name="">
            <a:extLst xmlns:a="http://schemas.openxmlformats.org/drawingml/2006/main">
              <a:ext uri="{FF2B5EF4-FFF2-40B4-BE49-F238E27FC236}">
                <a16:creationId xmlns:a16="http://schemas.microsoft.com/office/drawing/2014/main" id="{A215CA61-190B-4684-9F22-182C237C1D8E}"/>
              </a:ext>
            </a:extLst>
          </p:cNvPr>
          <p:cNvSpPr>
            <a:spLocks xmlns:a="http://schemas.openxmlformats.org/drawingml/2006/main" noGrp="1"/>
          </p:cNvSpPr>
          <p:nvPr/>
        </p:nvSpPr>
        <p:spPr>
          <a:xfrm xmlns:a="http://schemas.openxmlformats.org/drawingml/2006/main">
            <a:off x="685800" y="59055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775"/>
                </a:solidFill>
                <a:latin typeface="Arial"/>
                <a:ea typeface="Arial"/>
                <a:cs typeface="Arial"/>
              </a:defRPr>
            </a:defPPr>
          </a:lstStyle>
          <a:p xmlns:a="http://schemas.openxmlformats.org/drawingml/2006/main">
            <a:pPr>
              <a:defRPr sz="1800" b="0">
                <a:solidFill>
                  <a:srgbClr val="526775"/>
                </a:solidFill>
                <a:latin typeface="Arial"/>
                <a:ea typeface="Arial"/>
                <a:cs typeface="Arial"/>
              </a:defRPr>
            </a:pPr>
            <a:r>
              <a:rPr sz="1800" b="0">
                <a:solidFill>
                  <a:srgbClr val="526775"/>
                </a:solidFill>
                <a:latin typeface="Arial"/>
                <a:ea typeface="Arial"/>
                <a:cs typeface="Arial"/>
              </a:rPr>
              <a:t>Repeat independently for gateway, anomaly detection, health monitoring, and discoverability.</a:t>
            </a:r>
          </a:p>
        </p:txBody>
      </p:sp>
      <p:sp>
        <p:nvSpPr>
          <p:cNvPr id="16" name="">
            <a:extLst xmlns:a="http://schemas.openxmlformats.org/drawingml/2006/main">
              <a:ext uri="{FF2B5EF4-FFF2-40B4-BE49-F238E27FC236}">
                <a16:creationId xmlns:a16="http://schemas.microsoft.com/office/drawing/2014/main" id="{493F85A2-7FBF-4846-A4F6-259045210FAA}"/>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15 / 38</a:t>
            </a:r>
          </a:p>
        </p:txBody>
      </p:sp>
      <p:sp>
        <p:nvSpPr>
          <p:cNvPr id="17" name="">
            <a:extLst xmlns:a="http://schemas.openxmlformats.org/drawingml/2006/main">
              <a:ext uri="{FF2B5EF4-FFF2-40B4-BE49-F238E27FC236}">
                <a16:creationId xmlns:a16="http://schemas.microsoft.com/office/drawing/2014/main" id="{63DEB9D1-EA69-4502-BC55-833E0AB8D6F1}"/>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simulation/protocols.py: _select_for_role; _assign</a:t>
            </a:r>
          </a:p>
        </p:txBody>
      </p:sp>
    </p:spTree>
    <p:extLst>
      <p:ext uri="{BB962C8B-B14F-4D97-AF65-F5344CB8AC3E}">
        <p14:creationId xmlns:p14="http://schemas.microsoft.com/office/powerpoint/2010/main" val="1895874139"/>
      </p:ext>
    </p:extLst>
  </p:cSld>
</p:sld>
</file>

<file path=ppt/slides/slide1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8807FB36-2D46-4125-85BC-43640A44F105}"/>
              </a:ext>
            </a:extLst>
          </p:cNvPr>
          <p:cNvCxnSpPr>
            <a:stCxn xmlns:a="http://schemas.openxmlformats.org/drawingml/2006/main" id="14" idx="3"/>
            <a:endCxn xmlns:a="http://schemas.openxmlformats.org/drawingml/2006/main" id="15" idx="1"/>
          </p:cNvCxnSpPr>
          <p:nvPr/>
        </p:nvCxnSpPr>
        <p:spPr>
          <a:xfrm xmlns:a="http://schemas.openxmlformats.org/drawingml/2006/main">
            <a:off x="5448300" y="4295775"/>
            <a:ext cx="15811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25" name="">
            <a:extLst xmlns:a="http://schemas.openxmlformats.org/drawingml/2006/main">
              <a:ext uri="{FF2B5EF4-FFF2-40B4-BE49-F238E27FC236}">
                <a16:creationId xmlns:a16="http://schemas.microsoft.com/office/drawing/2014/main" id="{E7309FBE-5DBD-4A06-9A75-4FA1D1355810}"/>
              </a:ext>
            </a:extLst>
          </p:cNvPr>
          <p:cNvCxnSpPr>
            <a:stCxn xmlns:a="http://schemas.openxmlformats.org/drawingml/2006/main" id="13" idx="2"/>
            <a:endCxn xmlns:a="http://schemas.openxmlformats.org/drawingml/2006/main" id="14" idx="0"/>
          </p:cNvCxnSpPr>
          <p:nvPr/>
        </p:nvCxnSpPr>
        <p:spPr>
          <a:xfrm xmlns:a="http://schemas.openxmlformats.org/drawingml/2006/main" flipH="1">
            <a:off x="3067050" y="3200400"/>
            <a:ext cx="7940993"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24" name="">
            <a:extLst xmlns:a="http://schemas.openxmlformats.org/drawingml/2006/main">
              <a:ext uri="{FF2B5EF4-FFF2-40B4-BE49-F238E27FC236}">
                <a16:creationId xmlns:a16="http://schemas.microsoft.com/office/drawing/2014/main" id="{402ADB2B-5AAE-43BB-A49A-73257B4F5001}"/>
              </a:ext>
            </a:extLst>
          </p:cNvPr>
          <p:cNvCxnSpPr>
            <a:stCxn xmlns:a="http://schemas.openxmlformats.org/drawingml/2006/main" id="12" idx="2"/>
            <a:endCxn xmlns:a="http://schemas.openxmlformats.org/drawingml/2006/main" id="14" idx="0"/>
          </p:cNvCxnSpPr>
          <p:nvPr/>
        </p:nvCxnSpPr>
        <p:spPr>
          <a:xfrm xmlns:a="http://schemas.openxmlformats.org/drawingml/2006/main" flipH="1">
            <a:off x="3067050" y="3200400"/>
            <a:ext cx="6849428"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23" name="">
            <a:extLst xmlns:a="http://schemas.openxmlformats.org/drawingml/2006/main">
              <a:ext uri="{FF2B5EF4-FFF2-40B4-BE49-F238E27FC236}">
                <a16:creationId xmlns:a16="http://schemas.microsoft.com/office/drawing/2014/main" id="{350357E4-7DC1-4DB5-BE34-D211BFF97756}"/>
              </a:ext>
            </a:extLst>
          </p:cNvPr>
          <p:cNvCxnSpPr>
            <a:stCxn xmlns:a="http://schemas.openxmlformats.org/drawingml/2006/main" id="11" idx="2"/>
            <a:endCxn xmlns:a="http://schemas.openxmlformats.org/drawingml/2006/main" id="14" idx="0"/>
          </p:cNvCxnSpPr>
          <p:nvPr/>
        </p:nvCxnSpPr>
        <p:spPr>
          <a:xfrm xmlns:a="http://schemas.openxmlformats.org/drawingml/2006/main" flipH="1">
            <a:off x="3067050" y="3200400"/>
            <a:ext cx="5757863"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22" name="">
            <a:extLst xmlns:a="http://schemas.openxmlformats.org/drawingml/2006/main">
              <a:ext uri="{FF2B5EF4-FFF2-40B4-BE49-F238E27FC236}">
                <a16:creationId xmlns:a16="http://schemas.microsoft.com/office/drawing/2014/main" id="{39A518C0-92FE-4E70-ABF2-98B58C59A028}"/>
              </a:ext>
            </a:extLst>
          </p:cNvPr>
          <p:cNvCxnSpPr>
            <a:stCxn xmlns:a="http://schemas.openxmlformats.org/drawingml/2006/main" id="10" idx="2"/>
            <a:endCxn xmlns:a="http://schemas.openxmlformats.org/drawingml/2006/main" id="14" idx="0"/>
          </p:cNvCxnSpPr>
          <p:nvPr/>
        </p:nvCxnSpPr>
        <p:spPr>
          <a:xfrm xmlns:a="http://schemas.openxmlformats.org/drawingml/2006/main" flipH="1">
            <a:off x="3067050" y="3200400"/>
            <a:ext cx="4666298"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21" name="">
            <a:extLst xmlns:a="http://schemas.openxmlformats.org/drawingml/2006/main">
              <a:ext uri="{FF2B5EF4-FFF2-40B4-BE49-F238E27FC236}">
                <a16:creationId xmlns:a16="http://schemas.microsoft.com/office/drawing/2014/main" id="{8B0BE932-2F07-4D58-BC54-3250AC53E9AA}"/>
              </a:ext>
            </a:extLst>
          </p:cNvPr>
          <p:cNvCxnSpPr>
            <a:stCxn xmlns:a="http://schemas.openxmlformats.org/drawingml/2006/main" id="9" idx="2"/>
            <a:endCxn xmlns:a="http://schemas.openxmlformats.org/drawingml/2006/main" id="14" idx="0"/>
          </p:cNvCxnSpPr>
          <p:nvPr/>
        </p:nvCxnSpPr>
        <p:spPr>
          <a:xfrm xmlns:a="http://schemas.openxmlformats.org/drawingml/2006/main" flipH="1">
            <a:off x="3067050" y="3200400"/>
            <a:ext cx="3574732"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20" name="">
            <a:extLst xmlns:a="http://schemas.openxmlformats.org/drawingml/2006/main">
              <a:ext uri="{FF2B5EF4-FFF2-40B4-BE49-F238E27FC236}">
                <a16:creationId xmlns:a16="http://schemas.microsoft.com/office/drawing/2014/main" id="{06DBF5F9-804B-4E94-8BD8-714FFCC77C04}"/>
              </a:ext>
            </a:extLst>
          </p:cNvPr>
          <p:cNvCxnSpPr>
            <a:stCxn xmlns:a="http://schemas.openxmlformats.org/drawingml/2006/main" id="8" idx="2"/>
            <a:endCxn xmlns:a="http://schemas.openxmlformats.org/drawingml/2006/main" id="14" idx="0"/>
          </p:cNvCxnSpPr>
          <p:nvPr/>
        </p:nvCxnSpPr>
        <p:spPr>
          <a:xfrm xmlns:a="http://schemas.openxmlformats.org/drawingml/2006/main" flipH="1">
            <a:off x="3067050" y="3200400"/>
            <a:ext cx="2483167"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19" name="">
            <a:extLst xmlns:a="http://schemas.openxmlformats.org/drawingml/2006/main">
              <a:ext uri="{FF2B5EF4-FFF2-40B4-BE49-F238E27FC236}">
                <a16:creationId xmlns:a16="http://schemas.microsoft.com/office/drawing/2014/main" id="{3EF38351-14CA-449D-AB45-8793BA73ADD6}"/>
              </a:ext>
            </a:extLst>
          </p:cNvPr>
          <p:cNvCxnSpPr>
            <a:stCxn xmlns:a="http://schemas.openxmlformats.org/drawingml/2006/main" id="7" idx="2"/>
            <a:endCxn xmlns:a="http://schemas.openxmlformats.org/drawingml/2006/main" id="14" idx="0"/>
          </p:cNvCxnSpPr>
          <p:nvPr/>
        </p:nvCxnSpPr>
        <p:spPr>
          <a:xfrm xmlns:a="http://schemas.openxmlformats.org/drawingml/2006/main" flipH="1">
            <a:off x="3067050" y="3200400"/>
            <a:ext cx="1391603"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18" name="">
            <a:extLst xmlns:a="http://schemas.openxmlformats.org/drawingml/2006/main">
              <a:ext uri="{FF2B5EF4-FFF2-40B4-BE49-F238E27FC236}">
                <a16:creationId xmlns:a16="http://schemas.microsoft.com/office/drawing/2014/main" id="{FDDFC804-F494-45FB-B40E-F79E03F713DB}"/>
              </a:ext>
            </a:extLst>
          </p:cNvPr>
          <p:cNvCxnSpPr>
            <a:stCxn xmlns:a="http://schemas.openxmlformats.org/drawingml/2006/main" id="6" idx="2"/>
            <a:endCxn xmlns:a="http://schemas.openxmlformats.org/drawingml/2006/main" id="14" idx="0"/>
          </p:cNvCxnSpPr>
          <p:nvPr/>
        </p:nvCxnSpPr>
        <p:spPr>
          <a:xfrm xmlns:a="http://schemas.openxmlformats.org/drawingml/2006/main" flipH="1">
            <a:off x="3067050" y="3200400"/>
            <a:ext cx="300038"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17" name="">
            <a:extLst xmlns:a="http://schemas.openxmlformats.org/drawingml/2006/main">
              <a:ext uri="{FF2B5EF4-FFF2-40B4-BE49-F238E27FC236}">
                <a16:creationId xmlns:a16="http://schemas.microsoft.com/office/drawing/2014/main" id="{DF165409-9F5F-474B-825B-C52E67DFA42A}"/>
              </a:ext>
            </a:extLst>
          </p:cNvPr>
          <p:cNvCxnSpPr>
            <a:stCxn xmlns:a="http://schemas.openxmlformats.org/drawingml/2006/main" id="5" idx="2"/>
            <a:endCxn xmlns:a="http://schemas.openxmlformats.org/drawingml/2006/main" id="14" idx="0"/>
          </p:cNvCxnSpPr>
          <p:nvPr/>
        </p:nvCxnSpPr>
        <p:spPr>
          <a:xfrm xmlns:a="http://schemas.openxmlformats.org/drawingml/2006/main">
            <a:off x="2275523" y="3200400"/>
            <a:ext cx="791528"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16" name="">
            <a:extLst xmlns:a="http://schemas.openxmlformats.org/drawingml/2006/main">
              <a:ext uri="{FF2B5EF4-FFF2-40B4-BE49-F238E27FC236}">
                <a16:creationId xmlns:a16="http://schemas.microsoft.com/office/drawing/2014/main" id="{C09E4493-5A98-4AC3-AB59-8AF87B66E3A1}"/>
              </a:ext>
            </a:extLst>
          </p:cNvPr>
          <p:cNvCxnSpPr>
            <a:stCxn xmlns:a="http://schemas.openxmlformats.org/drawingml/2006/main" id="4" idx="2"/>
            <a:endCxn xmlns:a="http://schemas.openxmlformats.org/drawingml/2006/main" id="14" idx="0"/>
          </p:cNvCxnSpPr>
          <p:nvPr/>
        </p:nvCxnSpPr>
        <p:spPr>
          <a:xfrm xmlns:a="http://schemas.openxmlformats.org/drawingml/2006/main">
            <a:off x="1183958" y="3200400"/>
            <a:ext cx="1883093"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sp>
        <p:nvSpPr>
          <p:cNvPr id="32" name="">
            <a:extLst xmlns:a="http://schemas.openxmlformats.org/drawingml/2006/main">
              <a:ext uri="{FF2B5EF4-FFF2-40B4-BE49-F238E27FC236}">
                <a16:creationId xmlns:a16="http://schemas.microsoft.com/office/drawing/2014/main" id="{94E221B2-4019-44B1-90E9-53EDE4701741}"/>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Role assignment at the subnet level</a:t>
            </a:r>
          </a:p>
        </p:txBody>
      </p:sp>
      <p:sp>
        <p:nvSpPr>
          <p:cNvPr id="2" name="">
            <a:extLst xmlns:a="http://schemas.openxmlformats.org/drawingml/2006/main">
              <a:ext uri="{FF2B5EF4-FFF2-40B4-BE49-F238E27FC236}">
                <a16:creationId xmlns:a16="http://schemas.microsoft.com/office/drawing/2014/main" id="{68C61EB3-C5B5-4124-A5B6-FCD3F67453AE}"/>
              </a:ext>
            </a:extLst>
          </p:cNvPr>
          <p:cNvSpPr>
            <a:spLocks xmlns:a="http://schemas.openxmlformats.org/drawingml/2006/main" noGrp="1"/>
          </p:cNvSpPr>
          <p:nvPr/>
        </p:nvSpPr>
        <p:spPr>
          <a:xfrm xmlns:a="http://schemas.openxmlformats.org/drawingml/2006/main">
            <a:off x="685800" y="1495425"/>
            <a:ext cx="838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SCOPE: network_0_subnet_0</a:t>
            </a:r>
          </a:p>
        </p:txBody>
      </p:sp>
      <p:sp>
        <p:nvSpPr>
          <p:cNvPr id="3" name="">
            <a:extLst xmlns:a="http://schemas.openxmlformats.org/drawingml/2006/main">
              <a:ext uri="{FF2B5EF4-FFF2-40B4-BE49-F238E27FC236}">
                <a16:creationId xmlns:a16="http://schemas.microsoft.com/office/drawing/2014/main" id="{699B2FEC-87B3-431E-849A-FA623F0DE0BC}"/>
              </a:ext>
            </a:extLst>
          </p:cNvPr>
          <p:cNvSpPr>
            <a:spLocks xmlns:a="http://schemas.openxmlformats.org/drawingml/2006/main" noGrp="1"/>
          </p:cNvSpPr>
          <p:nvPr/>
        </p:nvSpPr>
        <p:spPr>
          <a:xfrm xmlns:a="http://schemas.openxmlformats.org/drawingml/2006/main">
            <a:off x="685800" y="183832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775"/>
                </a:solidFill>
                <a:latin typeface="Arial"/>
                <a:ea typeface="Arial"/>
                <a:cs typeface="Arial"/>
              </a:defRPr>
            </a:defPPr>
          </a:lstStyle>
          <a:p xmlns:a="http://schemas.openxmlformats.org/drawingml/2006/main">
            <a:pPr>
              <a:defRPr sz="1800" b="0">
                <a:solidFill>
                  <a:srgbClr val="526775"/>
                </a:solidFill>
                <a:latin typeface="Arial"/>
                <a:ea typeface="Arial"/>
                <a:cs typeface="Arial"/>
              </a:defRPr>
            </a:pPr>
            <a:r>
              <a:rPr sz="1800" b="0">
                <a:solidFill>
                  <a:srgbClr val="526775"/>
                </a:solidFill>
                <a:latin typeface="Arial"/>
                <a:ea typeface="Arial"/>
                <a:cs typeface="Arial"/>
              </a:rPr>
              <a:t>Seed 42, proposed policy, initial assignments</a:t>
            </a:r>
          </a:p>
        </p:txBody>
      </p:sp>
      <p:sp>
        <p:nvSpPr>
          <p:cNvPr id="4" name="">
            <a:extLst xmlns:a="http://schemas.openxmlformats.org/drawingml/2006/main">
              <a:ext uri="{FF2B5EF4-FFF2-40B4-BE49-F238E27FC236}">
                <a16:creationId xmlns:a16="http://schemas.microsoft.com/office/drawing/2014/main" id="{E47DBF0E-B662-4248-90B5-FD37424FED34}"/>
              </a:ext>
            </a:extLst>
          </p:cNvPr>
          <p:cNvSpPr>
            <a:spLocks xmlns:a="http://schemas.openxmlformats.org/drawingml/2006/main" noGrp="1"/>
          </p:cNvSpPr>
          <p:nvPr/>
        </p:nvSpPr>
        <p:spPr>
          <a:xfrm xmlns:a="http://schemas.openxmlformats.org/drawingml/2006/main">
            <a:off x="685800" y="2381250"/>
            <a:ext cx="996315"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4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Node 0</a:t>
            </a:r>
          </a:p>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0.739898</a:t>
            </a:r>
          </a:p>
        </p:txBody>
      </p:sp>
      <p:sp>
        <p:nvSpPr>
          <p:cNvPr id="5" name="">
            <a:extLst xmlns:a="http://schemas.openxmlformats.org/drawingml/2006/main">
              <a:ext uri="{FF2B5EF4-FFF2-40B4-BE49-F238E27FC236}">
                <a16:creationId xmlns:a16="http://schemas.microsoft.com/office/drawing/2014/main" id="{24F01A09-C921-4D1B-9D08-C0348E0A31A0}"/>
              </a:ext>
            </a:extLst>
          </p:cNvPr>
          <p:cNvSpPr>
            <a:spLocks xmlns:a="http://schemas.openxmlformats.org/drawingml/2006/main" noGrp="1"/>
          </p:cNvSpPr>
          <p:nvPr/>
        </p:nvSpPr>
        <p:spPr>
          <a:xfrm xmlns:a="http://schemas.openxmlformats.org/drawingml/2006/main">
            <a:off x="1777365" y="2381250"/>
            <a:ext cx="996315"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4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Node 1</a:t>
            </a:r>
          </a:p>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0.805483</a:t>
            </a:r>
          </a:p>
        </p:txBody>
      </p:sp>
      <p:sp>
        <p:nvSpPr>
          <p:cNvPr id="6" name="">
            <a:extLst xmlns:a="http://schemas.openxmlformats.org/drawingml/2006/main">
              <a:ext uri="{FF2B5EF4-FFF2-40B4-BE49-F238E27FC236}">
                <a16:creationId xmlns:a16="http://schemas.microsoft.com/office/drawing/2014/main" id="{5E9D808A-013C-487F-A863-88D7F157F54E}"/>
              </a:ext>
            </a:extLst>
          </p:cNvPr>
          <p:cNvSpPr>
            <a:spLocks xmlns:a="http://schemas.openxmlformats.org/drawingml/2006/main" noGrp="1"/>
          </p:cNvSpPr>
          <p:nvPr/>
        </p:nvSpPr>
        <p:spPr>
          <a:xfrm xmlns:a="http://schemas.openxmlformats.org/drawingml/2006/main">
            <a:off x="2868930" y="2381250"/>
            <a:ext cx="996315"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4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Node 2</a:t>
            </a:r>
          </a:p>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0.832320</a:t>
            </a:r>
          </a:p>
        </p:txBody>
      </p:sp>
      <p:sp>
        <p:nvSpPr>
          <p:cNvPr id="7" name="">
            <a:extLst xmlns:a="http://schemas.openxmlformats.org/drawingml/2006/main">
              <a:ext uri="{FF2B5EF4-FFF2-40B4-BE49-F238E27FC236}">
                <a16:creationId xmlns:a16="http://schemas.microsoft.com/office/drawing/2014/main" id="{A0EFAB76-379F-454B-9B04-2136996FAAA5}"/>
              </a:ext>
            </a:extLst>
          </p:cNvPr>
          <p:cNvSpPr>
            <a:spLocks xmlns:a="http://schemas.openxmlformats.org/drawingml/2006/main" noGrp="1"/>
          </p:cNvSpPr>
          <p:nvPr/>
        </p:nvSpPr>
        <p:spPr>
          <a:xfrm xmlns:a="http://schemas.openxmlformats.org/drawingml/2006/main">
            <a:off x="3960495" y="2381250"/>
            <a:ext cx="996315"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4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Node 3</a:t>
            </a:r>
          </a:p>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0.749120</a:t>
            </a:r>
          </a:p>
        </p:txBody>
      </p:sp>
      <p:sp>
        <p:nvSpPr>
          <p:cNvPr id="8" name="">
            <a:extLst xmlns:a="http://schemas.openxmlformats.org/drawingml/2006/main">
              <a:ext uri="{FF2B5EF4-FFF2-40B4-BE49-F238E27FC236}">
                <a16:creationId xmlns:a16="http://schemas.microsoft.com/office/drawing/2014/main" id="{929799F9-EA0D-4F87-B3DD-19C0021512C8}"/>
              </a:ext>
            </a:extLst>
          </p:cNvPr>
          <p:cNvSpPr>
            <a:spLocks xmlns:a="http://schemas.openxmlformats.org/drawingml/2006/main" noGrp="1"/>
          </p:cNvSpPr>
          <p:nvPr/>
        </p:nvSpPr>
        <p:spPr>
          <a:xfrm xmlns:a="http://schemas.openxmlformats.org/drawingml/2006/main">
            <a:off x="5052060" y="2381250"/>
            <a:ext cx="996315" cy="8191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76200" tIns="76200" rIns="76200" bIns="76200" anchor="ctr"/>
          <a:lstStyle xmlns:a="http://schemas.openxmlformats.org/drawingml/2006/main">
            <a:defPPr algn="ctr">
              <a:defRPr sz="1425">
                <a:solidFill>
                  <a:srgbClr val="FFFFFF"/>
                </a:solidFill>
                <a:latin typeface="Arial"/>
                <a:ea typeface="Arial"/>
                <a:cs typeface="Arial"/>
              </a:defRPr>
            </a:defPPr>
          </a:lstStyle>
          <a:p xmlns:a="http://schemas.openxmlformats.org/drawingml/2006/main">
            <a:pPr algn="ctr">
              <a:defRPr sz="1725">
                <a:solidFill>
                  <a:srgbClr val="FFFFFF"/>
                </a:solidFill>
                <a:latin typeface="Arial"/>
                <a:ea typeface="Arial"/>
                <a:cs typeface="Arial"/>
              </a:defRPr>
            </a:pPr>
            <a:r>
              <a:rPr sz="1425">
                <a:solidFill>
                  <a:srgbClr val="FFFFFF"/>
                </a:solidFill>
                <a:latin typeface="Arial"/>
                <a:ea typeface="Arial"/>
                <a:cs typeface="Arial"/>
              </a:rPr>
              <a:t>Node 4</a:t>
            </a:r>
          </a:p>
          <a:p xmlns:a="http://schemas.openxmlformats.org/drawingml/2006/main">
            <a:pPr algn="ctr">
              <a:defRPr sz="1725">
                <a:solidFill>
                  <a:srgbClr val="FFFFFF"/>
                </a:solidFill>
                <a:latin typeface="Arial"/>
                <a:ea typeface="Arial"/>
                <a:cs typeface="Arial"/>
              </a:defRPr>
            </a:pPr>
            <a:r>
              <a:rPr sz="1425">
                <a:solidFill>
                  <a:srgbClr val="FFFFFF"/>
                </a:solidFill>
                <a:latin typeface="Arial"/>
                <a:ea typeface="Arial"/>
                <a:cs typeface="Arial"/>
              </a:rPr>
              <a:t>0.852662</a:t>
            </a:r>
          </a:p>
        </p:txBody>
      </p:sp>
      <p:sp>
        <p:nvSpPr>
          <p:cNvPr id="9" name="">
            <a:extLst xmlns:a="http://schemas.openxmlformats.org/drawingml/2006/main">
              <a:ext uri="{FF2B5EF4-FFF2-40B4-BE49-F238E27FC236}">
                <a16:creationId xmlns:a16="http://schemas.microsoft.com/office/drawing/2014/main" id="{A6C07955-791E-4E55-A557-B0C8D1C338B7}"/>
              </a:ext>
            </a:extLst>
          </p:cNvPr>
          <p:cNvSpPr>
            <a:spLocks xmlns:a="http://schemas.openxmlformats.org/drawingml/2006/main" noGrp="1"/>
          </p:cNvSpPr>
          <p:nvPr/>
        </p:nvSpPr>
        <p:spPr>
          <a:xfrm xmlns:a="http://schemas.openxmlformats.org/drawingml/2006/main">
            <a:off x="6143625" y="2381250"/>
            <a:ext cx="996315"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4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Node 5</a:t>
            </a:r>
          </a:p>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0.751647</a:t>
            </a:r>
          </a:p>
        </p:txBody>
      </p:sp>
      <p:sp>
        <p:nvSpPr>
          <p:cNvPr id="10" name="">
            <a:extLst xmlns:a="http://schemas.openxmlformats.org/drawingml/2006/main">
              <a:ext uri="{FF2B5EF4-FFF2-40B4-BE49-F238E27FC236}">
                <a16:creationId xmlns:a16="http://schemas.microsoft.com/office/drawing/2014/main" id="{5EEE2B54-66DB-4FD5-8554-89FE5244DB51}"/>
              </a:ext>
            </a:extLst>
          </p:cNvPr>
          <p:cNvSpPr>
            <a:spLocks xmlns:a="http://schemas.openxmlformats.org/drawingml/2006/main" noGrp="1"/>
          </p:cNvSpPr>
          <p:nvPr/>
        </p:nvSpPr>
        <p:spPr>
          <a:xfrm xmlns:a="http://schemas.openxmlformats.org/drawingml/2006/main">
            <a:off x="7235190" y="2381250"/>
            <a:ext cx="996315"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4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Node 6</a:t>
            </a:r>
          </a:p>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0.802835</a:t>
            </a:r>
          </a:p>
        </p:txBody>
      </p:sp>
      <p:sp>
        <p:nvSpPr>
          <p:cNvPr id="11" name="">
            <a:extLst xmlns:a="http://schemas.openxmlformats.org/drawingml/2006/main">
              <a:ext uri="{FF2B5EF4-FFF2-40B4-BE49-F238E27FC236}">
                <a16:creationId xmlns:a16="http://schemas.microsoft.com/office/drawing/2014/main" id="{CC2D862A-DE83-4C49-9C26-0328FC031CE5}"/>
              </a:ext>
            </a:extLst>
          </p:cNvPr>
          <p:cNvSpPr>
            <a:spLocks xmlns:a="http://schemas.openxmlformats.org/drawingml/2006/main" noGrp="1"/>
          </p:cNvSpPr>
          <p:nvPr/>
        </p:nvSpPr>
        <p:spPr>
          <a:xfrm xmlns:a="http://schemas.openxmlformats.org/drawingml/2006/main">
            <a:off x="8326755" y="2381250"/>
            <a:ext cx="996315"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4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Node 7</a:t>
            </a:r>
          </a:p>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0.793679</a:t>
            </a:r>
          </a:p>
        </p:txBody>
      </p:sp>
      <p:sp>
        <p:nvSpPr>
          <p:cNvPr id="12" name="">
            <a:extLst xmlns:a="http://schemas.openxmlformats.org/drawingml/2006/main">
              <a:ext uri="{FF2B5EF4-FFF2-40B4-BE49-F238E27FC236}">
                <a16:creationId xmlns:a16="http://schemas.microsoft.com/office/drawing/2014/main" id="{FB828EE1-99E2-4525-B876-9AD85184CE61}"/>
              </a:ext>
            </a:extLst>
          </p:cNvPr>
          <p:cNvSpPr>
            <a:spLocks xmlns:a="http://schemas.openxmlformats.org/drawingml/2006/main" noGrp="1"/>
          </p:cNvSpPr>
          <p:nvPr/>
        </p:nvSpPr>
        <p:spPr>
          <a:xfrm xmlns:a="http://schemas.openxmlformats.org/drawingml/2006/main">
            <a:off x="9418320" y="2381250"/>
            <a:ext cx="996315"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4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Node 8</a:t>
            </a:r>
          </a:p>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0.830349</a:t>
            </a:r>
          </a:p>
        </p:txBody>
      </p:sp>
      <p:sp>
        <p:nvSpPr>
          <p:cNvPr id="13" name="">
            <a:extLst xmlns:a="http://schemas.openxmlformats.org/drawingml/2006/main">
              <a:ext uri="{FF2B5EF4-FFF2-40B4-BE49-F238E27FC236}">
                <a16:creationId xmlns:a16="http://schemas.microsoft.com/office/drawing/2014/main" id="{B041CAE5-1D07-4C97-A174-9F76223C59C1}"/>
              </a:ext>
            </a:extLst>
          </p:cNvPr>
          <p:cNvSpPr>
            <a:spLocks xmlns:a="http://schemas.openxmlformats.org/drawingml/2006/main" noGrp="1"/>
          </p:cNvSpPr>
          <p:nvPr/>
        </p:nvSpPr>
        <p:spPr>
          <a:xfrm xmlns:a="http://schemas.openxmlformats.org/drawingml/2006/main">
            <a:off x="10509885" y="2381250"/>
            <a:ext cx="996315"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4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Node 9</a:t>
            </a:r>
          </a:p>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0.686894</a:t>
            </a:r>
          </a:p>
        </p:txBody>
      </p:sp>
      <p:sp>
        <p:nvSpPr>
          <p:cNvPr id="14" name="">
            <a:extLst xmlns:a="http://schemas.openxmlformats.org/drawingml/2006/main">
              <a:ext uri="{FF2B5EF4-FFF2-40B4-BE49-F238E27FC236}">
                <a16:creationId xmlns:a16="http://schemas.microsoft.com/office/drawing/2014/main" id="{191EA24B-0294-4BE7-B640-8FBA1E4D7ECA}"/>
              </a:ext>
            </a:extLst>
          </p:cNvPr>
          <p:cNvSpPr>
            <a:spLocks xmlns:a="http://schemas.openxmlformats.org/drawingml/2006/main" noGrp="1"/>
          </p:cNvSpPr>
          <p:nvPr/>
        </p:nvSpPr>
        <p:spPr>
          <a:xfrm xmlns:a="http://schemas.openxmlformats.org/drawingml/2006/main">
            <a:off x="685800" y="3857625"/>
            <a:ext cx="4762500" cy="8763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Available + reachable candidates</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Maximum gateway capability</a:t>
            </a:r>
          </a:p>
        </p:txBody>
      </p:sp>
      <p:sp>
        <p:nvSpPr>
          <p:cNvPr id="15" name="">
            <a:extLst xmlns:a="http://schemas.openxmlformats.org/drawingml/2006/main">
              <a:ext uri="{FF2B5EF4-FFF2-40B4-BE49-F238E27FC236}">
                <a16:creationId xmlns:a16="http://schemas.microsoft.com/office/drawing/2014/main" id="{53483E72-56AD-42CD-8CEE-80376F4BAD76}"/>
              </a:ext>
            </a:extLst>
          </p:cNvPr>
          <p:cNvSpPr>
            <a:spLocks xmlns:a="http://schemas.openxmlformats.org/drawingml/2006/main" noGrp="1"/>
          </p:cNvSpPr>
          <p:nvPr/>
        </p:nvSpPr>
        <p:spPr>
          <a:xfrm xmlns:a="http://schemas.openxmlformats.org/drawingml/2006/main">
            <a:off x="7029450" y="3857625"/>
            <a:ext cx="4476750" cy="87630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GATEWAY LEASE</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Holder: Node 4</a:t>
            </a:r>
          </a:p>
        </p:txBody>
      </p:sp>
      <p:sp>
        <p:nvSpPr>
          <p:cNvPr id="27" name="">
            <a:extLst xmlns:a="http://schemas.openxmlformats.org/drawingml/2006/main">
              <a:ext uri="{FF2B5EF4-FFF2-40B4-BE49-F238E27FC236}">
                <a16:creationId xmlns:a16="http://schemas.microsoft.com/office/drawing/2014/main" id="{FFF6C0A3-3AAA-44B7-8317-8A10E9007B42}"/>
              </a:ext>
            </a:extLst>
          </p:cNvPr>
          <p:cNvSpPr>
            <a:spLocks xmlns:a="http://schemas.openxmlformats.org/drawingml/2006/main" noGrp="1"/>
          </p:cNvSpPr>
          <p:nvPr/>
        </p:nvSpPr>
        <p:spPr>
          <a:xfrm xmlns:a="http://schemas.openxmlformats.org/drawingml/2006/main">
            <a:off x="685800" y="5048250"/>
            <a:ext cx="5143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12B3C"/>
                </a:solidFill>
                <a:latin typeface="Arial"/>
                <a:ea typeface="Arial"/>
                <a:cs typeface="Arial"/>
              </a:defRPr>
            </a:defPPr>
          </a:lstStyle>
          <a:p xmlns:a="http://schemas.openxmlformats.org/drawingml/2006/main">
            <a:pPr>
              <a:defRPr sz="1950" b="1">
                <a:solidFill>
                  <a:srgbClr val="112B3C"/>
                </a:solidFill>
                <a:latin typeface="Arial"/>
                <a:ea typeface="Arial"/>
                <a:cs typeface="Arial"/>
              </a:defRPr>
            </a:pPr>
            <a:r>
              <a:rPr sz="1950" b="1">
                <a:solidFill>
                  <a:srgbClr val="112B3C"/>
                </a:solidFill>
                <a:latin typeface="Arial"/>
                <a:ea typeface="Arial"/>
                <a:cs typeface="Arial"/>
              </a:rPr>
              <a:t>Control source: node 0</a:t>
            </a:r>
          </a:p>
        </p:txBody>
      </p:sp>
      <p:sp>
        <p:nvSpPr>
          <p:cNvPr id="28" name="">
            <a:extLst xmlns:a="http://schemas.openxmlformats.org/drawingml/2006/main">
              <a:ext uri="{FF2B5EF4-FFF2-40B4-BE49-F238E27FC236}">
                <a16:creationId xmlns:a16="http://schemas.microsoft.com/office/drawing/2014/main" id="{375D7E6C-E017-4384-86CE-B6A7BE803284}"/>
              </a:ext>
            </a:extLst>
          </p:cNvPr>
          <p:cNvSpPr>
            <a:spLocks xmlns:a="http://schemas.openxmlformats.org/drawingml/2006/main" noGrp="1"/>
          </p:cNvSpPr>
          <p:nvPr/>
        </p:nvSpPr>
        <p:spPr>
          <a:xfrm xmlns:a="http://schemas.openxmlformats.org/drawingml/2006/main">
            <a:off x="7029450" y="504825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112B3C"/>
                </a:solidFill>
                <a:latin typeface="Arial"/>
                <a:ea typeface="Arial"/>
                <a:cs typeface="Arial"/>
              </a:defRPr>
            </a:defPPr>
          </a:lstStyle>
          <a:p xmlns:a="http://schemas.openxmlformats.org/drawingml/2006/main">
            <a:pPr>
              <a:defRPr sz="1875" b="1">
                <a:solidFill>
                  <a:srgbClr val="112B3C"/>
                </a:solidFill>
                <a:latin typeface="Arial"/>
                <a:ea typeface="Arial"/>
                <a:cs typeface="Arial"/>
              </a:defRPr>
            </a:pPr>
            <a:r>
              <a:rPr sz="1875" b="1">
                <a:solidFill>
                  <a:srgbClr val="112B3C"/>
                </a:solidFill>
                <a:latin typeface="Arial"/>
                <a:ea typeface="Arial"/>
                <a:cs typeface="Arial"/>
              </a:rPr>
              <a:t>Physical representative: node 4</a:t>
            </a:r>
          </a:p>
        </p:txBody>
      </p:sp>
      <p:sp>
        <p:nvSpPr>
          <p:cNvPr id="29" name="">
            <a:extLst xmlns:a="http://schemas.openxmlformats.org/drawingml/2006/main">
              <a:ext uri="{FF2B5EF4-FFF2-40B4-BE49-F238E27FC236}">
                <a16:creationId xmlns:a16="http://schemas.microsoft.com/office/drawing/2014/main" id="{D59368FC-86CA-47F3-812E-EE240A6A2430}"/>
              </a:ext>
            </a:extLst>
          </p:cNvPr>
          <p:cNvSpPr>
            <a:spLocks xmlns:a="http://schemas.openxmlformats.org/drawingml/2006/main" noGrp="1"/>
          </p:cNvSpPr>
          <p:nvPr/>
        </p:nvSpPr>
        <p:spPr>
          <a:xfrm xmlns:a="http://schemas.openxmlformats.org/drawingml/2006/main">
            <a:off x="685800" y="57626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775"/>
                </a:solidFill>
                <a:latin typeface="Arial"/>
                <a:ea typeface="Arial"/>
                <a:cs typeface="Arial"/>
              </a:defRPr>
            </a:defPPr>
          </a:lstStyle>
          <a:p xmlns:a="http://schemas.openxmlformats.org/drawingml/2006/main">
            <a:pPr>
              <a:defRPr sz="1800" b="0">
                <a:solidFill>
                  <a:srgbClr val="526775"/>
                </a:solidFill>
                <a:latin typeface="Arial"/>
                <a:ea typeface="Arial"/>
                <a:cs typeface="Arial"/>
              </a:defRPr>
            </a:pPr>
            <a:r>
              <a:rPr sz="1800" b="0">
                <a:solidFill>
                  <a:srgbClr val="526775"/>
                </a:solidFill>
                <a:latin typeface="Arial"/>
                <a:ea typeface="Arial"/>
                <a:cs typeface="Arial"/>
              </a:rPr>
              <a:t>anomaly detection: Node 4   /   health monitoring: Node 4   /   discoverability: Node 4</a:t>
            </a:r>
          </a:p>
        </p:txBody>
      </p:sp>
      <p:sp>
        <p:nvSpPr>
          <p:cNvPr id="30" name="">
            <a:extLst xmlns:a="http://schemas.openxmlformats.org/drawingml/2006/main">
              <a:ext uri="{FF2B5EF4-FFF2-40B4-BE49-F238E27FC236}">
                <a16:creationId xmlns:a16="http://schemas.microsoft.com/office/drawing/2014/main" id="{17219C50-E12F-406B-980A-76970CE17070}"/>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16 / 38</a:t>
            </a:r>
          </a:p>
        </p:txBody>
      </p:sp>
      <p:sp>
        <p:nvSpPr>
          <p:cNvPr id="31" name="">
            <a:extLst xmlns:a="http://schemas.openxmlformats.org/drawingml/2006/main">
              <a:ext uri="{FF2B5EF4-FFF2-40B4-BE49-F238E27FC236}">
                <a16:creationId xmlns:a16="http://schemas.microsoft.com/office/drawing/2014/main" id="{35D3A018-DD7F-4B06-9EDA-BF54A95F5323}"/>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simulation/entities.py: scope_candidates; simulation/protocols.py: _select_for_role; _assign</a:t>
            </a:r>
          </a:p>
        </p:txBody>
      </p:sp>
    </p:spTree>
    <p:extLst>
      <p:ext uri="{BB962C8B-B14F-4D97-AF65-F5344CB8AC3E}">
        <p14:creationId xmlns:p14="http://schemas.microsoft.com/office/powerpoint/2010/main" val="1331061561"/>
      </p:ext>
    </p:extLst>
  </p:cSld>
</p:sld>
</file>

<file path=ppt/slides/slide1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565AE6DB-BF3D-4439-9299-6D97877D6233}"/>
              </a:ext>
            </a:extLst>
          </p:cNvPr>
          <p:cNvCxnSpPr>
            <a:stCxn xmlns:a="http://schemas.openxmlformats.org/drawingml/2006/main" id="8" idx="3"/>
            <a:endCxn xmlns:a="http://schemas.openxmlformats.org/drawingml/2006/main" id="9" idx="1"/>
          </p:cNvCxnSpPr>
          <p:nvPr/>
        </p:nvCxnSpPr>
        <p:spPr>
          <a:xfrm xmlns:a="http://schemas.openxmlformats.org/drawingml/2006/main">
            <a:off x="5448300" y="4295775"/>
            <a:ext cx="15811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13" name="">
            <a:extLst xmlns:a="http://schemas.openxmlformats.org/drawingml/2006/main">
              <a:ext uri="{FF2B5EF4-FFF2-40B4-BE49-F238E27FC236}">
                <a16:creationId xmlns:a16="http://schemas.microsoft.com/office/drawing/2014/main" id="{B8FCA6D6-F033-43E3-842B-6EA608B17AFF}"/>
              </a:ext>
            </a:extLst>
          </p:cNvPr>
          <p:cNvCxnSpPr>
            <a:stCxn xmlns:a="http://schemas.openxmlformats.org/drawingml/2006/main" id="7" idx="2"/>
            <a:endCxn xmlns:a="http://schemas.openxmlformats.org/drawingml/2006/main" id="8" idx="0"/>
          </p:cNvCxnSpPr>
          <p:nvPr/>
        </p:nvCxnSpPr>
        <p:spPr>
          <a:xfrm xmlns:a="http://schemas.openxmlformats.org/drawingml/2006/main" flipH="1">
            <a:off x="3067050" y="3200400"/>
            <a:ext cx="7179470"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12" name="">
            <a:extLst xmlns:a="http://schemas.openxmlformats.org/drawingml/2006/main">
              <a:ext uri="{FF2B5EF4-FFF2-40B4-BE49-F238E27FC236}">
                <a16:creationId xmlns:a16="http://schemas.microsoft.com/office/drawing/2014/main" id="{0A466256-9585-4BF3-BCC8-93723B8B99DE}"/>
              </a:ext>
            </a:extLst>
          </p:cNvPr>
          <p:cNvCxnSpPr>
            <a:stCxn xmlns:a="http://schemas.openxmlformats.org/drawingml/2006/main" id="6" idx="2"/>
            <a:endCxn xmlns:a="http://schemas.openxmlformats.org/drawingml/2006/main" id="8" idx="0"/>
          </p:cNvCxnSpPr>
          <p:nvPr/>
        </p:nvCxnSpPr>
        <p:spPr>
          <a:xfrm xmlns:a="http://schemas.openxmlformats.org/drawingml/2006/main" flipH="1">
            <a:off x="3067050" y="3200400"/>
            <a:ext cx="4412457"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11" name="">
            <a:extLst xmlns:a="http://schemas.openxmlformats.org/drawingml/2006/main">
              <a:ext uri="{FF2B5EF4-FFF2-40B4-BE49-F238E27FC236}">
                <a16:creationId xmlns:a16="http://schemas.microsoft.com/office/drawing/2014/main" id="{B3E4416A-7349-4E0D-A0A8-582F96867BE2}"/>
              </a:ext>
            </a:extLst>
          </p:cNvPr>
          <p:cNvCxnSpPr>
            <a:stCxn xmlns:a="http://schemas.openxmlformats.org/drawingml/2006/main" id="5" idx="2"/>
            <a:endCxn xmlns:a="http://schemas.openxmlformats.org/drawingml/2006/main" id="8" idx="0"/>
          </p:cNvCxnSpPr>
          <p:nvPr/>
        </p:nvCxnSpPr>
        <p:spPr>
          <a:xfrm xmlns:a="http://schemas.openxmlformats.org/drawingml/2006/main" flipH="1">
            <a:off x="3067050" y="3200400"/>
            <a:ext cx="1645445"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10" name="">
            <a:extLst xmlns:a="http://schemas.openxmlformats.org/drawingml/2006/main">
              <a:ext uri="{FF2B5EF4-FFF2-40B4-BE49-F238E27FC236}">
                <a16:creationId xmlns:a16="http://schemas.microsoft.com/office/drawing/2014/main" id="{211CEBC5-B566-4BD0-BD73-507949999AEC}"/>
              </a:ext>
            </a:extLst>
          </p:cNvPr>
          <p:cNvCxnSpPr>
            <a:stCxn xmlns:a="http://schemas.openxmlformats.org/drawingml/2006/main" id="4" idx="2"/>
            <a:endCxn xmlns:a="http://schemas.openxmlformats.org/drawingml/2006/main" id="8" idx="0"/>
          </p:cNvCxnSpPr>
          <p:nvPr/>
        </p:nvCxnSpPr>
        <p:spPr>
          <a:xfrm xmlns:a="http://schemas.openxmlformats.org/drawingml/2006/main">
            <a:off x="1945482" y="3200400"/>
            <a:ext cx="1121569"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sp>
        <p:nvSpPr>
          <p:cNvPr id="20" name="">
            <a:extLst xmlns:a="http://schemas.openxmlformats.org/drawingml/2006/main">
              <a:ext uri="{FF2B5EF4-FFF2-40B4-BE49-F238E27FC236}">
                <a16:creationId xmlns:a16="http://schemas.microsoft.com/office/drawing/2014/main" id="{FF3D55D6-6859-411E-B2B4-4587FEDE8BDB}"/>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Role assignment at the network level</a:t>
            </a:r>
          </a:p>
        </p:txBody>
      </p:sp>
      <p:sp>
        <p:nvSpPr>
          <p:cNvPr id="2" name="">
            <a:extLst xmlns:a="http://schemas.openxmlformats.org/drawingml/2006/main">
              <a:ext uri="{FF2B5EF4-FFF2-40B4-BE49-F238E27FC236}">
                <a16:creationId xmlns:a16="http://schemas.microsoft.com/office/drawing/2014/main" id="{1FB38C48-E919-4AC6-8DDD-73DDB57EAB19}"/>
              </a:ext>
            </a:extLst>
          </p:cNvPr>
          <p:cNvSpPr>
            <a:spLocks xmlns:a="http://schemas.openxmlformats.org/drawingml/2006/main" noGrp="1"/>
          </p:cNvSpPr>
          <p:nvPr/>
        </p:nvSpPr>
        <p:spPr>
          <a:xfrm xmlns:a="http://schemas.openxmlformats.org/drawingml/2006/main">
            <a:off x="685800" y="1495425"/>
            <a:ext cx="838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SCOPE: network_0</a:t>
            </a:r>
          </a:p>
        </p:txBody>
      </p:sp>
      <p:sp>
        <p:nvSpPr>
          <p:cNvPr id="3" name="">
            <a:extLst xmlns:a="http://schemas.openxmlformats.org/drawingml/2006/main">
              <a:ext uri="{FF2B5EF4-FFF2-40B4-BE49-F238E27FC236}">
                <a16:creationId xmlns:a16="http://schemas.microsoft.com/office/drawing/2014/main" id="{78368949-0405-4633-A5BD-CA887F6526DC}"/>
              </a:ext>
            </a:extLst>
          </p:cNvPr>
          <p:cNvSpPr>
            <a:spLocks xmlns:a="http://schemas.openxmlformats.org/drawingml/2006/main" noGrp="1"/>
          </p:cNvSpPr>
          <p:nvPr/>
        </p:nvSpPr>
        <p:spPr>
          <a:xfrm xmlns:a="http://schemas.openxmlformats.org/drawingml/2006/main">
            <a:off x="685800" y="183832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775"/>
                </a:solidFill>
                <a:latin typeface="Arial"/>
                <a:ea typeface="Arial"/>
                <a:cs typeface="Arial"/>
              </a:defRPr>
            </a:defPPr>
          </a:lstStyle>
          <a:p xmlns:a="http://schemas.openxmlformats.org/drawingml/2006/main">
            <a:pPr>
              <a:defRPr sz="1800" b="0">
                <a:solidFill>
                  <a:srgbClr val="526775"/>
                </a:solidFill>
                <a:latin typeface="Arial"/>
                <a:ea typeface="Arial"/>
                <a:cs typeface="Arial"/>
              </a:defRPr>
            </a:pPr>
            <a:r>
              <a:rPr sz="1800" b="0">
                <a:solidFill>
                  <a:srgbClr val="526775"/>
                </a:solidFill>
                <a:latin typeface="Arial"/>
                <a:ea typeface="Arial"/>
                <a:cs typeface="Arial"/>
              </a:rPr>
              <a:t>Seed 42, proposed policy, initial assignments</a:t>
            </a:r>
          </a:p>
        </p:txBody>
      </p:sp>
      <p:sp>
        <p:nvSpPr>
          <p:cNvPr id="4" name="">
            <a:extLst xmlns:a="http://schemas.openxmlformats.org/drawingml/2006/main">
              <a:ext uri="{FF2B5EF4-FFF2-40B4-BE49-F238E27FC236}">
                <a16:creationId xmlns:a16="http://schemas.microsoft.com/office/drawing/2014/main" id="{DFD6049C-02DC-454D-9BE5-822A63A75328}"/>
              </a:ext>
            </a:extLst>
          </p:cNvPr>
          <p:cNvSpPr>
            <a:spLocks xmlns:a="http://schemas.openxmlformats.org/drawingml/2006/main" noGrp="1"/>
          </p:cNvSpPr>
          <p:nvPr/>
        </p:nvSpPr>
        <p:spPr>
          <a:xfrm xmlns:a="http://schemas.openxmlformats.org/drawingml/2006/main">
            <a:off x="685800" y="2381250"/>
            <a:ext cx="2519363"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87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Subnet 0</a:t>
            </a:r>
          </a:p>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0.784504</a:t>
            </a:r>
          </a:p>
        </p:txBody>
      </p:sp>
      <p:sp>
        <p:nvSpPr>
          <p:cNvPr id="5" name="">
            <a:extLst xmlns:a="http://schemas.openxmlformats.org/drawingml/2006/main">
              <a:ext uri="{FF2B5EF4-FFF2-40B4-BE49-F238E27FC236}">
                <a16:creationId xmlns:a16="http://schemas.microsoft.com/office/drawing/2014/main" id="{CF04604A-2DF1-4E37-9773-8CAC5E298B21}"/>
              </a:ext>
            </a:extLst>
          </p:cNvPr>
          <p:cNvSpPr>
            <a:spLocks xmlns:a="http://schemas.openxmlformats.org/drawingml/2006/main" noGrp="1"/>
          </p:cNvSpPr>
          <p:nvPr/>
        </p:nvSpPr>
        <p:spPr>
          <a:xfrm xmlns:a="http://schemas.openxmlformats.org/drawingml/2006/main">
            <a:off x="3452813" y="2381250"/>
            <a:ext cx="2519363"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87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Subnet 1</a:t>
            </a:r>
          </a:p>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0.824220</a:t>
            </a:r>
          </a:p>
        </p:txBody>
      </p:sp>
      <p:sp>
        <p:nvSpPr>
          <p:cNvPr id="6" name="">
            <a:extLst xmlns:a="http://schemas.openxmlformats.org/drawingml/2006/main">
              <a:ext uri="{FF2B5EF4-FFF2-40B4-BE49-F238E27FC236}">
                <a16:creationId xmlns:a16="http://schemas.microsoft.com/office/drawing/2014/main" id="{01021BF1-88AF-4C21-8B61-FA4591CE3469}"/>
              </a:ext>
            </a:extLst>
          </p:cNvPr>
          <p:cNvSpPr>
            <a:spLocks xmlns:a="http://schemas.openxmlformats.org/drawingml/2006/main" noGrp="1"/>
          </p:cNvSpPr>
          <p:nvPr/>
        </p:nvSpPr>
        <p:spPr>
          <a:xfrm xmlns:a="http://schemas.openxmlformats.org/drawingml/2006/main">
            <a:off x="6219825" y="2381250"/>
            <a:ext cx="2519363"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87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Subnet 2</a:t>
            </a:r>
          </a:p>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0.805624</a:t>
            </a:r>
          </a:p>
        </p:txBody>
      </p:sp>
      <p:sp>
        <p:nvSpPr>
          <p:cNvPr id="7" name="">
            <a:extLst xmlns:a="http://schemas.openxmlformats.org/drawingml/2006/main">
              <a:ext uri="{FF2B5EF4-FFF2-40B4-BE49-F238E27FC236}">
                <a16:creationId xmlns:a16="http://schemas.microsoft.com/office/drawing/2014/main" id="{AA267F7B-1109-4CDF-A5F1-2B0C3DE30779}"/>
              </a:ext>
            </a:extLst>
          </p:cNvPr>
          <p:cNvSpPr>
            <a:spLocks xmlns:a="http://schemas.openxmlformats.org/drawingml/2006/main" noGrp="1"/>
          </p:cNvSpPr>
          <p:nvPr/>
        </p:nvSpPr>
        <p:spPr>
          <a:xfrm xmlns:a="http://schemas.openxmlformats.org/drawingml/2006/main">
            <a:off x="8986838" y="2381250"/>
            <a:ext cx="2519363" cy="8191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76200" tIns="76200" rIns="76200" bIns="76200" anchor="ctr"/>
          <a:lstStyle xmlns:a="http://schemas.openxmlformats.org/drawingml/2006/main">
            <a:defPPr algn="ctr">
              <a:defRPr sz="1875">
                <a:solidFill>
                  <a:srgbClr val="FFFFFF"/>
                </a:solidFill>
                <a:latin typeface="Arial"/>
                <a:ea typeface="Arial"/>
                <a:cs typeface="Arial"/>
              </a:defRPr>
            </a:defPPr>
          </a:lstStyle>
          <a:p xmlns:a="http://schemas.openxmlformats.org/drawingml/2006/main">
            <a:pPr algn="ctr">
              <a:defRPr sz="1725">
                <a:solidFill>
                  <a:srgbClr val="FFFFFF"/>
                </a:solidFill>
                <a:latin typeface="Arial"/>
                <a:ea typeface="Arial"/>
                <a:cs typeface="Arial"/>
              </a:defRPr>
            </a:pPr>
            <a:r>
              <a:rPr sz="1875">
                <a:solidFill>
                  <a:srgbClr val="FFFFFF"/>
                </a:solidFill>
                <a:latin typeface="Arial"/>
                <a:ea typeface="Arial"/>
                <a:cs typeface="Arial"/>
              </a:rPr>
              <a:t>Subnet 3</a:t>
            </a:r>
          </a:p>
          <a:p xmlns:a="http://schemas.openxmlformats.org/drawingml/2006/main">
            <a:pPr algn="ctr">
              <a:defRPr sz="1725">
                <a:solidFill>
                  <a:srgbClr val="FFFFFF"/>
                </a:solidFill>
                <a:latin typeface="Arial"/>
                <a:ea typeface="Arial"/>
                <a:cs typeface="Arial"/>
              </a:defRPr>
            </a:pPr>
            <a:r>
              <a:rPr sz="1875">
                <a:solidFill>
                  <a:srgbClr val="FFFFFF"/>
                </a:solidFill>
                <a:latin typeface="Arial"/>
                <a:ea typeface="Arial"/>
                <a:cs typeface="Arial"/>
              </a:rPr>
              <a:t>0.830605</a:t>
            </a:r>
          </a:p>
        </p:txBody>
      </p:sp>
      <p:sp>
        <p:nvSpPr>
          <p:cNvPr id="8" name="">
            <a:extLst xmlns:a="http://schemas.openxmlformats.org/drawingml/2006/main">
              <a:ext uri="{FF2B5EF4-FFF2-40B4-BE49-F238E27FC236}">
                <a16:creationId xmlns:a16="http://schemas.microsoft.com/office/drawing/2014/main" id="{C9A8F9E7-3975-43B1-80A7-FD8223DED07D}"/>
              </a:ext>
            </a:extLst>
          </p:cNvPr>
          <p:cNvSpPr>
            <a:spLocks xmlns:a="http://schemas.openxmlformats.org/drawingml/2006/main" noGrp="1"/>
          </p:cNvSpPr>
          <p:nvPr/>
        </p:nvSpPr>
        <p:spPr>
          <a:xfrm xmlns:a="http://schemas.openxmlformats.org/drawingml/2006/main">
            <a:off x="685800" y="3857625"/>
            <a:ext cx="4762500" cy="8763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Available + reachable candidates</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Maximum gateway capability</a:t>
            </a:r>
          </a:p>
        </p:txBody>
      </p:sp>
      <p:sp>
        <p:nvSpPr>
          <p:cNvPr id="9" name="">
            <a:extLst xmlns:a="http://schemas.openxmlformats.org/drawingml/2006/main">
              <a:ext uri="{FF2B5EF4-FFF2-40B4-BE49-F238E27FC236}">
                <a16:creationId xmlns:a16="http://schemas.microsoft.com/office/drawing/2014/main" id="{1DA37BF4-09ED-49C4-A154-9D084AAA43D8}"/>
              </a:ext>
            </a:extLst>
          </p:cNvPr>
          <p:cNvSpPr>
            <a:spLocks xmlns:a="http://schemas.openxmlformats.org/drawingml/2006/main" noGrp="1"/>
          </p:cNvSpPr>
          <p:nvPr/>
        </p:nvSpPr>
        <p:spPr>
          <a:xfrm xmlns:a="http://schemas.openxmlformats.org/drawingml/2006/main">
            <a:off x="7029450" y="3857625"/>
            <a:ext cx="4476750" cy="87630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GATEWAY LEASE</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Holder: Subnet 3</a:t>
            </a:r>
          </a:p>
        </p:txBody>
      </p:sp>
      <p:sp>
        <p:nvSpPr>
          <p:cNvPr id="15" name="">
            <a:extLst xmlns:a="http://schemas.openxmlformats.org/drawingml/2006/main">
              <a:ext uri="{FF2B5EF4-FFF2-40B4-BE49-F238E27FC236}">
                <a16:creationId xmlns:a16="http://schemas.microsoft.com/office/drawing/2014/main" id="{BA9B8DD5-BB25-4CAB-B375-F9E2B0990A6F}"/>
              </a:ext>
            </a:extLst>
          </p:cNvPr>
          <p:cNvSpPr>
            <a:spLocks xmlns:a="http://schemas.openxmlformats.org/drawingml/2006/main" noGrp="1"/>
          </p:cNvSpPr>
          <p:nvPr/>
        </p:nvSpPr>
        <p:spPr>
          <a:xfrm xmlns:a="http://schemas.openxmlformats.org/drawingml/2006/main">
            <a:off x="685800" y="5048250"/>
            <a:ext cx="5143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12B3C"/>
                </a:solidFill>
                <a:latin typeface="Arial"/>
                <a:ea typeface="Arial"/>
                <a:cs typeface="Arial"/>
              </a:defRPr>
            </a:defPPr>
          </a:lstStyle>
          <a:p xmlns:a="http://schemas.openxmlformats.org/drawingml/2006/main">
            <a:pPr>
              <a:defRPr sz="1950" b="1">
                <a:solidFill>
                  <a:srgbClr val="112B3C"/>
                </a:solidFill>
                <a:latin typeface="Arial"/>
                <a:ea typeface="Arial"/>
                <a:cs typeface="Arial"/>
              </a:defRPr>
            </a:pPr>
            <a:r>
              <a:rPr sz="1950" b="1">
                <a:solidFill>
                  <a:srgbClr val="112B3C"/>
                </a:solidFill>
                <a:latin typeface="Arial"/>
                <a:ea typeface="Arial"/>
                <a:cs typeface="Arial"/>
              </a:rPr>
              <a:t>Control source: node 0</a:t>
            </a:r>
          </a:p>
        </p:txBody>
      </p:sp>
      <p:sp>
        <p:nvSpPr>
          <p:cNvPr id="16" name="">
            <a:extLst xmlns:a="http://schemas.openxmlformats.org/drawingml/2006/main">
              <a:ext uri="{FF2B5EF4-FFF2-40B4-BE49-F238E27FC236}">
                <a16:creationId xmlns:a16="http://schemas.microsoft.com/office/drawing/2014/main" id="{FE1F4075-E15C-4B29-88C1-6CCDBED9AB44}"/>
              </a:ext>
            </a:extLst>
          </p:cNvPr>
          <p:cNvSpPr>
            <a:spLocks xmlns:a="http://schemas.openxmlformats.org/drawingml/2006/main" noGrp="1"/>
          </p:cNvSpPr>
          <p:nvPr/>
        </p:nvSpPr>
        <p:spPr>
          <a:xfrm xmlns:a="http://schemas.openxmlformats.org/drawingml/2006/main">
            <a:off x="7029450" y="504825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112B3C"/>
                </a:solidFill>
                <a:latin typeface="Arial"/>
                <a:ea typeface="Arial"/>
                <a:cs typeface="Arial"/>
              </a:defRPr>
            </a:defPPr>
          </a:lstStyle>
          <a:p xmlns:a="http://schemas.openxmlformats.org/drawingml/2006/main">
            <a:pPr>
              <a:defRPr sz="1875" b="1">
                <a:solidFill>
                  <a:srgbClr val="112B3C"/>
                </a:solidFill>
                <a:latin typeface="Arial"/>
                <a:ea typeface="Arial"/>
                <a:cs typeface="Arial"/>
              </a:defRPr>
            </a:pPr>
            <a:r>
              <a:rPr sz="1875" b="1">
                <a:solidFill>
                  <a:srgbClr val="112B3C"/>
                </a:solidFill>
                <a:latin typeface="Arial"/>
                <a:ea typeface="Arial"/>
                <a:cs typeface="Arial"/>
              </a:rPr>
              <a:t>Physical representative: node 30</a:t>
            </a:r>
          </a:p>
        </p:txBody>
      </p:sp>
      <p:sp>
        <p:nvSpPr>
          <p:cNvPr id="17" name="">
            <a:extLst xmlns:a="http://schemas.openxmlformats.org/drawingml/2006/main">
              <a:ext uri="{FF2B5EF4-FFF2-40B4-BE49-F238E27FC236}">
                <a16:creationId xmlns:a16="http://schemas.microsoft.com/office/drawing/2014/main" id="{29DDA0D1-3880-4A4F-B66A-1DCB91F67DC2}"/>
              </a:ext>
            </a:extLst>
          </p:cNvPr>
          <p:cNvSpPr>
            <a:spLocks xmlns:a="http://schemas.openxmlformats.org/drawingml/2006/main" noGrp="1"/>
          </p:cNvSpPr>
          <p:nvPr/>
        </p:nvSpPr>
        <p:spPr>
          <a:xfrm xmlns:a="http://schemas.openxmlformats.org/drawingml/2006/main">
            <a:off x="685800" y="57626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775"/>
                </a:solidFill>
                <a:latin typeface="Arial"/>
                <a:ea typeface="Arial"/>
                <a:cs typeface="Arial"/>
              </a:defRPr>
            </a:defPPr>
          </a:lstStyle>
          <a:p xmlns:a="http://schemas.openxmlformats.org/drawingml/2006/main">
            <a:pPr>
              <a:defRPr sz="1800" b="0">
                <a:solidFill>
                  <a:srgbClr val="526775"/>
                </a:solidFill>
                <a:latin typeface="Arial"/>
                <a:ea typeface="Arial"/>
                <a:cs typeface="Arial"/>
              </a:defRPr>
            </a:pPr>
            <a:r>
              <a:rPr sz="1800" b="0">
                <a:solidFill>
                  <a:srgbClr val="526775"/>
                </a:solidFill>
                <a:latin typeface="Arial"/>
                <a:ea typeface="Arial"/>
                <a:cs typeface="Arial"/>
              </a:rPr>
              <a:t>anomaly detection: Subnet 0   /   health monitoring: Subnet 0   /   discoverability: Subnet 0</a:t>
            </a:r>
          </a:p>
        </p:txBody>
      </p:sp>
      <p:sp>
        <p:nvSpPr>
          <p:cNvPr id="18" name="">
            <a:extLst xmlns:a="http://schemas.openxmlformats.org/drawingml/2006/main">
              <a:ext uri="{FF2B5EF4-FFF2-40B4-BE49-F238E27FC236}">
                <a16:creationId xmlns:a16="http://schemas.microsoft.com/office/drawing/2014/main" id="{78F0C959-69B5-4BF9-96D0-EAE265B74536}"/>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17 / 38</a:t>
            </a:r>
          </a:p>
        </p:txBody>
      </p:sp>
      <p:sp>
        <p:nvSpPr>
          <p:cNvPr id="19" name="">
            <a:extLst xmlns:a="http://schemas.openxmlformats.org/drawingml/2006/main">
              <a:ext uri="{FF2B5EF4-FFF2-40B4-BE49-F238E27FC236}">
                <a16:creationId xmlns:a16="http://schemas.microsoft.com/office/drawing/2014/main" id="{602D13AC-D089-4742-9D0C-92D040D83A58}"/>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simulation/entities.py: capability; representative_node_id; simulation/protocols.py: _assign</a:t>
            </a:r>
          </a:p>
        </p:txBody>
      </p:sp>
    </p:spTree>
    <p:extLst>
      <p:ext uri="{BB962C8B-B14F-4D97-AF65-F5344CB8AC3E}">
        <p14:creationId xmlns:p14="http://schemas.microsoft.com/office/powerpoint/2010/main" val="677700169"/>
      </p:ext>
    </p:extLst>
  </p:cSld>
</p:sld>
</file>

<file path=ppt/slides/slide1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55271137-C20A-40C7-8487-A9500B89828D}"/>
              </a:ext>
            </a:extLst>
          </p:cNvPr>
          <p:cNvCxnSpPr>
            <a:stCxn xmlns:a="http://schemas.openxmlformats.org/drawingml/2006/main" id="7" idx="3"/>
            <a:endCxn xmlns:a="http://schemas.openxmlformats.org/drawingml/2006/main" id="8" idx="1"/>
          </p:cNvCxnSpPr>
          <p:nvPr/>
        </p:nvCxnSpPr>
        <p:spPr>
          <a:xfrm xmlns:a="http://schemas.openxmlformats.org/drawingml/2006/main">
            <a:off x="5448300" y="4295775"/>
            <a:ext cx="15811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11" name="">
            <a:extLst xmlns:a="http://schemas.openxmlformats.org/drawingml/2006/main">
              <a:ext uri="{FF2B5EF4-FFF2-40B4-BE49-F238E27FC236}">
                <a16:creationId xmlns:a16="http://schemas.microsoft.com/office/drawing/2014/main" id="{BADD46D1-69C5-4201-8DCD-90CAF060246E}"/>
              </a:ext>
            </a:extLst>
          </p:cNvPr>
          <p:cNvCxnSpPr>
            <a:stCxn xmlns:a="http://schemas.openxmlformats.org/drawingml/2006/main" id="6" idx="2"/>
            <a:endCxn xmlns:a="http://schemas.openxmlformats.org/drawingml/2006/main" id="7" idx="0"/>
          </p:cNvCxnSpPr>
          <p:nvPr/>
        </p:nvCxnSpPr>
        <p:spPr>
          <a:xfrm xmlns:a="http://schemas.openxmlformats.org/drawingml/2006/main" flipH="1">
            <a:off x="3067050" y="3200400"/>
            <a:ext cx="6718300"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10" name="">
            <a:extLst xmlns:a="http://schemas.openxmlformats.org/drawingml/2006/main">
              <a:ext uri="{FF2B5EF4-FFF2-40B4-BE49-F238E27FC236}">
                <a16:creationId xmlns:a16="http://schemas.microsoft.com/office/drawing/2014/main" id="{62695999-B9E6-4E56-BD7B-92A4EABAA969}"/>
              </a:ext>
            </a:extLst>
          </p:cNvPr>
          <p:cNvCxnSpPr>
            <a:stCxn xmlns:a="http://schemas.openxmlformats.org/drawingml/2006/main" id="5" idx="2"/>
            <a:endCxn xmlns:a="http://schemas.openxmlformats.org/drawingml/2006/main" id="7" idx="0"/>
          </p:cNvCxnSpPr>
          <p:nvPr/>
        </p:nvCxnSpPr>
        <p:spPr>
          <a:xfrm xmlns:a="http://schemas.openxmlformats.org/drawingml/2006/main" flipH="1">
            <a:off x="3067050" y="3200400"/>
            <a:ext cx="3028950"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9" name="">
            <a:extLst xmlns:a="http://schemas.openxmlformats.org/drawingml/2006/main">
              <a:ext uri="{FF2B5EF4-FFF2-40B4-BE49-F238E27FC236}">
                <a16:creationId xmlns:a16="http://schemas.microsoft.com/office/drawing/2014/main" id="{B5CF8B6B-605D-427E-B077-FC3010EA5D01}"/>
              </a:ext>
            </a:extLst>
          </p:cNvPr>
          <p:cNvCxnSpPr>
            <a:stCxn xmlns:a="http://schemas.openxmlformats.org/drawingml/2006/main" id="4" idx="2"/>
            <a:endCxn xmlns:a="http://schemas.openxmlformats.org/drawingml/2006/main" id="7" idx="0"/>
          </p:cNvCxnSpPr>
          <p:nvPr/>
        </p:nvCxnSpPr>
        <p:spPr>
          <a:xfrm xmlns:a="http://schemas.openxmlformats.org/drawingml/2006/main">
            <a:off x="2406650" y="3200400"/>
            <a:ext cx="660400"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sp>
        <p:nvSpPr>
          <p:cNvPr id="18" name="">
            <a:extLst xmlns:a="http://schemas.openxmlformats.org/drawingml/2006/main">
              <a:ext uri="{FF2B5EF4-FFF2-40B4-BE49-F238E27FC236}">
                <a16:creationId xmlns:a16="http://schemas.microsoft.com/office/drawing/2014/main" id="{4EC5B21E-6338-4DBD-AC2E-4722EE1DE276}"/>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Role assignment at the internetwork level</a:t>
            </a:r>
          </a:p>
        </p:txBody>
      </p:sp>
      <p:sp>
        <p:nvSpPr>
          <p:cNvPr id="2" name="">
            <a:extLst xmlns:a="http://schemas.openxmlformats.org/drawingml/2006/main">
              <a:ext uri="{FF2B5EF4-FFF2-40B4-BE49-F238E27FC236}">
                <a16:creationId xmlns:a16="http://schemas.microsoft.com/office/drawing/2014/main" id="{6844058C-EC64-4BA6-A43C-7842CFEF58A1}"/>
              </a:ext>
            </a:extLst>
          </p:cNvPr>
          <p:cNvSpPr>
            <a:spLocks xmlns:a="http://schemas.openxmlformats.org/drawingml/2006/main" noGrp="1"/>
          </p:cNvSpPr>
          <p:nvPr/>
        </p:nvSpPr>
        <p:spPr>
          <a:xfrm xmlns:a="http://schemas.openxmlformats.org/drawingml/2006/main">
            <a:off x="685800" y="1495425"/>
            <a:ext cx="838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SCOPE: internetwork</a:t>
            </a:r>
          </a:p>
        </p:txBody>
      </p:sp>
      <p:sp>
        <p:nvSpPr>
          <p:cNvPr id="3" name="">
            <a:extLst xmlns:a="http://schemas.openxmlformats.org/drawingml/2006/main">
              <a:ext uri="{FF2B5EF4-FFF2-40B4-BE49-F238E27FC236}">
                <a16:creationId xmlns:a16="http://schemas.microsoft.com/office/drawing/2014/main" id="{B8D87EBF-02EF-42A9-88B9-4BAEE9233824}"/>
              </a:ext>
            </a:extLst>
          </p:cNvPr>
          <p:cNvSpPr>
            <a:spLocks xmlns:a="http://schemas.openxmlformats.org/drawingml/2006/main" noGrp="1"/>
          </p:cNvSpPr>
          <p:nvPr/>
        </p:nvSpPr>
        <p:spPr>
          <a:xfrm xmlns:a="http://schemas.openxmlformats.org/drawingml/2006/main">
            <a:off x="685800" y="183832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775"/>
                </a:solidFill>
                <a:latin typeface="Arial"/>
                <a:ea typeface="Arial"/>
                <a:cs typeface="Arial"/>
              </a:defRPr>
            </a:defPPr>
          </a:lstStyle>
          <a:p xmlns:a="http://schemas.openxmlformats.org/drawingml/2006/main">
            <a:pPr>
              <a:defRPr sz="1800" b="0">
                <a:solidFill>
                  <a:srgbClr val="526775"/>
                </a:solidFill>
                <a:latin typeface="Arial"/>
                <a:ea typeface="Arial"/>
                <a:cs typeface="Arial"/>
              </a:defRPr>
            </a:pPr>
            <a:r>
              <a:rPr sz="1800" b="0">
                <a:solidFill>
                  <a:srgbClr val="526775"/>
                </a:solidFill>
                <a:latin typeface="Arial"/>
                <a:ea typeface="Arial"/>
                <a:cs typeface="Arial"/>
              </a:rPr>
              <a:t>Seed 42, proposed policy, initial assignments</a:t>
            </a:r>
          </a:p>
        </p:txBody>
      </p:sp>
      <p:sp>
        <p:nvSpPr>
          <p:cNvPr id="4" name="">
            <a:extLst xmlns:a="http://schemas.openxmlformats.org/drawingml/2006/main">
              <a:ext uri="{FF2B5EF4-FFF2-40B4-BE49-F238E27FC236}">
                <a16:creationId xmlns:a16="http://schemas.microsoft.com/office/drawing/2014/main" id="{107C191C-31CA-4047-A8B7-A1B588234102}"/>
              </a:ext>
            </a:extLst>
          </p:cNvPr>
          <p:cNvSpPr>
            <a:spLocks xmlns:a="http://schemas.openxmlformats.org/drawingml/2006/main" noGrp="1"/>
          </p:cNvSpPr>
          <p:nvPr/>
        </p:nvSpPr>
        <p:spPr>
          <a:xfrm xmlns:a="http://schemas.openxmlformats.org/drawingml/2006/main">
            <a:off x="685800" y="2381250"/>
            <a:ext cx="3441700"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87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Network 0</a:t>
            </a:r>
          </a:p>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0.811238</a:t>
            </a:r>
          </a:p>
        </p:txBody>
      </p:sp>
      <p:sp>
        <p:nvSpPr>
          <p:cNvPr id="5" name="">
            <a:extLst xmlns:a="http://schemas.openxmlformats.org/drawingml/2006/main">
              <a:ext uri="{FF2B5EF4-FFF2-40B4-BE49-F238E27FC236}">
                <a16:creationId xmlns:a16="http://schemas.microsoft.com/office/drawing/2014/main" id="{37CDAD39-BD26-49B0-BEEF-E21534C586FB}"/>
              </a:ext>
            </a:extLst>
          </p:cNvPr>
          <p:cNvSpPr>
            <a:spLocks xmlns:a="http://schemas.openxmlformats.org/drawingml/2006/main" noGrp="1"/>
          </p:cNvSpPr>
          <p:nvPr/>
        </p:nvSpPr>
        <p:spPr>
          <a:xfrm xmlns:a="http://schemas.openxmlformats.org/drawingml/2006/main">
            <a:off x="4375150" y="2381250"/>
            <a:ext cx="3441700"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87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Network 1</a:t>
            </a:r>
          </a:p>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0.823788</a:t>
            </a:r>
          </a:p>
        </p:txBody>
      </p:sp>
      <p:sp>
        <p:nvSpPr>
          <p:cNvPr id="6" name="">
            <a:extLst xmlns:a="http://schemas.openxmlformats.org/drawingml/2006/main">
              <a:ext uri="{FF2B5EF4-FFF2-40B4-BE49-F238E27FC236}">
                <a16:creationId xmlns:a16="http://schemas.microsoft.com/office/drawing/2014/main" id="{484A15AB-C4D5-45CE-99AA-028B69AEE084}"/>
              </a:ext>
            </a:extLst>
          </p:cNvPr>
          <p:cNvSpPr>
            <a:spLocks xmlns:a="http://schemas.openxmlformats.org/drawingml/2006/main" noGrp="1"/>
          </p:cNvSpPr>
          <p:nvPr/>
        </p:nvSpPr>
        <p:spPr>
          <a:xfrm xmlns:a="http://schemas.openxmlformats.org/drawingml/2006/main">
            <a:off x="8064500" y="2381250"/>
            <a:ext cx="3441700" cy="8191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76200" tIns="76200" rIns="76200" bIns="76200" anchor="ctr"/>
          <a:lstStyle xmlns:a="http://schemas.openxmlformats.org/drawingml/2006/main">
            <a:defPPr algn="ctr">
              <a:defRPr sz="1875">
                <a:solidFill>
                  <a:srgbClr val="FFFFFF"/>
                </a:solidFill>
                <a:latin typeface="Arial"/>
                <a:ea typeface="Arial"/>
                <a:cs typeface="Arial"/>
              </a:defRPr>
            </a:defPPr>
          </a:lstStyle>
          <a:p xmlns:a="http://schemas.openxmlformats.org/drawingml/2006/main">
            <a:pPr algn="ctr">
              <a:defRPr sz="1725">
                <a:solidFill>
                  <a:srgbClr val="FFFFFF"/>
                </a:solidFill>
                <a:latin typeface="Arial"/>
                <a:ea typeface="Arial"/>
                <a:cs typeface="Arial"/>
              </a:defRPr>
            </a:pPr>
            <a:r>
              <a:rPr sz="1875">
                <a:solidFill>
                  <a:srgbClr val="FFFFFF"/>
                </a:solidFill>
                <a:latin typeface="Arial"/>
                <a:ea typeface="Arial"/>
                <a:cs typeface="Arial"/>
              </a:rPr>
              <a:t>Network 2</a:t>
            </a:r>
          </a:p>
          <a:p xmlns:a="http://schemas.openxmlformats.org/drawingml/2006/main">
            <a:pPr algn="ctr">
              <a:defRPr sz="1725">
                <a:solidFill>
                  <a:srgbClr val="FFFFFF"/>
                </a:solidFill>
                <a:latin typeface="Arial"/>
                <a:ea typeface="Arial"/>
                <a:cs typeface="Arial"/>
              </a:defRPr>
            </a:pPr>
            <a:r>
              <a:rPr sz="1875">
                <a:solidFill>
                  <a:srgbClr val="FFFFFF"/>
                </a:solidFill>
                <a:latin typeface="Arial"/>
                <a:ea typeface="Arial"/>
                <a:cs typeface="Arial"/>
              </a:rPr>
              <a:t>0.823820</a:t>
            </a:r>
          </a:p>
        </p:txBody>
      </p:sp>
      <p:sp>
        <p:nvSpPr>
          <p:cNvPr id="7" name="">
            <a:extLst xmlns:a="http://schemas.openxmlformats.org/drawingml/2006/main">
              <a:ext uri="{FF2B5EF4-FFF2-40B4-BE49-F238E27FC236}">
                <a16:creationId xmlns:a16="http://schemas.microsoft.com/office/drawing/2014/main" id="{4693A6F7-A4D0-42BE-8B4B-E023CD4B4708}"/>
              </a:ext>
            </a:extLst>
          </p:cNvPr>
          <p:cNvSpPr>
            <a:spLocks xmlns:a="http://schemas.openxmlformats.org/drawingml/2006/main" noGrp="1"/>
          </p:cNvSpPr>
          <p:nvPr/>
        </p:nvSpPr>
        <p:spPr>
          <a:xfrm xmlns:a="http://schemas.openxmlformats.org/drawingml/2006/main">
            <a:off x="685800" y="3857625"/>
            <a:ext cx="4762500" cy="8763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Available + reachable candidates</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Maximum gateway capability</a:t>
            </a:r>
          </a:p>
        </p:txBody>
      </p:sp>
      <p:sp>
        <p:nvSpPr>
          <p:cNvPr id="8" name="">
            <a:extLst xmlns:a="http://schemas.openxmlformats.org/drawingml/2006/main">
              <a:ext uri="{FF2B5EF4-FFF2-40B4-BE49-F238E27FC236}">
                <a16:creationId xmlns:a16="http://schemas.microsoft.com/office/drawing/2014/main" id="{843C6FFD-8D4B-4758-BA1E-C834CFD09DA8}"/>
              </a:ext>
            </a:extLst>
          </p:cNvPr>
          <p:cNvSpPr>
            <a:spLocks xmlns:a="http://schemas.openxmlformats.org/drawingml/2006/main" noGrp="1"/>
          </p:cNvSpPr>
          <p:nvPr/>
        </p:nvSpPr>
        <p:spPr>
          <a:xfrm xmlns:a="http://schemas.openxmlformats.org/drawingml/2006/main">
            <a:off x="7029450" y="3857625"/>
            <a:ext cx="4476750" cy="87630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GATEWAY LEASE</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Holder: Network 2</a:t>
            </a:r>
          </a:p>
        </p:txBody>
      </p:sp>
      <p:sp>
        <p:nvSpPr>
          <p:cNvPr id="13" name="">
            <a:extLst xmlns:a="http://schemas.openxmlformats.org/drawingml/2006/main">
              <a:ext uri="{FF2B5EF4-FFF2-40B4-BE49-F238E27FC236}">
                <a16:creationId xmlns:a16="http://schemas.microsoft.com/office/drawing/2014/main" id="{4226BC38-A5C2-4731-8E46-FF4304C8D87E}"/>
              </a:ext>
            </a:extLst>
          </p:cNvPr>
          <p:cNvSpPr>
            <a:spLocks xmlns:a="http://schemas.openxmlformats.org/drawingml/2006/main" noGrp="1"/>
          </p:cNvSpPr>
          <p:nvPr/>
        </p:nvSpPr>
        <p:spPr>
          <a:xfrm xmlns:a="http://schemas.openxmlformats.org/drawingml/2006/main">
            <a:off x="685800" y="5048250"/>
            <a:ext cx="5143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12B3C"/>
                </a:solidFill>
                <a:latin typeface="Arial"/>
                <a:ea typeface="Arial"/>
                <a:cs typeface="Arial"/>
              </a:defRPr>
            </a:defPPr>
          </a:lstStyle>
          <a:p xmlns:a="http://schemas.openxmlformats.org/drawingml/2006/main">
            <a:pPr>
              <a:defRPr sz="1950" b="1">
                <a:solidFill>
                  <a:srgbClr val="112B3C"/>
                </a:solidFill>
                <a:latin typeface="Arial"/>
                <a:ea typeface="Arial"/>
                <a:cs typeface="Arial"/>
              </a:defRPr>
            </a:pPr>
            <a:r>
              <a:rPr sz="1950" b="1">
                <a:solidFill>
                  <a:srgbClr val="112B3C"/>
                </a:solidFill>
                <a:latin typeface="Arial"/>
                <a:ea typeface="Arial"/>
                <a:cs typeface="Arial"/>
              </a:rPr>
              <a:t>Control source: node 0</a:t>
            </a:r>
          </a:p>
        </p:txBody>
      </p:sp>
      <p:sp>
        <p:nvSpPr>
          <p:cNvPr id="14" name="">
            <a:extLst xmlns:a="http://schemas.openxmlformats.org/drawingml/2006/main">
              <a:ext uri="{FF2B5EF4-FFF2-40B4-BE49-F238E27FC236}">
                <a16:creationId xmlns:a16="http://schemas.microsoft.com/office/drawing/2014/main" id="{DB7C4EA3-F56F-4FC2-A134-7BCB48268E0F}"/>
              </a:ext>
            </a:extLst>
          </p:cNvPr>
          <p:cNvSpPr>
            <a:spLocks xmlns:a="http://schemas.openxmlformats.org/drawingml/2006/main" noGrp="1"/>
          </p:cNvSpPr>
          <p:nvPr/>
        </p:nvSpPr>
        <p:spPr>
          <a:xfrm xmlns:a="http://schemas.openxmlformats.org/drawingml/2006/main">
            <a:off x="7029450" y="504825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112B3C"/>
                </a:solidFill>
                <a:latin typeface="Arial"/>
                <a:ea typeface="Arial"/>
                <a:cs typeface="Arial"/>
              </a:defRPr>
            </a:defPPr>
          </a:lstStyle>
          <a:p xmlns:a="http://schemas.openxmlformats.org/drawingml/2006/main">
            <a:pPr>
              <a:defRPr sz="1875" b="1">
                <a:solidFill>
                  <a:srgbClr val="112B3C"/>
                </a:solidFill>
                <a:latin typeface="Arial"/>
                <a:ea typeface="Arial"/>
                <a:cs typeface="Arial"/>
              </a:defRPr>
            </a:pPr>
            <a:r>
              <a:rPr sz="1875" b="1">
                <a:solidFill>
                  <a:srgbClr val="112B3C"/>
                </a:solidFill>
                <a:latin typeface="Arial"/>
                <a:ea typeface="Arial"/>
                <a:cs typeface="Arial"/>
              </a:rPr>
              <a:t>Physical representative: node 70</a:t>
            </a:r>
          </a:p>
        </p:txBody>
      </p:sp>
      <p:sp>
        <p:nvSpPr>
          <p:cNvPr id="15" name="">
            <a:extLst xmlns:a="http://schemas.openxmlformats.org/drawingml/2006/main">
              <a:ext uri="{FF2B5EF4-FFF2-40B4-BE49-F238E27FC236}">
                <a16:creationId xmlns:a16="http://schemas.microsoft.com/office/drawing/2014/main" id="{B70FC49B-9F68-4370-8584-28B6457D403D}"/>
              </a:ext>
            </a:extLst>
          </p:cNvPr>
          <p:cNvSpPr>
            <a:spLocks xmlns:a="http://schemas.openxmlformats.org/drawingml/2006/main" noGrp="1"/>
          </p:cNvSpPr>
          <p:nvPr/>
        </p:nvSpPr>
        <p:spPr>
          <a:xfrm xmlns:a="http://schemas.openxmlformats.org/drawingml/2006/main">
            <a:off x="685800" y="57626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775"/>
                </a:solidFill>
                <a:latin typeface="Arial"/>
                <a:ea typeface="Arial"/>
                <a:cs typeface="Arial"/>
              </a:defRPr>
            </a:defPPr>
          </a:lstStyle>
          <a:p xmlns:a="http://schemas.openxmlformats.org/drawingml/2006/main">
            <a:pPr>
              <a:defRPr sz="1800" b="0">
                <a:solidFill>
                  <a:srgbClr val="526775"/>
                </a:solidFill>
                <a:latin typeface="Arial"/>
                <a:ea typeface="Arial"/>
                <a:cs typeface="Arial"/>
              </a:defRPr>
            </a:pPr>
            <a:r>
              <a:rPr sz="1800" b="0">
                <a:solidFill>
                  <a:srgbClr val="526775"/>
                </a:solidFill>
                <a:latin typeface="Arial"/>
                <a:ea typeface="Arial"/>
                <a:cs typeface="Arial"/>
              </a:rPr>
              <a:t>anomaly detection: Network 2   /   health monitoring: Network 2   /   discoverability: Network 2</a:t>
            </a:r>
          </a:p>
        </p:txBody>
      </p:sp>
      <p:sp>
        <p:nvSpPr>
          <p:cNvPr id="16" name="">
            <a:extLst xmlns:a="http://schemas.openxmlformats.org/drawingml/2006/main">
              <a:ext uri="{FF2B5EF4-FFF2-40B4-BE49-F238E27FC236}">
                <a16:creationId xmlns:a16="http://schemas.microsoft.com/office/drawing/2014/main" id="{25BF48DF-17CF-419C-8C84-561EFF71EFA3}"/>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18 / 38</a:t>
            </a:r>
          </a:p>
        </p:txBody>
      </p:sp>
      <p:sp>
        <p:nvSpPr>
          <p:cNvPr id="17" name="">
            <a:extLst xmlns:a="http://schemas.openxmlformats.org/drawingml/2006/main">
              <a:ext uri="{FF2B5EF4-FFF2-40B4-BE49-F238E27FC236}">
                <a16:creationId xmlns:a16="http://schemas.microsoft.com/office/drawing/2014/main" id="{CA2656A7-9339-47C5-8C99-CCAF8A239DED}"/>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simulation/entities.py: scope_candidates; simulation/capability.py: refresh_capabilities; simulation/protocols.py</a:t>
            </a:r>
          </a:p>
        </p:txBody>
      </p:sp>
    </p:spTree>
    <p:extLst>
      <p:ext uri="{BB962C8B-B14F-4D97-AF65-F5344CB8AC3E}">
        <p14:creationId xmlns:p14="http://schemas.microsoft.com/office/powerpoint/2010/main" val="1081808206"/>
      </p:ext>
    </p:extLst>
  </p:cSld>
</p:sld>
</file>

<file path=ppt/slides/slide19.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0DED15A2-880C-4471-A264-6693B423F121}"/>
              </a:ext>
            </a:extLst>
          </p:cNvPr>
          <p:cNvCxnSpPr>
            <a:stCxn xmlns:a="http://schemas.openxmlformats.org/drawingml/2006/main" id="10" idx="1"/>
            <a:endCxn xmlns:a="http://schemas.openxmlformats.org/drawingml/2006/main" id="3" idx="2"/>
          </p:cNvCxnSpPr>
          <p:nvPr/>
        </p:nvCxnSpPr>
        <p:spPr>
          <a:xfrm xmlns:a="http://schemas.openxmlformats.org/drawingml/2006/main" flipH="1" flipV="1">
            <a:off x="5924550" y="2714625"/>
            <a:ext cx="1171575" cy="1847850"/>
          </a:xfrm>
          <a:prstGeom xmlns:a="http://schemas.openxmlformats.org/drawingml/2006/main" prst="bentConnector2">
            <a:avLst/>
          </a:prstGeom>
          <a:ln xmlns:a="http://schemas.openxmlformats.org/drawingml/2006/main" w="19050">
            <a:solidFill>
              <a:srgbClr val="526775"/>
            </a:solidFill>
            <a:tailEnd type="triangle" w="med" len="med"/>
          </a:ln>
        </p:spPr>
      </p:cxnSp>
      <p:cxnSp>
        <p:nvCxnSpPr>
          <p:cNvPr id="13" name="">
            <a:extLst xmlns:a="http://schemas.openxmlformats.org/drawingml/2006/main">
              <a:ext uri="{FF2B5EF4-FFF2-40B4-BE49-F238E27FC236}">
                <a16:creationId xmlns:a16="http://schemas.microsoft.com/office/drawing/2014/main" id="{06E0F20B-BEA8-4B85-A019-75278C28E65B}"/>
              </a:ext>
            </a:extLst>
          </p:cNvPr>
          <p:cNvCxnSpPr>
            <a:stCxn xmlns:a="http://schemas.openxmlformats.org/drawingml/2006/main" id="3" idx="3"/>
            <a:endCxn xmlns:a="http://schemas.openxmlformats.org/drawingml/2006/main" id="10" idx="0"/>
          </p:cNvCxnSpPr>
          <p:nvPr/>
        </p:nvCxnSpPr>
        <p:spPr>
          <a:xfrm xmlns:a="http://schemas.openxmlformats.org/drawingml/2006/main">
            <a:off x="7162800" y="2357438"/>
            <a:ext cx="1314450" cy="1785938"/>
          </a:xfrm>
          <a:prstGeom xmlns:a="http://schemas.openxmlformats.org/drawingml/2006/main" prst="bentConnector4">
            <a:avLst>
              <a:gd name="adj1" fmla="val 17391"/>
              <a:gd name="adj2" fmla="val 87200"/>
            </a:avLst>
          </a:prstGeom>
          <a:ln xmlns:a="http://schemas.openxmlformats.org/drawingml/2006/main" w="19050">
            <a:solidFill>
              <a:srgbClr val="526775"/>
            </a:solidFill>
            <a:tailEnd type="triangle" w="med" len="med"/>
          </a:ln>
        </p:spPr>
      </p:cxnSp>
      <p:cxnSp>
        <p:nvCxnSpPr>
          <p:cNvPr id="12" name="">
            <a:extLst xmlns:a="http://schemas.openxmlformats.org/drawingml/2006/main">
              <a:ext uri="{FF2B5EF4-FFF2-40B4-BE49-F238E27FC236}">
                <a16:creationId xmlns:a16="http://schemas.microsoft.com/office/drawing/2014/main" id="{B49CD0B4-3E1F-4B85-8A31-7ECEA95DF0AC}"/>
              </a:ext>
            </a:extLst>
          </p:cNvPr>
          <p:cNvCxnSpPr>
            <a:stCxn xmlns:a="http://schemas.openxmlformats.org/drawingml/2006/main" id="9" idx="3"/>
            <a:endCxn xmlns:a="http://schemas.openxmlformats.org/drawingml/2006/main" id="3" idx="2"/>
          </p:cNvCxnSpPr>
          <p:nvPr/>
        </p:nvCxnSpPr>
        <p:spPr>
          <a:xfrm xmlns:a="http://schemas.openxmlformats.org/drawingml/2006/main" flipV="1">
            <a:off x="5095875" y="2714625"/>
            <a:ext cx="828675" cy="1847850"/>
          </a:xfrm>
          <a:prstGeom xmlns:a="http://schemas.openxmlformats.org/drawingml/2006/main" prst="bentConnector2">
            <a:avLst/>
          </a:prstGeom>
          <a:ln xmlns:a="http://schemas.openxmlformats.org/drawingml/2006/main" w="19050">
            <a:solidFill>
              <a:srgbClr val="526775"/>
            </a:solidFill>
            <a:tailEnd type="triangle" w="med" len="med"/>
          </a:ln>
        </p:spPr>
      </p:cxnSp>
      <p:cxnSp>
        <p:nvCxnSpPr>
          <p:cNvPr id="11" name="">
            <a:extLst xmlns:a="http://schemas.openxmlformats.org/drawingml/2006/main">
              <a:ext uri="{FF2B5EF4-FFF2-40B4-BE49-F238E27FC236}">
                <a16:creationId xmlns:a16="http://schemas.microsoft.com/office/drawing/2014/main" id="{622F69EC-756D-4B37-B45F-1D012CBDD7C3}"/>
              </a:ext>
            </a:extLst>
          </p:cNvPr>
          <p:cNvCxnSpPr>
            <a:stCxn xmlns:a="http://schemas.openxmlformats.org/drawingml/2006/main" id="3" idx="1"/>
            <a:endCxn xmlns:a="http://schemas.openxmlformats.org/drawingml/2006/main" id="9" idx="0"/>
          </p:cNvCxnSpPr>
          <p:nvPr/>
        </p:nvCxnSpPr>
        <p:spPr>
          <a:xfrm xmlns:a="http://schemas.openxmlformats.org/drawingml/2006/main" flipH="1">
            <a:off x="3714750" y="2357438"/>
            <a:ext cx="971550" cy="1785938"/>
          </a:xfrm>
          <a:prstGeom xmlns:a="http://schemas.openxmlformats.org/drawingml/2006/main" prst="bentConnector2">
            <a:avLst/>
          </a:prstGeom>
          <a:ln xmlns:a="http://schemas.openxmlformats.org/drawingml/2006/main" w="19050">
            <a:solidFill>
              <a:srgbClr val="526775"/>
            </a:solidFill>
            <a:tailEnd type="triangle" w="med" len="med"/>
          </a:ln>
        </p:spPr>
      </p:cxnSp>
      <p:cxnSp>
        <p:nvCxnSpPr>
          <p:cNvPr id="6" name="">
            <a:extLst xmlns:a="http://schemas.openxmlformats.org/drawingml/2006/main">
              <a:ext uri="{FF2B5EF4-FFF2-40B4-BE49-F238E27FC236}">
                <a16:creationId xmlns:a16="http://schemas.microsoft.com/office/drawing/2014/main" id="{44BB0420-50C5-4B0F-A472-6F3B887A8140}"/>
              </a:ext>
            </a:extLst>
          </p:cNvPr>
          <p:cNvCxnSpPr>
            <a:stCxn xmlns:a="http://schemas.openxmlformats.org/drawingml/2006/main" id="3" idx="3"/>
            <a:endCxn xmlns:a="http://schemas.openxmlformats.org/drawingml/2006/main" id="4" idx="1"/>
          </p:cNvCxnSpPr>
          <p:nvPr/>
        </p:nvCxnSpPr>
        <p:spPr>
          <a:xfrm xmlns:a="http://schemas.openxmlformats.org/drawingml/2006/main">
            <a:off x="7162800" y="2357438"/>
            <a:ext cx="21526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5" name="">
            <a:extLst xmlns:a="http://schemas.openxmlformats.org/drawingml/2006/main">
              <a:ext uri="{FF2B5EF4-FFF2-40B4-BE49-F238E27FC236}">
                <a16:creationId xmlns:a16="http://schemas.microsoft.com/office/drawing/2014/main" id="{DB516CDB-75D8-49CA-80CE-BBB2EE290DE2}"/>
              </a:ext>
            </a:extLst>
          </p:cNvPr>
          <p:cNvCxnSpPr>
            <a:stCxn xmlns:a="http://schemas.openxmlformats.org/drawingml/2006/main" id="2" idx="3"/>
            <a:endCxn xmlns:a="http://schemas.openxmlformats.org/drawingml/2006/main" id="3" idx="1"/>
          </p:cNvCxnSpPr>
          <p:nvPr/>
        </p:nvCxnSpPr>
        <p:spPr>
          <a:xfrm xmlns:a="http://schemas.openxmlformats.org/drawingml/2006/main">
            <a:off x="2876550" y="2357438"/>
            <a:ext cx="1809750" cy="0"/>
          </a:xfrm>
          <a:prstGeom xmlns:a="http://schemas.openxmlformats.org/drawingml/2006/main" prst="straightConnector1">
            <a:avLst/>
          </a:prstGeom>
          <a:ln xmlns:a="http://schemas.openxmlformats.org/drawingml/2006/main" w="19050">
            <a:solidFill>
              <a:srgbClr val="526775"/>
            </a:solidFill>
            <a:tailEnd type="triangle" w="med" len="med"/>
          </a:ln>
        </p:spPr>
      </p:cxnSp>
      <p:sp>
        <p:nvSpPr>
          <p:cNvPr id="22" name="">
            <a:extLst xmlns:a="http://schemas.openxmlformats.org/drawingml/2006/main">
              <a:ext uri="{FF2B5EF4-FFF2-40B4-BE49-F238E27FC236}">
                <a16:creationId xmlns:a16="http://schemas.microsoft.com/office/drawing/2014/main" id="{50E1FEE9-F60B-4AAF-86F3-DFBF0DF9E551}"/>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Lease lifecycle and epoch handling</a:t>
            </a:r>
          </a:p>
        </p:txBody>
      </p:sp>
      <p:sp>
        <p:nvSpPr>
          <p:cNvPr id="2" name="">
            <a:extLst xmlns:a="http://schemas.openxmlformats.org/drawingml/2006/main">
              <a:ext uri="{FF2B5EF4-FFF2-40B4-BE49-F238E27FC236}">
                <a16:creationId xmlns:a16="http://schemas.microsoft.com/office/drawing/2014/main" id="{891502E5-EA98-415B-A296-4F58A940969A}"/>
              </a:ext>
            </a:extLst>
          </p:cNvPr>
          <p:cNvSpPr>
            <a:spLocks xmlns:a="http://schemas.openxmlformats.org/drawingml/2006/main" noGrp="1"/>
          </p:cNvSpPr>
          <p:nvPr/>
        </p:nvSpPr>
        <p:spPr>
          <a:xfrm xmlns:a="http://schemas.openxmlformats.org/drawingml/2006/main">
            <a:off x="685800" y="2000250"/>
            <a:ext cx="2190750" cy="714375"/>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PENDING</a:t>
            </a:r>
          </a:p>
        </p:txBody>
      </p:sp>
      <p:sp>
        <p:nvSpPr>
          <p:cNvPr id="3" name="">
            <a:extLst xmlns:a="http://schemas.openxmlformats.org/drawingml/2006/main">
              <a:ext uri="{FF2B5EF4-FFF2-40B4-BE49-F238E27FC236}">
                <a16:creationId xmlns:a16="http://schemas.microsoft.com/office/drawing/2014/main" id="{6B6C48D8-06FF-47D1-9DCD-FE2DA5166946}"/>
              </a:ext>
            </a:extLst>
          </p:cNvPr>
          <p:cNvSpPr>
            <a:spLocks xmlns:a="http://schemas.openxmlformats.org/drawingml/2006/main" noGrp="1"/>
          </p:cNvSpPr>
          <p:nvPr/>
        </p:nvSpPr>
        <p:spPr>
          <a:xfrm xmlns:a="http://schemas.openxmlformats.org/drawingml/2006/main">
            <a:off x="4686300" y="2000250"/>
            <a:ext cx="2476500" cy="714375"/>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ACTIVE</a:t>
            </a:r>
          </a:p>
        </p:txBody>
      </p:sp>
      <p:sp>
        <p:nvSpPr>
          <p:cNvPr id="4" name="">
            <a:extLst xmlns:a="http://schemas.openxmlformats.org/drawingml/2006/main">
              <a:ext uri="{FF2B5EF4-FFF2-40B4-BE49-F238E27FC236}">
                <a16:creationId xmlns:a16="http://schemas.microsoft.com/office/drawing/2014/main" id="{D84B35C5-E510-454C-9A4C-B7E9FA801838}"/>
              </a:ext>
            </a:extLst>
          </p:cNvPr>
          <p:cNvSpPr>
            <a:spLocks xmlns:a="http://schemas.openxmlformats.org/drawingml/2006/main" noGrp="1"/>
          </p:cNvSpPr>
          <p:nvPr/>
        </p:nvSpPr>
        <p:spPr>
          <a:xfrm xmlns:a="http://schemas.openxmlformats.org/drawingml/2006/main">
            <a:off x="9315450" y="2000250"/>
            <a:ext cx="2190750" cy="714375"/>
          </a:xfrm>
          <a:prstGeom xmlns:a="http://schemas.openxmlformats.org/drawingml/2006/main" prst="rect">
            <a:avLst/>
          </a:prstGeom>
          <a:solidFill xmlns:a="http://schemas.openxmlformats.org/drawingml/2006/main">
            <a:srgbClr val="112B3C"/>
          </a:solidFill>
          <a:ln xmlns:a="http://schemas.openxmlformats.org/drawingml/2006/main" w="9525">
            <a:solidFill>
              <a:srgbClr val="112B3C"/>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EXPIRED</a:t>
            </a:r>
          </a:p>
        </p:txBody>
      </p:sp>
      <p:sp>
        <p:nvSpPr>
          <p:cNvPr id="7" name="">
            <a:extLst xmlns:a="http://schemas.openxmlformats.org/drawingml/2006/main">
              <a:ext uri="{FF2B5EF4-FFF2-40B4-BE49-F238E27FC236}">
                <a16:creationId xmlns:a16="http://schemas.microsoft.com/office/drawing/2014/main" id="{FCF7EDE3-93BC-45FF-B175-2FCABC49672E}"/>
              </a:ext>
            </a:extLst>
          </p:cNvPr>
          <p:cNvSpPr>
            <a:spLocks xmlns:a="http://schemas.openxmlformats.org/drawingml/2006/main" noGrp="1"/>
          </p:cNvSpPr>
          <p:nvPr/>
        </p:nvSpPr>
        <p:spPr>
          <a:xfrm xmlns:a="http://schemas.openxmlformats.org/drawingml/2006/main">
            <a:off x="3162300" y="1695450"/>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activate</a:t>
            </a:r>
          </a:p>
        </p:txBody>
      </p:sp>
      <p:sp>
        <p:nvSpPr>
          <p:cNvPr id="8" name="">
            <a:extLst xmlns:a="http://schemas.openxmlformats.org/drawingml/2006/main">
              <a:ext uri="{FF2B5EF4-FFF2-40B4-BE49-F238E27FC236}">
                <a16:creationId xmlns:a16="http://schemas.microsoft.com/office/drawing/2014/main" id="{C3339502-2ECA-4F50-BE60-5F093009A417}"/>
              </a:ext>
            </a:extLst>
          </p:cNvPr>
          <p:cNvSpPr>
            <a:spLocks xmlns:a="http://schemas.openxmlformats.org/drawingml/2006/main" noGrp="1"/>
          </p:cNvSpPr>
          <p:nvPr/>
        </p:nvSpPr>
        <p:spPr>
          <a:xfrm xmlns:a="http://schemas.openxmlformats.org/drawingml/2006/main">
            <a:off x="7496175" y="1695450"/>
            <a:ext cx="200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expire / invalidate</a:t>
            </a:r>
          </a:p>
        </p:txBody>
      </p:sp>
      <p:sp>
        <p:nvSpPr>
          <p:cNvPr id="9" name="">
            <a:extLst xmlns:a="http://schemas.openxmlformats.org/drawingml/2006/main">
              <a:ext uri="{FF2B5EF4-FFF2-40B4-BE49-F238E27FC236}">
                <a16:creationId xmlns:a16="http://schemas.microsoft.com/office/drawing/2014/main" id="{C5998A0D-DBD1-4EBB-98C7-5353B4FB68BF}"/>
              </a:ext>
            </a:extLst>
          </p:cNvPr>
          <p:cNvSpPr>
            <a:spLocks xmlns:a="http://schemas.openxmlformats.org/drawingml/2006/main" noGrp="1"/>
          </p:cNvSpPr>
          <p:nvPr/>
        </p:nvSpPr>
        <p:spPr>
          <a:xfrm xmlns:a="http://schemas.openxmlformats.org/drawingml/2006/main">
            <a:off x="2333625" y="4143375"/>
            <a:ext cx="2762250" cy="8382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RENEWING</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update timing</a:t>
            </a:r>
          </a:p>
        </p:txBody>
      </p:sp>
      <p:sp>
        <p:nvSpPr>
          <p:cNvPr id="10" name="">
            <a:extLst xmlns:a="http://schemas.openxmlformats.org/drawingml/2006/main">
              <a:ext uri="{FF2B5EF4-FFF2-40B4-BE49-F238E27FC236}">
                <a16:creationId xmlns:a16="http://schemas.microsoft.com/office/drawing/2014/main" id="{402C6393-48F8-4DB5-8212-E85A0458B13B}"/>
              </a:ext>
            </a:extLst>
          </p:cNvPr>
          <p:cNvSpPr>
            <a:spLocks xmlns:a="http://schemas.openxmlformats.org/drawingml/2006/main" noGrp="1"/>
          </p:cNvSpPr>
          <p:nvPr/>
        </p:nvSpPr>
        <p:spPr>
          <a:xfrm xmlns:a="http://schemas.openxmlformats.org/drawingml/2006/main">
            <a:off x="7096125" y="4143375"/>
            <a:ext cx="2762250" cy="8382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MIGRATING</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update holder + timing</a:t>
            </a:r>
          </a:p>
        </p:txBody>
      </p:sp>
      <p:sp>
        <p:nvSpPr>
          <p:cNvPr id="15" name="">
            <a:extLst xmlns:a="http://schemas.openxmlformats.org/drawingml/2006/main">
              <a:ext uri="{FF2B5EF4-FFF2-40B4-BE49-F238E27FC236}">
                <a16:creationId xmlns:a16="http://schemas.microsoft.com/office/drawing/2014/main" id="{C35BAF46-4BE5-4CFF-AEB2-45242963C1D7}"/>
              </a:ext>
            </a:extLst>
          </p:cNvPr>
          <p:cNvSpPr>
            <a:spLocks xmlns:a="http://schemas.openxmlformats.org/drawingml/2006/main" noGrp="1"/>
          </p:cNvSpPr>
          <p:nvPr/>
        </p:nvSpPr>
        <p:spPr>
          <a:xfrm xmlns:a="http://schemas.openxmlformats.org/drawingml/2006/main">
            <a:off x="1857375" y="3228975"/>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renew</a:t>
            </a:r>
          </a:p>
        </p:txBody>
      </p:sp>
      <p:sp>
        <p:nvSpPr>
          <p:cNvPr id="16" name="">
            <a:extLst xmlns:a="http://schemas.openxmlformats.org/drawingml/2006/main">
              <a:ext uri="{FF2B5EF4-FFF2-40B4-BE49-F238E27FC236}">
                <a16:creationId xmlns:a16="http://schemas.microsoft.com/office/drawing/2014/main" id="{225C7DD6-6CBE-42CC-BD49-5FE6116CCDE5}"/>
              </a:ext>
            </a:extLst>
          </p:cNvPr>
          <p:cNvSpPr>
            <a:spLocks xmlns:a="http://schemas.openxmlformats.org/drawingml/2006/main" noGrp="1"/>
          </p:cNvSpPr>
          <p:nvPr/>
        </p:nvSpPr>
        <p:spPr>
          <a:xfrm xmlns:a="http://schemas.openxmlformats.org/drawingml/2006/main">
            <a:off x="3571875" y="5286375"/>
            <a:ext cx="233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commit_renewal</a:t>
            </a:r>
          </a:p>
        </p:txBody>
      </p:sp>
      <p:sp>
        <p:nvSpPr>
          <p:cNvPr id="17" name="">
            <a:extLst xmlns:a="http://schemas.openxmlformats.org/drawingml/2006/main">
              <a:ext uri="{FF2B5EF4-FFF2-40B4-BE49-F238E27FC236}">
                <a16:creationId xmlns:a16="http://schemas.microsoft.com/office/drawing/2014/main" id="{32D3A77A-0350-4EDD-93DA-63C85464A3C4}"/>
              </a:ext>
            </a:extLst>
          </p:cNvPr>
          <p:cNvSpPr>
            <a:spLocks xmlns:a="http://schemas.openxmlformats.org/drawingml/2006/main" noGrp="1"/>
          </p:cNvSpPr>
          <p:nvPr/>
        </p:nvSpPr>
        <p:spPr>
          <a:xfrm xmlns:a="http://schemas.openxmlformats.org/drawingml/2006/main">
            <a:off x="8096250" y="3228975"/>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begin_migration</a:t>
            </a:r>
          </a:p>
        </p:txBody>
      </p:sp>
      <p:sp>
        <p:nvSpPr>
          <p:cNvPr id="18" name="">
            <a:extLst xmlns:a="http://schemas.openxmlformats.org/drawingml/2006/main">
              <a:ext uri="{FF2B5EF4-FFF2-40B4-BE49-F238E27FC236}">
                <a16:creationId xmlns:a16="http://schemas.microsoft.com/office/drawing/2014/main" id="{9C1287BD-060E-4339-B533-45CC79B5695E}"/>
              </a:ext>
            </a:extLst>
          </p:cNvPr>
          <p:cNvSpPr>
            <a:spLocks xmlns:a="http://schemas.openxmlformats.org/drawingml/2006/main" noGrp="1"/>
          </p:cNvSpPr>
          <p:nvPr/>
        </p:nvSpPr>
        <p:spPr>
          <a:xfrm xmlns:a="http://schemas.openxmlformats.org/drawingml/2006/main">
            <a:off x="7429500" y="5286375"/>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migrated</a:t>
            </a:r>
          </a:p>
        </p:txBody>
      </p:sp>
      <p:sp>
        <p:nvSpPr>
          <p:cNvPr id="19" name="">
            <a:extLst xmlns:a="http://schemas.openxmlformats.org/drawingml/2006/main">
              <a:ext uri="{FF2B5EF4-FFF2-40B4-BE49-F238E27FC236}">
                <a16:creationId xmlns:a16="http://schemas.microsoft.com/office/drawing/2014/main" id="{93C4CF6B-BB24-4731-BFE8-6BBBBB329617}"/>
              </a:ext>
            </a:extLst>
          </p:cNvPr>
          <p:cNvSpPr>
            <a:spLocks xmlns:a="http://schemas.openxmlformats.org/drawingml/2006/main" noGrp="1"/>
          </p:cNvSpPr>
          <p:nvPr/>
        </p:nvSpPr>
        <p:spPr>
          <a:xfrm xmlns:a="http://schemas.openxmlformats.org/drawingml/2006/main">
            <a:off x="685800" y="56388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526775"/>
                </a:solidFill>
                <a:latin typeface="Arial"/>
                <a:ea typeface="Arial"/>
                <a:cs typeface="Arial"/>
              </a:defRPr>
            </a:defPPr>
          </a:lstStyle>
          <a:p xmlns:a="http://schemas.openxmlformats.org/drawingml/2006/main">
            <a:pPr>
              <a:defRPr sz="1725" b="0">
                <a:solidFill>
                  <a:srgbClr val="526775"/>
                </a:solidFill>
                <a:latin typeface="Arial"/>
                <a:ea typeface="Arial"/>
                <a:cs typeface="Arial"/>
              </a:defRPr>
            </a:pPr>
            <a:r>
              <a:rPr sz="1725" b="0">
                <a:solidFill>
                  <a:srgbClr val="526775"/>
                </a:solidFill>
                <a:latin typeface="Arial"/>
                <a:ea typeface="Arial"/>
                <a:cs typeface="Arial"/>
              </a:rPr>
              <a:t>Invalidation can also expire a renewing or migrating lease.</a:t>
            </a:r>
          </a:p>
          <a:p xmlns:a="http://schemas.openxmlformats.org/drawingml/2006/main">
            <a:pPr>
              <a:defRPr sz="1725" b="0">
                <a:solidFill>
                  <a:srgbClr val="526775"/>
                </a:solidFill>
                <a:latin typeface="Arial"/>
                <a:ea typeface="Arial"/>
                <a:cs typeface="Arial"/>
              </a:defRPr>
            </a:pPr>
            <a:r>
              <a:rPr sz="1725" b="0">
                <a:solidFill>
                  <a:srgbClr val="526775"/>
                </a:solidFill>
                <a:latin typeface="Arial"/>
                <a:ea typeface="Arial"/>
                <a:cs typeface="Arial"/>
              </a:rPr>
              <a:t>Epoch rollover regrants by default. Retention updates epoch labels in place.</a:t>
            </a:r>
          </a:p>
        </p:txBody>
      </p:sp>
      <p:sp>
        <p:nvSpPr>
          <p:cNvPr id="20" name="">
            <a:extLst xmlns:a="http://schemas.openxmlformats.org/drawingml/2006/main">
              <a:ext uri="{FF2B5EF4-FFF2-40B4-BE49-F238E27FC236}">
                <a16:creationId xmlns:a16="http://schemas.microsoft.com/office/drawing/2014/main" id="{B897C0FE-633F-4402-9B8F-97EC3BBF0407}"/>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19 / 38</a:t>
            </a:r>
          </a:p>
        </p:txBody>
      </p:sp>
      <p:sp>
        <p:nvSpPr>
          <p:cNvPr id="21" name="">
            <a:extLst xmlns:a="http://schemas.openxmlformats.org/drawingml/2006/main">
              <a:ext uri="{FF2B5EF4-FFF2-40B4-BE49-F238E27FC236}">
                <a16:creationId xmlns:a16="http://schemas.microsoft.com/office/drawing/2014/main" id="{A71A28F2-7EB4-49E7-91BA-F126614AB472}"/>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simulation/leases.py; simulation/protocols.py: _advance_epoch; _lease_duration</a:t>
            </a:r>
          </a:p>
        </p:txBody>
      </p:sp>
    </p:spTree>
    <p:extLst>
      <p:ext uri="{BB962C8B-B14F-4D97-AF65-F5344CB8AC3E}">
        <p14:creationId xmlns:p14="http://schemas.microsoft.com/office/powerpoint/2010/main" val="1682724631"/>
      </p:ext>
    </p:extLst>
  </p:cSld>
</p:sld>
</file>

<file path=ppt/slides/slide20.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321B6E8-D4B0-4A3F-8780-0AAC52BA20E1}"/>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Cost-aware migration</a:t>
            </a:r>
          </a:p>
        </p:txBody>
      </p:sp>
      <p:sp>
        <p:nvSpPr>
          <p:cNvPr id="2" name="">
            <a:extLst xmlns:a="http://schemas.openxmlformats.org/drawingml/2006/main">
              <a:ext uri="{FF2B5EF4-FFF2-40B4-BE49-F238E27FC236}">
                <a16:creationId xmlns:a16="http://schemas.microsoft.com/office/drawing/2014/main" id="{2134CC20-A5C3-469F-B679-3A59DD37B2CF}"/>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956F3F44-F365-43FB-B45B-5F69E3FF072D}"/>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Cost = α·2 + β·state_transfer + γ·route_cost·Econtrol + δ·disruption</a:t>
            </a:r>
          </a:p>
        </p:txBody>
      </p:sp>
      <p:sp>
        <p:nvSpPr>
          <p:cNvPr id="4" name="">
            <a:extLst xmlns:a="http://schemas.openxmlformats.org/drawingml/2006/main">
              <a:ext uri="{FF2B5EF4-FFF2-40B4-BE49-F238E27FC236}">
                <a16:creationId xmlns:a16="http://schemas.microsoft.com/office/drawing/2014/main" id="{3A1C5274-67F7-43C0-82CB-19D732EE6C36}"/>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E140BB14-409E-4F8D-A37D-BEC4B00421B0}"/>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Defaults: α=.01, β=.1, γ=10, δ=.2, λ=.1</a:t>
            </a:r>
          </a:p>
        </p:txBody>
      </p:sp>
      <p:sp>
        <p:nvSpPr>
          <p:cNvPr id="6" name="">
            <a:extLst xmlns:a="http://schemas.openxmlformats.org/drawingml/2006/main">
              <a:ext uri="{FF2B5EF4-FFF2-40B4-BE49-F238E27FC236}">
                <a16:creationId xmlns:a16="http://schemas.microsoft.com/office/drawing/2014/main" id="{6A9CEDAA-C4C0-4207-B2DD-2175E2FE3160}"/>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14C8160F-616F-49E6-AFD2-B1989CE0F463}"/>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Candidate utility = capability − λ·cost</a:t>
            </a:r>
          </a:p>
        </p:txBody>
      </p:sp>
      <p:sp>
        <p:nvSpPr>
          <p:cNvPr id="8" name="">
            <a:extLst xmlns:a="http://schemas.openxmlformats.org/drawingml/2006/main">
              <a:ext uri="{FF2B5EF4-FFF2-40B4-BE49-F238E27FC236}">
                <a16:creationId xmlns:a16="http://schemas.microsoft.com/office/drawing/2014/main" id="{A0F31B87-8A4C-46FB-AC19-88BDE7FCCC8B}"/>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83FF2B3E-C2CD-4B62-8F82-6751CEDD12BC}"/>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Migrate only if best utility &gt; current capability + Δ</a:t>
            </a:r>
          </a:p>
        </p:txBody>
      </p:sp>
      <p:sp>
        <p:nvSpPr>
          <p:cNvPr id="10" name="">
            <a:extLst xmlns:a="http://schemas.openxmlformats.org/drawingml/2006/main">
              <a:ext uri="{FF2B5EF4-FFF2-40B4-BE49-F238E27FC236}">
                <a16:creationId xmlns:a16="http://schemas.microsoft.com/office/drawing/2014/main" id="{25C26632-C0C1-4C7E-8268-178CAC3C8B46}"/>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2AF55F5F-79BC-4CB7-8B4A-E809BC8F6667}"/>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Unreachable transfer routes have infinite cost and are excluded</a:t>
            </a:r>
          </a:p>
        </p:txBody>
      </p:sp>
      <p:sp>
        <p:nvSpPr>
          <p:cNvPr id="12" name="">
            <a:extLst xmlns:a="http://schemas.openxmlformats.org/drawingml/2006/main">
              <a:ext uri="{FF2B5EF4-FFF2-40B4-BE49-F238E27FC236}">
                <a16:creationId xmlns:a16="http://schemas.microsoft.com/office/drawing/2014/main" id="{466AC000-2843-40CD-913A-CE050521901E}"/>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20 / 38</a:t>
            </a:r>
          </a:p>
        </p:txBody>
      </p:sp>
      <p:sp>
        <p:nvSpPr>
          <p:cNvPr id="13" name="">
            <a:extLst xmlns:a="http://schemas.openxmlformats.org/drawingml/2006/main">
              <a:ext uri="{FF2B5EF4-FFF2-40B4-BE49-F238E27FC236}">
                <a16:creationId xmlns:a16="http://schemas.microsoft.com/office/drawing/2014/main" id="{DEF961DD-6478-4662-BE41-115A1D251C85}"/>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simulation/protocols.py: calculate_migration_cost; _consider_cost_aware_migration</a:t>
            </a:r>
          </a:p>
        </p:txBody>
      </p:sp>
    </p:spTree>
    <p:extLst>
      <p:ext uri="{BB962C8B-B14F-4D97-AF65-F5344CB8AC3E}">
        <p14:creationId xmlns:p14="http://schemas.microsoft.com/office/powerpoint/2010/main" val="955948089"/>
      </p:ext>
    </p:extLst>
  </p:cSld>
</p:sld>
</file>

<file path=ppt/slides/slide2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135C53A-EC08-4AD1-A690-1407FB3FF9A2}"/>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Routing algorithm and example</a:t>
            </a:r>
          </a:p>
        </p:txBody>
      </p:sp>
      <p:sp>
        <p:nvSpPr>
          <p:cNvPr id="2" name="">
            <a:extLst xmlns:a="http://schemas.openxmlformats.org/drawingml/2006/main">
              <a:ext uri="{FF2B5EF4-FFF2-40B4-BE49-F238E27FC236}">
                <a16:creationId xmlns:a16="http://schemas.microsoft.com/office/drawing/2014/main" id="{4688E732-9413-44BB-AB8C-AB0547E4437C}"/>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5BD2C1B5-CD04-47A3-AD99-08113D37AE3A}"/>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Dijkstra minimizes sum of edge costs using a min-heap</a:t>
            </a:r>
          </a:p>
        </p:txBody>
      </p:sp>
      <p:sp>
        <p:nvSpPr>
          <p:cNvPr id="4" name="">
            <a:extLst xmlns:a="http://schemas.openxmlformats.org/drawingml/2006/main">
              <a:ext uri="{FF2B5EF4-FFF2-40B4-BE49-F238E27FC236}">
                <a16:creationId xmlns:a16="http://schemas.microsoft.com/office/drawing/2014/main" id="{FCA63165-254D-45F4-8824-B6763E5C20A8}"/>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13224E7E-A578-47C4-8A23-0DAA3C51668D}"/>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Usable quality = base edge quality × min(endpoint link qualities)</a:t>
            </a:r>
          </a:p>
        </p:txBody>
      </p:sp>
      <p:sp>
        <p:nvSpPr>
          <p:cNvPr id="6" name="">
            <a:extLst xmlns:a="http://schemas.openxmlformats.org/drawingml/2006/main">
              <a:ext uri="{FF2B5EF4-FFF2-40B4-BE49-F238E27FC236}">
                <a16:creationId xmlns:a16="http://schemas.microsoft.com/office/drawing/2014/main" id="{93F6F20A-C82D-4667-BB70-09862570B644}"/>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93E4971C-040D-4529-8BD9-F4224B252605}"/>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Edge cost = 1 + 4 × (1 − quality)</a:t>
            </a:r>
          </a:p>
        </p:txBody>
      </p:sp>
      <p:sp>
        <p:nvSpPr>
          <p:cNvPr id="8" name="">
            <a:extLst xmlns:a="http://schemas.openxmlformats.org/drawingml/2006/main">
              <a:ext uri="{FF2B5EF4-FFF2-40B4-BE49-F238E27FC236}">
                <a16:creationId xmlns:a16="http://schemas.microsoft.com/office/drawing/2014/main" id="{1ECA548B-A0C5-43FD-9C61-638B3391061D}"/>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A280A847-1041-4870-9EBC-BB5E59E875FD}"/>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Example: direct quality .2 costs 4.2, two quality .9 hops cost 2.8</a:t>
            </a:r>
          </a:p>
        </p:txBody>
      </p:sp>
      <p:sp>
        <p:nvSpPr>
          <p:cNvPr id="10" name="">
            <a:extLst xmlns:a="http://schemas.openxmlformats.org/drawingml/2006/main">
              <a:ext uri="{FF2B5EF4-FFF2-40B4-BE49-F238E27FC236}">
                <a16:creationId xmlns:a16="http://schemas.microsoft.com/office/drawing/2014/main" id="{75FF7B58-819E-420F-999D-E66FE216B62E}"/>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CD031886-C87F-41EB-9806-A5248913F0DE}"/>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Cache routes by source and invalidate after topology-affecting events</a:t>
            </a:r>
          </a:p>
        </p:txBody>
      </p:sp>
      <p:sp>
        <p:nvSpPr>
          <p:cNvPr id="12" name="">
            <a:extLst xmlns:a="http://schemas.openxmlformats.org/drawingml/2006/main">
              <a:ext uri="{FF2B5EF4-FFF2-40B4-BE49-F238E27FC236}">
                <a16:creationId xmlns:a16="http://schemas.microsoft.com/office/drawing/2014/main" id="{A798583F-18D1-407B-A07D-64A603201E83}"/>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21 / 38</a:t>
            </a:r>
          </a:p>
        </p:txBody>
      </p:sp>
      <p:sp>
        <p:nvSpPr>
          <p:cNvPr id="13" name="">
            <a:extLst xmlns:a="http://schemas.openxmlformats.org/drawingml/2006/main">
              <a:ext uri="{FF2B5EF4-FFF2-40B4-BE49-F238E27FC236}">
                <a16:creationId xmlns:a16="http://schemas.microsoft.com/office/drawing/2014/main" id="{42BFEE40-38EA-481D-B32A-DAD7DA3842DB}"/>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simulation/communications.py: _routes_from; _current_graph; find_route</a:t>
            </a:r>
          </a:p>
        </p:txBody>
      </p:sp>
    </p:spTree>
    <p:extLst>
      <p:ext uri="{BB962C8B-B14F-4D97-AF65-F5344CB8AC3E}">
        <p14:creationId xmlns:p14="http://schemas.microsoft.com/office/powerpoint/2010/main" val="476337025"/>
      </p:ext>
    </p:extLst>
  </p:cSld>
</p:sld>
</file>

<file path=ppt/slides/slide2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80411AE-C358-4E84-8A9A-C2E6029BFC8B}"/>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Communication and energy accounting</a:t>
            </a:r>
          </a:p>
        </p:txBody>
      </p:sp>
      <p:sp>
        <p:nvSpPr>
          <p:cNvPr id="2" name="">
            <a:extLst xmlns:a="http://schemas.openxmlformats.org/drawingml/2006/main">
              <a:ext uri="{FF2B5EF4-FFF2-40B4-BE49-F238E27FC236}">
                <a16:creationId xmlns:a16="http://schemas.microsoft.com/office/drawing/2014/main" id="{FE13C893-946B-4E6A-B4D1-F96253362AD6}"/>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EE312125-F81B-4811-BE9A-289B768D4380}"/>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Count logical messages separately from message-hop transmissions</a:t>
            </a:r>
          </a:p>
        </p:txBody>
      </p:sp>
      <p:sp>
        <p:nvSpPr>
          <p:cNvPr id="4" name="">
            <a:extLst xmlns:a="http://schemas.openxmlformats.org/drawingml/2006/main">
              <a:ext uri="{FF2B5EF4-FFF2-40B4-BE49-F238E27FC236}">
                <a16:creationId xmlns:a16="http://schemas.microsoft.com/office/drawing/2014/main" id="{B7A0012B-67D6-4E68-83FA-65B2CC4B3467}"/>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592E96AA-E59B-4DDD-B31F-3F1D1EB3BA24}"/>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Each hop charges both transmitter and receiver</a:t>
            </a:r>
          </a:p>
        </p:txBody>
      </p:sp>
      <p:sp>
        <p:nvSpPr>
          <p:cNvPr id="6" name="">
            <a:extLst xmlns:a="http://schemas.openxmlformats.org/drawingml/2006/main">
              <a:ext uri="{FF2B5EF4-FFF2-40B4-BE49-F238E27FC236}">
                <a16:creationId xmlns:a16="http://schemas.microsoft.com/office/drawing/2014/main" id="{7A571236-E913-4A27-A4F4-D18F8FBE398A}"/>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783F13A9-95A1-41A2-835D-5E2E250C09D4}"/>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Transmit = Ebase × [1 + w × (distance / range)^p]</a:t>
            </a:r>
          </a:p>
        </p:txBody>
      </p:sp>
      <p:sp>
        <p:nvSpPr>
          <p:cNvPr id="8" name="">
            <a:extLst xmlns:a="http://schemas.openxmlformats.org/drawingml/2006/main">
              <a:ext uri="{FF2B5EF4-FFF2-40B4-BE49-F238E27FC236}">
                <a16:creationId xmlns:a16="http://schemas.microsoft.com/office/drawing/2014/main" id="{C8B502FE-6605-40F4-92D2-F829D98F5A7F}"/>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5C6BBB91-ABB6-42B7-9A0C-CE5F1C82E3E2}"/>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Receive = Ebase, with data and control using different base costs</a:t>
            </a:r>
          </a:p>
        </p:txBody>
      </p:sp>
      <p:sp>
        <p:nvSpPr>
          <p:cNvPr id="10" name="">
            <a:extLst xmlns:a="http://schemas.openxmlformats.org/drawingml/2006/main">
              <a:ext uri="{FF2B5EF4-FFF2-40B4-BE49-F238E27FC236}">
                <a16:creationId xmlns:a16="http://schemas.microsoft.com/office/drawing/2014/main" id="{50141142-AE50-4EED-A4D0-2A47099E7856}"/>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C110DBE4-20D5-4BC2-B3F0-21C7E1011318}"/>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Failed routing counts an offered item, while no route means no hop energy</a:t>
            </a:r>
          </a:p>
        </p:txBody>
      </p:sp>
      <p:sp>
        <p:nvSpPr>
          <p:cNvPr id="12" name="">
            <a:extLst xmlns:a="http://schemas.openxmlformats.org/drawingml/2006/main">
              <a:ext uri="{FF2B5EF4-FFF2-40B4-BE49-F238E27FC236}">
                <a16:creationId xmlns:a16="http://schemas.microsoft.com/office/drawing/2014/main" id="{7F94467B-A5D1-40DE-81C5-95780B6345C6}"/>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22 / 38</a:t>
            </a:r>
          </a:p>
        </p:txBody>
      </p:sp>
      <p:sp>
        <p:nvSpPr>
          <p:cNvPr id="13" name="">
            <a:extLst xmlns:a="http://schemas.openxmlformats.org/drawingml/2006/main">
              <a:ext uri="{FF2B5EF4-FFF2-40B4-BE49-F238E27FC236}">
                <a16:creationId xmlns:a16="http://schemas.microsoft.com/office/drawing/2014/main" id="{34F7DB91-57DB-407F-AA57-BF351E346E52}"/>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simulation/communications.py: send; _hop_energy_cost; _record_energy; nodes.py</a:t>
            </a:r>
          </a:p>
        </p:txBody>
      </p:sp>
    </p:spTree>
    <p:extLst>
      <p:ext uri="{BB962C8B-B14F-4D97-AF65-F5344CB8AC3E}">
        <p14:creationId xmlns:p14="http://schemas.microsoft.com/office/powerpoint/2010/main" val="568570122"/>
      </p:ext>
    </p:extLst>
  </p:cSld>
</p:sld>
</file>

<file path=ppt/slides/slide2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29FA027-1D7A-4E0F-B69C-6A2AC4F150FB}"/>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Solar harvesting and migration gate</a:t>
            </a:r>
          </a:p>
        </p:txBody>
      </p:sp>
      <p:sp>
        <p:nvSpPr>
          <p:cNvPr id="2" name="">
            <a:extLst xmlns:a="http://schemas.openxmlformats.org/drawingml/2006/main">
              <a:ext uri="{FF2B5EF4-FFF2-40B4-BE49-F238E27FC236}">
                <a16:creationId xmlns:a16="http://schemas.microsoft.com/office/drawing/2014/main" id="{FA996500-EE4A-4C61-A6F2-8EE1B37B2693}"/>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897B687A-E3A5-43A1-8168-55FE3BCD06B4}"/>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Seeded node harvest = configured rate × uniform(.5, 1.5)</a:t>
            </a:r>
          </a:p>
        </p:txBody>
      </p:sp>
      <p:sp>
        <p:nvSpPr>
          <p:cNvPr id="4" name="">
            <a:extLst xmlns:a="http://schemas.openxmlformats.org/drawingml/2006/main">
              <a:ext uri="{FF2B5EF4-FFF2-40B4-BE49-F238E27FC236}">
                <a16:creationId xmlns:a16="http://schemas.microsoft.com/office/drawing/2014/main" id="{9052A6D3-741C-499E-A89E-B58A9F50AC9B}"/>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8401939F-43C2-4E4D-8A97-455951039F43}"/>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Battery capacity caps accepted harvest and records curtailed energy</a:t>
            </a:r>
          </a:p>
        </p:txBody>
      </p:sp>
      <p:sp>
        <p:nvSpPr>
          <p:cNvPr id="6" name="">
            <a:extLst xmlns:a="http://schemas.openxmlformats.org/drawingml/2006/main">
              <a:ext uri="{FF2B5EF4-FFF2-40B4-BE49-F238E27FC236}">
                <a16:creationId xmlns:a16="http://schemas.microsoft.com/office/drawing/2014/main" id="{3423DE83-DCBD-458D-9E27-F0B228143A0A}"/>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781176E5-0A37-4832-89E2-4BB276291F83}"/>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Energy-depleted nodes rejoin after reaching the reserve threshold</a:t>
            </a:r>
          </a:p>
        </p:txBody>
      </p:sp>
      <p:sp>
        <p:nvSpPr>
          <p:cNvPr id="8" name="">
            <a:extLst xmlns:a="http://schemas.openxmlformats.org/drawingml/2006/main">
              <a:ext uri="{FF2B5EF4-FFF2-40B4-BE49-F238E27FC236}">
                <a16:creationId xmlns:a16="http://schemas.microsoft.com/office/drawing/2014/main" id="{883BB64E-6E7B-4E41-9580-20475DD27E9F}"/>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A0C90E1B-268C-409A-93B5-2BB3ECD5C89C}"/>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Optional gate compares projected reserve benefit with transfer energy + margin</a:t>
            </a:r>
          </a:p>
        </p:txBody>
      </p:sp>
      <p:sp>
        <p:nvSpPr>
          <p:cNvPr id="10" name="">
            <a:extLst xmlns:a="http://schemas.openxmlformats.org/drawingml/2006/main">
              <a:ext uri="{FF2B5EF4-FFF2-40B4-BE49-F238E27FC236}">
                <a16:creationId xmlns:a16="http://schemas.microsoft.com/office/drawing/2014/main" id="{FA5188F8-40ED-45E5-958F-D5AB8F156D81}"/>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78F73B32-4944-4B8E-8A6B-4557FB33E3D1}"/>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Failure replacement bypasses the optional migration gate</a:t>
            </a:r>
          </a:p>
        </p:txBody>
      </p:sp>
      <p:sp>
        <p:nvSpPr>
          <p:cNvPr id="12" name="">
            <a:extLst xmlns:a="http://schemas.openxmlformats.org/drawingml/2006/main">
              <a:ext uri="{FF2B5EF4-FFF2-40B4-BE49-F238E27FC236}">
                <a16:creationId xmlns:a16="http://schemas.microsoft.com/office/drawing/2014/main" id="{9414B3DD-4B16-4518-8702-7688AC7F8BAB}"/>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23 / 38</a:t>
            </a:r>
          </a:p>
        </p:txBody>
      </p:sp>
      <p:sp>
        <p:nvSpPr>
          <p:cNvPr id="13" name="">
            <a:extLst xmlns:a="http://schemas.openxmlformats.org/drawingml/2006/main">
              <a:ext uri="{FF2B5EF4-FFF2-40B4-BE49-F238E27FC236}">
                <a16:creationId xmlns:a16="http://schemas.microsoft.com/office/drawing/2014/main" id="{B7960A6D-DEB3-4C2B-A7E6-B3F616CAF484}"/>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simulation/runner.py: _harvest_solar_energy; simulation/protocols.py: _solar_migration_is_worthwhile</a:t>
            </a:r>
          </a:p>
        </p:txBody>
      </p:sp>
    </p:spTree>
    <p:extLst>
      <p:ext uri="{BB962C8B-B14F-4D97-AF65-F5344CB8AC3E}">
        <p14:creationId xmlns:p14="http://schemas.microsoft.com/office/powerpoint/2010/main" val="299425880"/>
      </p:ext>
    </p:extLst>
  </p:cSld>
</p:sld>
</file>

<file path=ppt/slides/slide2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5155820B-B31E-4EDF-920D-623AC65809FA}"/>
              </a:ext>
            </a:extLst>
          </p:cNvPr>
          <p:cNvCxnSpPr>
            <a:stCxn xmlns:a="http://schemas.openxmlformats.org/drawingml/2006/main" id="9" idx="1"/>
            <a:endCxn xmlns:a="http://schemas.openxmlformats.org/drawingml/2006/main" id="11" idx="3"/>
          </p:cNvCxnSpPr>
          <p:nvPr/>
        </p:nvCxnSpPr>
        <p:spPr>
          <a:xfrm xmlns:a="http://schemas.openxmlformats.org/drawingml/2006/main" flipH="1">
            <a:off x="3543300" y="4152900"/>
            <a:ext cx="11239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10" name="">
            <a:extLst xmlns:a="http://schemas.openxmlformats.org/drawingml/2006/main">
              <a:ext uri="{FF2B5EF4-FFF2-40B4-BE49-F238E27FC236}">
                <a16:creationId xmlns:a16="http://schemas.microsoft.com/office/drawing/2014/main" id="{1F25A241-C368-45CB-9F12-13D87978EB09}"/>
              </a:ext>
            </a:extLst>
          </p:cNvPr>
          <p:cNvCxnSpPr>
            <a:stCxn xmlns:a="http://schemas.openxmlformats.org/drawingml/2006/main" id="7" idx="1"/>
            <a:endCxn xmlns:a="http://schemas.openxmlformats.org/drawingml/2006/main" id="9" idx="3"/>
          </p:cNvCxnSpPr>
          <p:nvPr/>
        </p:nvCxnSpPr>
        <p:spPr>
          <a:xfrm xmlns:a="http://schemas.openxmlformats.org/drawingml/2006/main" flipH="1">
            <a:off x="7524750" y="4152900"/>
            <a:ext cx="11239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8" name="">
            <a:extLst xmlns:a="http://schemas.openxmlformats.org/drawingml/2006/main">
              <a:ext uri="{FF2B5EF4-FFF2-40B4-BE49-F238E27FC236}">
                <a16:creationId xmlns:a16="http://schemas.microsoft.com/office/drawing/2014/main" id="{8900A15B-758B-437F-989F-79180C71ACB2}"/>
              </a:ext>
            </a:extLst>
          </p:cNvPr>
          <p:cNvCxnSpPr>
            <a:stCxn xmlns:a="http://schemas.openxmlformats.org/drawingml/2006/main" id="4" idx="2"/>
            <a:endCxn xmlns:a="http://schemas.openxmlformats.org/drawingml/2006/main" id="7" idx="0"/>
          </p:cNvCxnSpPr>
          <p:nvPr/>
        </p:nvCxnSpPr>
        <p:spPr>
          <a:xfrm xmlns:a="http://schemas.openxmlformats.org/drawingml/2006/main">
            <a:off x="10077450" y="2543175"/>
            <a:ext cx="0" cy="121920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6" name="">
            <a:extLst xmlns:a="http://schemas.openxmlformats.org/drawingml/2006/main">
              <a:ext uri="{FF2B5EF4-FFF2-40B4-BE49-F238E27FC236}">
                <a16:creationId xmlns:a16="http://schemas.microsoft.com/office/drawing/2014/main" id="{C464C7A6-06CB-4023-927E-8F913F89DB71}"/>
              </a:ext>
            </a:extLst>
          </p:cNvPr>
          <p:cNvCxnSpPr>
            <a:stCxn xmlns:a="http://schemas.openxmlformats.org/drawingml/2006/main" id="3" idx="3"/>
            <a:endCxn xmlns:a="http://schemas.openxmlformats.org/drawingml/2006/main" id="4" idx="1"/>
          </p:cNvCxnSpPr>
          <p:nvPr/>
        </p:nvCxnSpPr>
        <p:spPr>
          <a:xfrm xmlns:a="http://schemas.openxmlformats.org/drawingml/2006/main">
            <a:off x="7524750" y="2152650"/>
            <a:ext cx="11239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5" name="">
            <a:extLst xmlns:a="http://schemas.openxmlformats.org/drawingml/2006/main">
              <a:ext uri="{FF2B5EF4-FFF2-40B4-BE49-F238E27FC236}">
                <a16:creationId xmlns:a16="http://schemas.microsoft.com/office/drawing/2014/main" id="{DDE78049-78E5-443D-8481-CD249A82DA1B}"/>
              </a:ext>
            </a:extLst>
          </p:cNvPr>
          <p:cNvCxnSpPr>
            <a:stCxn xmlns:a="http://schemas.openxmlformats.org/drawingml/2006/main" id="2" idx="3"/>
            <a:endCxn xmlns:a="http://schemas.openxmlformats.org/drawingml/2006/main" id="3" idx="1"/>
          </p:cNvCxnSpPr>
          <p:nvPr/>
        </p:nvCxnSpPr>
        <p:spPr>
          <a:xfrm xmlns:a="http://schemas.openxmlformats.org/drawingml/2006/main">
            <a:off x="3543300" y="2152650"/>
            <a:ext cx="1123950" cy="0"/>
          </a:xfrm>
          <a:prstGeom xmlns:a="http://schemas.openxmlformats.org/drawingml/2006/main" prst="straightConnector1">
            <a:avLst/>
          </a:prstGeom>
          <a:ln xmlns:a="http://schemas.openxmlformats.org/drawingml/2006/main" w="19050">
            <a:solidFill>
              <a:srgbClr val="526775"/>
            </a:solidFill>
            <a:tailEnd type="triangle" w="med" len="med"/>
          </a:ln>
        </p:spPr>
      </p:cxnSp>
      <p:sp>
        <p:nvSpPr>
          <p:cNvPr id="17" name="">
            <a:extLst xmlns:a="http://schemas.openxmlformats.org/drawingml/2006/main">
              <a:ext uri="{FF2B5EF4-FFF2-40B4-BE49-F238E27FC236}">
                <a16:creationId xmlns:a16="http://schemas.microsoft.com/office/drawing/2014/main" id="{E4C0F31A-C975-41D0-B6D0-FB476A375FD6}"/>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Failure detection and role reassignment</a:t>
            </a:r>
          </a:p>
        </p:txBody>
      </p:sp>
      <p:sp>
        <p:nvSpPr>
          <p:cNvPr id="2" name="">
            <a:extLst xmlns:a="http://schemas.openxmlformats.org/drawingml/2006/main">
              <a:ext uri="{FF2B5EF4-FFF2-40B4-BE49-F238E27FC236}">
                <a16:creationId xmlns:a16="http://schemas.microsoft.com/office/drawing/2014/main" id="{D5C3E763-FC53-49B9-A914-23E4B4791E2E}"/>
              </a:ext>
            </a:extLst>
          </p:cNvPr>
          <p:cNvSpPr>
            <a:spLocks xmlns:a="http://schemas.openxmlformats.org/drawingml/2006/main" noGrp="1"/>
          </p:cNvSpPr>
          <p:nvPr/>
        </p:nvSpPr>
        <p:spPr>
          <a:xfrm xmlns:a="http://schemas.openxmlformats.org/drawingml/2006/main">
            <a:off x="685800" y="1762125"/>
            <a:ext cx="2857500" cy="781050"/>
          </a:xfrm>
          <a:prstGeom xmlns:a="http://schemas.openxmlformats.org/drawingml/2006/main" prst="rect">
            <a:avLst/>
          </a:prstGeom>
          <a:solidFill xmlns:a="http://schemas.openxmlformats.org/drawingml/2006/main">
            <a:srgbClr val="112B3C"/>
          </a:solidFill>
          <a:ln xmlns:a="http://schemas.openxmlformats.org/drawingml/2006/main" w="9525">
            <a:solidFill>
              <a:srgbClr val="112B3C"/>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Holder unavailable</a:t>
            </a:r>
          </a:p>
        </p:txBody>
      </p:sp>
      <p:sp>
        <p:nvSpPr>
          <p:cNvPr id="3" name="">
            <a:extLst xmlns:a="http://schemas.openxmlformats.org/drawingml/2006/main">
              <a:ext uri="{FF2B5EF4-FFF2-40B4-BE49-F238E27FC236}">
                <a16:creationId xmlns:a16="http://schemas.microsoft.com/office/drawing/2014/main" id="{DB1C10E3-495E-43A1-B5F2-4A167CE130C8}"/>
              </a:ext>
            </a:extLst>
          </p:cNvPr>
          <p:cNvSpPr>
            <a:spLocks xmlns:a="http://schemas.openxmlformats.org/drawingml/2006/main" noGrp="1"/>
          </p:cNvSpPr>
          <p:nvPr/>
        </p:nvSpPr>
        <p:spPr>
          <a:xfrm xmlns:a="http://schemas.openxmlformats.org/drawingml/2006/main">
            <a:off x="4667250" y="1762125"/>
            <a:ext cx="2857500" cy="78105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Wait for configured</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detection delay</a:t>
            </a:r>
          </a:p>
        </p:txBody>
      </p:sp>
      <p:sp>
        <p:nvSpPr>
          <p:cNvPr id="4" name="">
            <a:extLst xmlns:a="http://schemas.openxmlformats.org/drawingml/2006/main">
              <a:ext uri="{FF2B5EF4-FFF2-40B4-BE49-F238E27FC236}">
                <a16:creationId xmlns:a16="http://schemas.microsoft.com/office/drawing/2014/main" id="{CA1218E8-7820-41A5-9C72-1A50FAE9BBC9}"/>
              </a:ext>
            </a:extLst>
          </p:cNvPr>
          <p:cNvSpPr>
            <a:spLocks xmlns:a="http://schemas.openxmlformats.org/drawingml/2006/main" noGrp="1"/>
          </p:cNvSpPr>
          <p:nvPr/>
        </p:nvSpPr>
        <p:spPr>
          <a:xfrm xmlns:a="http://schemas.openxmlformats.org/drawingml/2006/main">
            <a:off x="8648700" y="1762125"/>
            <a:ext cx="2857500" cy="7810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Invalidate lease</a:t>
            </a:r>
          </a:p>
        </p:txBody>
      </p:sp>
      <p:sp>
        <p:nvSpPr>
          <p:cNvPr id="7" name="">
            <a:extLst xmlns:a="http://schemas.openxmlformats.org/drawingml/2006/main">
              <a:ext uri="{FF2B5EF4-FFF2-40B4-BE49-F238E27FC236}">
                <a16:creationId xmlns:a16="http://schemas.microsoft.com/office/drawing/2014/main" id="{CEBA0791-18E4-4888-94B2-485D67D7195B}"/>
              </a:ext>
            </a:extLst>
          </p:cNvPr>
          <p:cNvSpPr>
            <a:spLocks xmlns:a="http://schemas.openxmlformats.org/drawingml/2006/main" noGrp="1"/>
          </p:cNvSpPr>
          <p:nvPr/>
        </p:nvSpPr>
        <p:spPr>
          <a:xfrm xmlns:a="http://schemas.openxmlformats.org/drawingml/2006/main">
            <a:off x="8648700" y="3762375"/>
            <a:ext cx="2857500" cy="7810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Select reachable</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replacement</a:t>
            </a:r>
          </a:p>
        </p:txBody>
      </p:sp>
      <p:sp>
        <p:nvSpPr>
          <p:cNvPr id="9" name="">
            <a:extLst xmlns:a="http://schemas.openxmlformats.org/drawingml/2006/main">
              <a:ext uri="{FF2B5EF4-FFF2-40B4-BE49-F238E27FC236}">
                <a16:creationId xmlns:a16="http://schemas.microsoft.com/office/drawing/2014/main" id="{20F2E3B3-FBA5-450E-A0E5-28F10EF747EE}"/>
              </a:ext>
            </a:extLst>
          </p:cNvPr>
          <p:cNvSpPr>
            <a:spLocks xmlns:a="http://schemas.openxmlformats.org/drawingml/2006/main" noGrp="1"/>
          </p:cNvSpPr>
          <p:nvPr/>
        </p:nvSpPr>
        <p:spPr>
          <a:xfrm xmlns:a="http://schemas.openxmlformats.org/drawingml/2006/main">
            <a:off x="4667250" y="3762375"/>
            <a:ext cx="2857500" cy="7810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Send grant</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and activate lease</a:t>
            </a:r>
          </a:p>
        </p:txBody>
      </p:sp>
      <p:sp>
        <p:nvSpPr>
          <p:cNvPr id="11" name="">
            <a:extLst xmlns:a="http://schemas.openxmlformats.org/drawingml/2006/main">
              <a:ext uri="{FF2B5EF4-FFF2-40B4-BE49-F238E27FC236}">
                <a16:creationId xmlns:a16="http://schemas.microsoft.com/office/drawing/2014/main" id="{F0E17C33-2900-4A91-914E-4191F915BE76}"/>
              </a:ext>
            </a:extLst>
          </p:cNvPr>
          <p:cNvSpPr>
            <a:spLocks xmlns:a="http://schemas.openxmlformats.org/drawingml/2006/main" noGrp="1"/>
          </p:cNvSpPr>
          <p:nvPr/>
        </p:nvSpPr>
        <p:spPr>
          <a:xfrm xmlns:a="http://schemas.openxmlformats.org/drawingml/2006/main">
            <a:off x="685800" y="3762375"/>
            <a:ext cx="2857500" cy="78105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Record recovery time</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Role available again</a:t>
            </a:r>
          </a:p>
        </p:txBody>
      </p:sp>
      <p:sp>
        <p:nvSpPr>
          <p:cNvPr id="13" name="">
            <a:extLst xmlns:a="http://schemas.openxmlformats.org/drawingml/2006/main">
              <a:ext uri="{FF2B5EF4-FFF2-40B4-BE49-F238E27FC236}">
                <a16:creationId xmlns:a16="http://schemas.microsoft.com/office/drawing/2014/main" id="{2FBC1319-361C-484D-B4F8-BE916AF920F8}"/>
              </a:ext>
            </a:extLst>
          </p:cNvPr>
          <p:cNvSpPr>
            <a:spLocks xmlns:a="http://schemas.openxmlformats.org/drawingml/2006/main" noGrp="1"/>
          </p:cNvSpPr>
          <p:nvPr/>
        </p:nvSpPr>
        <p:spPr>
          <a:xfrm xmlns:a="http://schemas.openxmlformats.org/drawingml/2006/main">
            <a:off x="685800" y="50482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12B3C"/>
                </a:solidFill>
                <a:latin typeface="Arial"/>
                <a:ea typeface="Arial"/>
                <a:cs typeface="Arial"/>
              </a:defRPr>
            </a:defPPr>
          </a:lstStyle>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If replacement or grant fails: role stays unassigned and a later step retries.</a:t>
            </a:r>
          </a:p>
        </p:txBody>
      </p:sp>
      <p:sp>
        <p:nvSpPr>
          <p:cNvPr id="14" name="">
            <a:extLst xmlns:a="http://schemas.openxmlformats.org/drawingml/2006/main">
              <a:ext uri="{FF2B5EF4-FFF2-40B4-BE49-F238E27FC236}">
                <a16:creationId xmlns:a16="http://schemas.microsoft.com/office/drawing/2014/main" id="{36B17195-0C40-42D2-959F-335041058D02}"/>
              </a:ext>
            </a:extLst>
          </p:cNvPr>
          <p:cNvSpPr>
            <a:spLocks xmlns:a="http://schemas.openxmlformats.org/drawingml/2006/main" noGrp="1"/>
          </p:cNvSpPr>
          <p:nvPr/>
        </p:nvSpPr>
        <p:spPr>
          <a:xfrm xmlns:a="http://schemas.openxmlformats.org/drawingml/2006/main">
            <a:off x="685800" y="59055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775"/>
                </a:solidFill>
                <a:latin typeface="Arial"/>
                <a:ea typeface="Arial"/>
                <a:cs typeface="Arial"/>
              </a:defRPr>
            </a:defPPr>
          </a:lstStyle>
          <a:p xmlns:a="http://schemas.openxmlformats.org/drawingml/2006/main">
            <a:pPr>
              <a:defRPr sz="1800" b="0">
                <a:solidFill>
                  <a:srgbClr val="526775"/>
                </a:solidFill>
                <a:latin typeface="Arial"/>
                <a:ea typeface="Arial"/>
                <a:cs typeface="Arial"/>
              </a:defRPr>
            </a:pPr>
            <a:r>
              <a:rPr sz="1800" b="0">
                <a:solidFill>
                  <a:srgbClr val="526775"/>
                </a:solidFill>
                <a:latin typeface="Arial"/>
                <a:ea typeface="Arial"/>
                <a:cs typeface="Arial"/>
              </a:rPr>
              <a:t>Emergency assignment bypasses the optional solar gate for discretionary migration.</a:t>
            </a:r>
          </a:p>
        </p:txBody>
      </p:sp>
      <p:sp>
        <p:nvSpPr>
          <p:cNvPr id="15" name="">
            <a:extLst xmlns:a="http://schemas.openxmlformats.org/drawingml/2006/main">
              <a:ext uri="{FF2B5EF4-FFF2-40B4-BE49-F238E27FC236}">
                <a16:creationId xmlns:a16="http://schemas.microsoft.com/office/drawing/2014/main" id="{2084E773-5E2C-4233-A5ED-F32FDF98B2CB}"/>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24 / 38</a:t>
            </a:r>
          </a:p>
        </p:txBody>
      </p:sp>
      <p:sp>
        <p:nvSpPr>
          <p:cNvPr id="16" name="">
            <a:extLst xmlns:a="http://schemas.openxmlformats.org/drawingml/2006/main">
              <a:ext uri="{FF2B5EF4-FFF2-40B4-BE49-F238E27FC236}">
                <a16:creationId xmlns:a16="http://schemas.microsoft.com/office/drawing/2014/main" id="{88AC359A-DE31-455D-A455-0AB9AD426561}"/>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simulation/protocols.py: step; _invalidate; _assign; simulation/runner.py: holder_unavailable_since</a:t>
            </a:r>
          </a:p>
        </p:txBody>
      </p:sp>
    </p:spTree>
    <p:extLst>
      <p:ext uri="{BB962C8B-B14F-4D97-AF65-F5344CB8AC3E}">
        <p14:creationId xmlns:p14="http://schemas.microsoft.com/office/powerpoint/2010/main" val="333338439"/>
      </p:ext>
    </p:extLst>
  </p:cSld>
</p:sld>
</file>

<file path=ppt/slides/slide2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CC781097-FFF6-4574-8D33-ABB8AB36533C}"/>
              </a:ext>
            </a:extLst>
          </p:cNvPr>
          <p:cNvCxnSpPr>
            <a:stCxn xmlns:a="http://schemas.openxmlformats.org/drawingml/2006/main" id="4" idx="3"/>
            <a:endCxn xmlns:a="http://schemas.openxmlformats.org/drawingml/2006/main" id="5" idx="1"/>
          </p:cNvCxnSpPr>
          <p:nvPr/>
        </p:nvCxnSpPr>
        <p:spPr>
          <a:xfrm xmlns:a="http://schemas.openxmlformats.org/drawingml/2006/main">
            <a:off x="8639175" y="2524125"/>
            <a:ext cx="3238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7" name="">
            <a:extLst xmlns:a="http://schemas.openxmlformats.org/drawingml/2006/main">
              <a:ext uri="{FF2B5EF4-FFF2-40B4-BE49-F238E27FC236}">
                <a16:creationId xmlns:a16="http://schemas.microsoft.com/office/drawing/2014/main" id="{7A4AF496-AF89-4101-895C-F35A03C42059}"/>
              </a:ext>
            </a:extLst>
          </p:cNvPr>
          <p:cNvCxnSpPr>
            <a:stCxn xmlns:a="http://schemas.openxmlformats.org/drawingml/2006/main" id="3" idx="3"/>
            <a:endCxn xmlns:a="http://schemas.openxmlformats.org/drawingml/2006/main" id="4" idx="1"/>
          </p:cNvCxnSpPr>
          <p:nvPr/>
        </p:nvCxnSpPr>
        <p:spPr>
          <a:xfrm xmlns:a="http://schemas.openxmlformats.org/drawingml/2006/main">
            <a:off x="5934075" y="2524125"/>
            <a:ext cx="3238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6" name="">
            <a:extLst xmlns:a="http://schemas.openxmlformats.org/drawingml/2006/main">
              <a:ext uri="{FF2B5EF4-FFF2-40B4-BE49-F238E27FC236}">
                <a16:creationId xmlns:a16="http://schemas.microsoft.com/office/drawing/2014/main" id="{957CBD64-67DE-4BD8-BA1D-DE6B981FE9BE}"/>
              </a:ext>
            </a:extLst>
          </p:cNvPr>
          <p:cNvCxnSpPr>
            <a:stCxn xmlns:a="http://schemas.openxmlformats.org/drawingml/2006/main" id="2" idx="3"/>
            <a:endCxn xmlns:a="http://schemas.openxmlformats.org/drawingml/2006/main" id="3" idx="1"/>
          </p:cNvCxnSpPr>
          <p:nvPr/>
        </p:nvCxnSpPr>
        <p:spPr>
          <a:xfrm xmlns:a="http://schemas.openxmlformats.org/drawingml/2006/main">
            <a:off x="3228975" y="2524125"/>
            <a:ext cx="323850" cy="0"/>
          </a:xfrm>
          <a:prstGeom xmlns:a="http://schemas.openxmlformats.org/drawingml/2006/main" prst="straightConnector1">
            <a:avLst/>
          </a:prstGeom>
          <a:ln xmlns:a="http://schemas.openxmlformats.org/drawingml/2006/main" w="19050">
            <a:solidFill>
              <a:srgbClr val="526775"/>
            </a:solidFill>
            <a:tailEnd type="triangle" w="med" len="med"/>
          </a:ln>
        </p:spPr>
      </p:cxnSp>
      <p:sp>
        <p:nvSpPr>
          <p:cNvPr id="13" name="">
            <a:extLst xmlns:a="http://schemas.openxmlformats.org/drawingml/2006/main">
              <a:ext uri="{FF2B5EF4-FFF2-40B4-BE49-F238E27FC236}">
                <a16:creationId xmlns:a16="http://schemas.microsoft.com/office/drawing/2014/main" id="{8F73A708-FFF1-4DBC-BEC1-5FC97CFD8100}"/>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Data flow and persistence</a:t>
            </a:r>
          </a:p>
        </p:txBody>
      </p:sp>
      <p:sp>
        <p:nvSpPr>
          <p:cNvPr id="2" name="">
            <a:extLst xmlns:a="http://schemas.openxmlformats.org/drawingml/2006/main">
              <a:ext uri="{FF2B5EF4-FFF2-40B4-BE49-F238E27FC236}">
                <a16:creationId xmlns:a16="http://schemas.microsoft.com/office/drawing/2014/main" id="{DDC1A856-A018-4602-8B30-B870C3BB4B00}"/>
              </a:ext>
            </a:extLst>
          </p:cNvPr>
          <p:cNvSpPr>
            <a:spLocks xmlns:a="http://schemas.openxmlformats.org/drawingml/2006/main" noGrp="1"/>
          </p:cNvSpPr>
          <p:nvPr/>
        </p:nvSpPr>
        <p:spPr>
          <a:xfrm xmlns:a="http://schemas.openxmlformats.org/drawingml/2006/main">
            <a:off x="847725" y="2000250"/>
            <a:ext cx="2381250" cy="10477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Online sensor</a:t>
            </a:r>
          </a:p>
        </p:txBody>
      </p:sp>
      <p:sp>
        <p:nvSpPr>
          <p:cNvPr id="3" name="">
            <a:extLst xmlns:a="http://schemas.openxmlformats.org/drawingml/2006/main">
              <a:ext uri="{FF2B5EF4-FFF2-40B4-BE49-F238E27FC236}">
                <a16:creationId xmlns:a16="http://schemas.microsoft.com/office/drawing/2014/main" id="{786E1A61-95EE-4FCB-9715-EB8AF46E01F3}"/>
              </a:ext>
            </a:extLst>
          </p:cNvPr>
          <p:cNvSpPr>
            <a:spLocks xmlns:a="http://schemas.openxmlformats.org/drawingml/2006/main" noGrp="1"/>
          </p:cNvSpPr>
          <p:nvPr/>
        </p:nvSpPr>
        <p:spPr>
          <a:xfrm xmlns:a="http://schemas.openxmlformats.org/drawingml/2006/main">
            <a:off x="3552825" y="2000250"/>
            <a:ext cx="2381250" cy="10477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Subnet gateway</a:t>
            </a:r>
          </a:p>
        </p:txBody>
      </p:sp>
      <p:sp>
        <p:nvSpPr>
          <p:cNvPr id="4" name="">
            <a:extLst xmlns:a="http://schemas.openxmlformats.org/drawingml/2006/main">
              <a:ext uri="{FF2B5EF4-FFF2-40B4-BE49-F238E27FC236}">
                <a16:creationId xmlns:a16="http://schemas.microsoft.com/office/drawing/2014/main" id="{8D67B1FE-D5D5-40AB-B6DC-225C245FA217}"/>
              </a:ext>
            </a:extLst>
          </p:cNvPr>
          <p:cNvSpPr>
            <a:spLocks xmlns:a="http://schemas.openxmlformats.org/drawingml/2006/main" noGrp="1"/>
          </p:cNvSpPr>
          <p:nvPr/>
        </p:nvSpPr>
        <p:spPr>
          <a:xfrm xmlns:a="http://schemas.openxmlformats.org/drawingml/2006/main">
            <a:off x="6257925" y="2000250"/>
            <a:ext cx="2381250" cy="10477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Network gateway</a:t>
            </a:r>
          </a:p>
        </p:txBody>
      </p:sp>
      <p:sp>
        <p:nvSpPr>
          <p:cNvPr id="5" name="">
            <a:extLst xmlns:a="http://schemas.openxmlformats.org/drawingml/2006/main">
              <a:ext uri="{FF2B5EF4-FFF2-40B4-BE49-F238E27FC236}">
                <a16:creationId xmlns:a16="http://schemas.microsoft.com/office/drawing/2014/main" id="{E7BFDAC9-33C6-4D28-953C-5C3AD7E605C2}"/>
              </a:ext>
            </a:extLst>
          </p:cNvPr>
          <p:cNvSpPr>
            <a:spLocks xmlns:a="http://schemas.openxmlformats.org/drawingml/2006/main" noGrp="1"/>
          </p:cNvSpPr>
          <p:nvPr/>
        </p:nvSpPr>
        <p:spPr>
          <a:xfrm xmlns:a="http://schemas.openxmlformats.org/drawingml/2006/main">
            <a:off x="8963025" y="2000250"/>
            <a:ext cx="2381250" cy="10477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Internetwork gateway</a:t>
            </a:r>
          </a:p>
        </p:txBody>
      </p:sp>
      <p:sp>
        <p:nvSpPr>
          <p:cNvPr id="9" name="">
            <a:extLst xmlns:a="http://schemas.openxmlformats.org/drawingml/2006/main">
              <a:ext uri="{FF2B5EF4-FFF2-40B4-BE49-F238E27FC236}">
                <a16:creationId xmlns:a16="http://schemas.microsoft.com/office/drawing/2014/main" id="{D91D6A0C-4352-49D8-9CB4-63CE272C61D0}"/>
              </a:ext>
            </a:extLst>
          </p:cNvPr>
          <p:cNvSpPr>
            <a:spLocks xmlns:a="http://schemas.openxmlformats.org/drawingml/2006/main" noGrp="1"/>
          </p:cNvSpPr>
          <p:nvPr/>
        </p:nvSpPr>
        <p:spPr>
          <a:xfrm xmlns:a="http://schemas.openxmlformats.org/drawingml/2006/main">
            <a:off x="723900" y="39052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007F7B"/>
                </a:solidFill>
                <a:latin typeface="Arial"/>
                <a:ea typeface="Arial"/>
                <a:cs typeface="Arial"/>
              </a:defRPr>
            </a:defPPr>
          </a:lstStyle>
          <a:p xmlns:a="http://schemas.openxmlformats.org/drawingml/2006/main">
            <a:pPr>
              <a:defRPr sz="2400" b="1">
                <a:solidFill>
                  <a:srgbClr val="007F7B"/>
                </a:solidFill>
                <a:latin typeface="Arial"/>
                <a:ea typeface="Arial"/>
                <a:cs typeface="Arial"/>
              </a:defRPr>
            </a:pPr>
            <a:r>
              <a:rPr sz="2400" b="1">
                <a:solidFill>
                  <a:srgbClr val="007F7B"/>
                </a:solidFill>
                <a:latin typeface="Arial"/>
                <a:ea typeface="Arial"/>
                <a:cs typeface="Arial"/>
              </a:rPr>
              <a:t>Sensor delivery measures the subnet leg.</a:t>
            </a:r>
          </a:p>
        </p:txBody>
      </p:sp>
      <p:sp>
        <p:nvSpPr>
          <p:cNvPr id="10" name="">
            <a:extLst xmlns:a="http://schemas.openxmlformats.org/drawingml/2006/main">
              <a:ext uri="{FF2B5EF4-FFF2-40B4-BE49-F238E27FC236}">
                <a16:creationId xmlns:a16="http://schemas.microsoft.com/office/drawing/2014/main" id="{BE80078F-7444-4F67-B42D-546CE0753BFB}"/>
              </a:ext>
            </a:extLst>
          </p:cNvPr>
          <p:cNvSpPr>
            <a:spLocks xmlns:a="http://schemas.openxmlformats.org/drawingml/2006/main" noGrp="1"/>
          </p:cNvSpPr>
          <p:nvPr/>
        </p:nvSpPr>
        <p:spPr>
          <a:xfrm xmlns:a="http://schemas.openxmlformats.org/drawingml/2006/main">
            <a:off x="723900" y="47625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Optional backhaul sends aggregates. Counters become CSV, PNG, and NPZ files.</a:t>
            </a:r>
          </a:p>
        </p:txBody>
      </p:sp>
      <p:sp>
        <p:nvSpPr>
          <p:cNvPr id="11" name="">
            <a:extLst xmlns:a="http://schemas.openxmlformats.org/drawingml/2006/main">
              <a:ext uri="{FF2B5EF4-FFF2-40B4-BE49-F238E27FC236}">
                <a16:creationId xmlns:a16="http://schemas.microsoft.com/office/drawing/2014/main" id="{96E69B29-5382-4BA5-A054-3B5E653DAC7C}"/>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25 / 38</a:t>
            </a:r>
          </a:p>
        </p:txBody>
      </p:sp>
      <p:sp>
        <p:nvSpPr>
          <p:cNvPr id="12" name="">
            <a:extLst xmlns:a="http://schemas.openxmlformats.org/drawingml/2006/main">
              <a:ext uri="{FF2B5EF4-FFF2-40B4-BE49-F238E27FC236}">
                <a16:creationId xmlns:a16="http://schemas.microsoft.com/office/drawing/2014/main" id="{690C0D6C-8B88-410B-A1D3-795F7CDADE85}"/>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simulation/runner.py: _route_sensor_traffic; simulation/metrics.py; simulation/experiments.py</a:t>
            </a:r>
          </a:p>
        </p:txBody>
      </p:sp>
    </p:spTree>
    <p:extLst>
      <p:ext uri="{BB962C8B-B14F-4D97-AF65-F5344CB8AC3E}">
        <p14:creationId xmlns:p14="http://schemas.microsoft.com/office/powerpoint/2010/main" val="1796765905"/>
      </p:ext>
    </p:extLst>
  </p:cSld>
</p:sld>
</file>

<file path=ppt/slides/slide2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0AC96CC-FDE3-4372-9520-5299D9D1766A}"/>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Internal interfaces and failure handling</a:t>
            </a:r>
          </a:p>
        </p:txBody>
      </p:sp>
      <p:graphicFrame>
        <p:nvGraphicFramePr>
          <p:cNvPr id="2" name="">
            <a:extLst xmlns:a="http://schemas.openxmlformats.org/drawingml/2006/main">
              <a:ext uri="{FF2B5EF4-FFF2-40B4-BE49-F238E27FC236}">
                <a16:creationId xmlns:a16="http://schemas.microsoft.com/office/drawing/2014/main" id="{1F328899-41B8-4B13-9E02-4B49D3895854}"/>
              </a:ext>
            </a:extLst>
          </p:cNvPr>
          <p:cNvGraphicFramePr/>
          <p:nvPr/>
        </p:nvGraphicFramePr>
        <p:xfrm>
          <a:off xmlns:a="http://schemas.openxmlformats.org/drawingml/2006/main" x="609600" y="1714500"/>
          <a:ext xmlns:a="http://schemas.openxmlformats.org/drawingml/2006/main" cx="10972800" cy="3619500"/>
        </p:xfrm>
        <a:graphic xmlns:a="http://schemas.openxmlformats.org/drawingml/2006/main">
          <a:graphicData uri="http://schemas.openxmlformats.org/drawingml/2006/table">
            <a:tbl>
              <a:tblPr/>
              <a:tblGrid>
                <a:gridCol w="3657600"/>
                <a:gridCol w="3657600"/>
                <a:gridCol w="3657600"/>
              </a:tblGrid>
              <a:tr h="603250">
                <a:tc>
                  <a:txBody>
                    <a:bodyPr lIns="114300" tIns="114300" rIns="114300" bIns="114300"/>
                    <a:lstStyle/>
                    <a:p>
                      <a:r>
                        <a:rPr sz="1800" b="1">
                          <a:solidFill>
                            <a:srgbClr val="FFFFFF"/>
                          </a:solidFill>
                          <a:latin typeface="Arial"/>
                          <a:ea typeface="Arial"/>
                          <a:cs typeface="Arial"/>
                        </a:rPr>
                        <a:t>Interface</a:t>
                      </a:r>
                    </a:p>
                  </a:txBody>
                  <a:tcPr marL="91440" marR="91440" marT="45720" marB="45720" anchor="ctr">
                    <a:lnL w="9525">
                      <a:solidFill>
                        <a:srgbClr val="C9D6DD"/>
                      </a:solidFill>
                      <a:prstDash val="solid"/>
                    </a:lnL>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800" b="1">
                          <a:solidFill>
                            <a:srgbClr val="FFFFFF"/>
                          </a:solidFill>
                          <a:latin typeface="Arial"/>
                          <a:ea typeface="Arial"/>
                          <a:cs typeface="Arial"/>
                        </a:rPr>
                        <a:t>Input</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800" b="1">
                          <a:solidFill>
                            <a:srgbClr val="FFFFFF"/>
                          </a:solidFill>
                          <a:latin typeface="Arial"/>
                          <a:ea typeface="Arial"/>
                          <a:cs typeface="Arial"/>
                        </a:rPr>
                        <a:t>Output / failure</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r>
              <a:tr h="603250">
                <a:tc>
                  <a:txBody>
                    <a:bodyPr lIns="114300" tIns="114300" rIns="114300" bIns="114300"/>
                    <a:lstStyle/>
                    <a:p>
                      <a:r>
                        <a:rPr sz="1800" b="0">
                          <a:solidFill>
                            <a:srgbClr val="112B3C"/>
                          </a:solidFill>
                          <a:latin typeface="Arial"/>
                          <a:ea typeface="Arial"/>
                          <a:cs typeface="Arial"/>
                        </a:rPr>
                        <a:t>RoleSimulationModel(config, protocol, schedule)</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Validated world and events</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One simulation world / ValueError</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603250">
                <a:tc>
                  <a:txBody>
                    <a:bodyPr lIns="114300" tIns="114300" rIns="114300" bIns="114300"/>
                    <a:lstStyle/>
                    <a:p>
                      <a:r>
                        <a:rPr sz="1800" b="0">
                          <a:solidFill>
                            <a:srgbClr val="112B3C"/>
                          </a:solidFill>
                          <a:latin typeface="Arial"/>
                          <a:ea typeface="Arial"/>
                          <a:cs typeface="Arial"/>
                        </a:rPr>
                        <a:t>run_steps()</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Optional bounded step count</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State and metric records</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603250">
                <a:tc>
                  <a:txBody>
                    <a:bodyPr lIns="114300" tIns="114300" rIns="114300" bIns="114300"/>
                    <a:lstStyle/>
                    <a:p>
                      <a:r>
                        <a:rPr sz="1800" b="0">
                          <a:solidFill>
                            <a:srgbClr val="112B3C"/>
                          </a:solidFill>
                          <a:latin typeface="Arial"/>
                          <a:ea typeface="Arial"/>
                          <a:cs typeface="Arial"/>
                        </a:rPr>
                        <a:t>find_route(source, destination)</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Physical integer node IDs</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RouteResult or None</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603250">
                <a:tc>
                  <a:txBody>
                    <a:bodyPr lIns="114300" tIns="114300" rIns="114300" bIns="114300"/>
                    <a:lstStyle/>
                    <a:p>
                      <a:r>
                        <a:rPr sz="1800" b="0">
                          <a:solidFill>
                            <a:srgbClr val="112B3C"/>
                          </a:solidFill>
                          <a:latin typeface="Arial"/>
                          <a:ea typeface="Arial"/>
                          <a:cs typeface="Arial"/>
                        </a:rPr>
                        <a:t>ProtocolEngine.assignments</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(role, scope) key</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Lease object or absent key</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603250">
                <a:tc>
                  <a:txBody>
                    <a:bodyPr lIns="114300" tIns="114300" rIns="114300" bIns="114300"/>
                    <a:lstStyle/>
                    <a:p>
                      <a:r>
                        <a:rPr sz="1800" b="0">
                          <a:solidFill>
                            <a:srgbClr val="112B3C"/>
                          </a:solidFill>
                          <a:latin typeface="Arial"/>
                          <a:ea typeface="Arial"/>
                          <a:cs typeface="Arial"/>
                        </a:rPr>
                        <a:t>MetricsRecorder.summary(scenario, seed)</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Run labels</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Metric dictionary</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4530C9BA-8E01-447D-AAA5-DA8C837E2E9E}"/>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26 / 38</a:t>
            </a:r>
          </a:p>
        </p:txBody>
      </p:sp>
      <p:sp>
        <p:nvSpPr>
          <p:cNvPr id="4" name="">
            <a:extLst xmlns:a="http://schemas.openxmlformats.org/drawingml/2006/main">
              <a:ext uri="{FF2B5EF4-FFF2-40B4-BE49-F238E27FC236}">
                <a16:creationId xmlns:a16="http://schemas.microsoft.com/office/drawing/2014/main" id="{AB2EC2F3-4567-49B6-BB15-9DC1037BAB6C}"/>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simulation/config.py; simulation/events.py; simulation/runner.py; simulation/communications.py</a:t>
            </a:r>
          </a:p>
        </p:txBody>
      </p:sp>
    </p:spTree>
    <p:extLst>
      <p:ext uri="{BB962C8B-B14F-4D97-AF65-F5344CB8AC3E}">
        <p14:creationId xmlns:p14="http://schemas.microsoft.com/office/powerpoint/2010/main" val="1739355966"/>
      </p:ext>
    </p:extLst>
  </p:cSld>
</p:sld>
</file>

<file path=ppt/slides/slide2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7C1F175-4C73-43C9-8179-F3AEB9DB8E70}"/>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Actual application outputs</a:t>
            </a:r>
          </a:p>
        </p:txBody>
      </p:sp>
      <p:pic>
        <p:nvPicPr>
          <p:cNvPr id="2" name="">
            <a:extLst xmlns:a="http://schemas.openxmlformats.org/drawingml/2006/main">
              <a:ext uri="{FF2B5EF4-FFF2-40B4-BE49-F238E27FC236}">
                <a16:creationId xmlns:a16="http://schemas.microsoft.com/office/drawing/2014/main" id="{BD7A96F5-4A83-4324-B4A6-5BC037E005DD}"/>
              </a:ext>
            </a:extLst>
          </p:cNvPr>
          <p:cNvPicPr>
            <a:picLocks xmlns:a="http://schemas.openxmlformats.org/drawingml/2006/main" noChangeAspect="1"/>
          </p:cNvPicPr>
          <p:nvPr/>
        </p:nvPicPr>
        <p:blipFill>
          <a:blip xmlns:r="http://schemas.openxmlformats.org/officeDocument/2006/relationships" xmlns:a="http://schemas.openxmlformats.org/drawingml/2006/main" r:embed="R06dd354bae934d18"/>
          <a:stretch xmlns:a="http://schemas.openxmlformats.org/drawingml/2006/main"/>
        </p:blipFill>
        <p:spPr>
          <a:xfrm xmlns:a="http://schemas.openxmlformats.org/drawingml/2006/main">
            <a:off x="2910417" y="1524000"/>
            <a:ext cx="6371167" cy="40957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CA822CD-AA7A-4F8A-9AAE-33E9D750740A}"/>
              </a:ext>
            </a:extLst>
          </p:cNvPr>
          <p:cNvSpPr>
            <a:spLocks xmlns:a="http://schemas.openxmlformats.org/drawingml/2006/main" noGrp="1"/>
          </p:cNvSpPr>
          <p:nvPr/>
        </p:nvSpPr>
        <p:spPr>
          <a:xfrm xmlns:a="http://schemas.openxmlformats.org/drawingml/2006/main">
            <a:off x="685800" y="57626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526775"/>
                </a:solidFill>
                <a:latin typeface="Arial"/>
                <a:ea typeface="Arial"/>
                <a:cs typeface="Arial"/>
              </a:defRPr>
            </a:defPPr>
          </a:lstStyle>
          <a:p xmlns:a="http://schemas.openxmlformats.org/drawingml/2006/main">
            <a:pPr>
              <a:defRPr sz="1725" b="0">
                <a:solidFill>
                  <a:srgbClr val="526775"/>
                </a:solidFill>
                <a:latin typeface="Arial"/>
                <a:ea typeface="Arial"/>
                <a:cs typeface="Arial"/>
              </a:defRPr>
            </a:pPr>
            <a:r>
              <a:rPr sz="1725" b="0">
                <a:solidFill>
                  <a:srgbClr val="526775"/>
                </a:solidFill>
                <a:latin typeface="Arial"/>
                <a:ea typeface="Arial"/>
                <a:cs typeface="Arial"/>
              </a:rPr>
              <a:t>Genuine saved output. No graphical application UI is implemented.</a:t>
            </a:r>
          </a:p>
        </p:txBody>
      </p:sp>
      <p:sp>
        <p:nvSpPr>
          <p:cNvPr id="4" name="">
            <a:extLst xmlns:a="http://schemas.openxmlformats.org/drawingml/2006/main">
              <a:ext uri="{FF2B5EF4-FFF2-40B4-BE49-F238E27FC236}">
                <a16:creationId xmlns:a16="http://schemas.microsoft.com/office/drawing/2014/main" id="{0C679EF5-7363-42F9-9ABF-B28453F9B0A4}"/>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27 / 38</a:t>
            </a:r>
          </a:p>
        </p:txBody>
      </p:sp>
      <p:sp>
        <p:nvSpPr>
          <p:cNvPr id="5" name="">
            <a:extLst xmlns:a="http://schemas.openxmlformats.org/drawingml/2006/main">
              <a:ext uri="{FF2B5EF4-FFF2-40B4-BE49-F238E27FC236}">
                <a16:creationId xmlns:a16="http://schemas.microsoft.com/office/drawing/2014/main" id="{56CE5747-B68A-41E5-8F21-D012B990FE45}"/>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patent-study/results_20000/sensor_delivery.png; simulation/main.py</a:t>
            </a:r>
          </a:p>
        </p:txBody>
      </p:sp>
    </p:spTree>
    <p:extLst>
      <p:ext uri="{BB962C8B-B14F-4D97-AF65-F5344CB8AC3E}">
        <p14:creationId xmlns:p14="http://schemas.microsoft.com/office/powerpoint/2010/main" val="1141704336"/>
      </p:ext>
    </p:extLst>
  </p:cSld>
</p:sld>
</file>

<file path=ppt/slides/slide2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1C63D31-AC94-4E6A-956B-CA41DD43DA1D}"/>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Demonstration workflow</a:t>
            </a:r>
          </a:p>
        </p:txBody>
      </p:sp>
      <p:sp>
        <p:nvSpPr>
          <p:cNvPr id="2" name="">
            <a:extLst xmlns:a="http://schemas.openxmlformats.org/drawingml/2006/main">
              <a:ext uri="{FF2B5EF4-FFF2-40B4-BE49-F238E27FC236}">
                <a16:creationId xmlns:a16="http://schemas.microsoft.com/office/drawing/2014/main" id="{DC1F6542-5D8A-4F6E-BCDC-F25EE98F2858}"/>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D5F2A41F-FF02-4E85-B595-2E7306A5C808}"/>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1  Run a short matched experiment with seed 42</a:t>
            </a:r>
          </a:p>
        </p:txBody>
      </p:sp>
      <p:sp>
        <p:nvSpPr>
          <p:cNvPr id="4" name="">
            <a:extLst xmlns:a="http://schemas.openxmlformats.org/drawingml/2006/main">
              <a:ext uri="{FF2B5EF4-FFF2-40B4-BE49-F238E27FC236}">
                <a16:creationId xmlns:a16="http://schemas.microsoft.com/office/drawing/2014/main" id="{20729369-5D6A-4A8B-88AA-23BB88811DA1}"/>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60407677-61F2-403B-AEDD-220EA19AD9AE}"/>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2  Compare proposed and hierarchical under node_failures</a:t>
            </a:r>
          </a:p>
        </p:txBody>
      </p:sp>
      <p:sp>
        <p:nvSpPr>
          <p:cNvPr id="6" name="">
            <a:extLst xmlns:a="http://schemas.openxmlformats.org/drawingml/2006/main">
              <a:ext uri="{FF2B5EF4-FFF2-40B4-BE49-F238E27FC236}">
                <a16:creationId xmlns:a16="http://schemas.microsoft.com/office/drawing/2014/main" id="{E18208F4-B4D1-499C-A780-F2C57560CFD8}"/>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AF4E00F8-9CBE-4CB6-BB8A-405EA1C6805D}"/>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3  Inspect summary.csv for delivery and role continuity</a:t>
            </a:r>
          </a:p>
        </p:txBody>
      </p:sp>
      <p:sp>
        <p:nvSpPr>
          <p:cNvPr id="8" name="">
            <a:extLst xmlns:a="http://schemas.openxmlformats.org/drawingml/2006/main">
              <a:ext uri="{FF2B5EF4-FFF2-40B4-BE49-F238E27FC236}">
                <a16:creationId xmlns:a16="http://schemas.microsoft.com/office/drawing/2014/main" id="{FA3322B8-0A76-4A55-BF71-A7DBE23F47C2}"/>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790A6A6F-2BD7-45E1-A7F3-8BB0478D6B67}"/>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4  Inspect migration and time-series CSVs around failure / recovery</a:t>
            </a:r>
          </a:p>
        </p:txBody>
      </p:sp>
      <p:sp>
        <p:nvSpPr>
          <p:cNvPr id="10" name="">
            <a:extLst xmlns:a="http://schemas.openxmlformats.org/drawingml/2006/main">
              <a:ext uri="{FF2B5EF4-FFF2-40B4-BE49-F238E27FC236}">
                <a16:creationId xmlns:a16="http://schemas.microsoft.com/office/drawing/2014/main" id="{4B6E948E-B223-4D9C-91BD-5E79462EB93F}"/>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8FF3D015-1DFE-4D45-BEA1-9567A1FA7429}"/>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5  Use the full study only when explaining long-horizon findings</a:t>
            </a:r>
          </a:p>
        </p:txBody>
      </p:sp>
      <p:sp>
        <p:nvSpPr>
          <p:cNvPr id="12" name="">
            <a:extLst xmlns:a="http://schemas.openxmlformats.org/drawingml/2006/main">
              <a:ext uri="{FF2B5EF4-FFF2-40B4-BE49-F238E27FC236}">
                <a16:creationId xmlns:a16="http://schemas.microsoft.com/office/drawing/2014/main" id="{29B1C97D-0322-4F27-8D14-F35F0B09E95A}"/>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28 / 38</a:t>
            </a:r>
          </a:p>
        </p:txBody>
      </p:sp>
      <p:sp>
        <p:nvSpPr>
          <p:cNvPr id="13" name="">
            <a:extLst xmlns:a="http://schemas.openxmlformats.org/drawingml/2006/main">
              <a:ext uri="{FF2B5EF4-FFF2-40B4-BE49-F238E27FC236}">
                <a16:creationId xmlns:a16="http://schemas.microsoft.com/office/drawing/2014/main" id="{466F42A7-8190-4240-B8BF-15D9C2325D89}"/>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simulation/main.py; simulation/events.py; simulation/experiments.py</a:t>
            </a:r>
          </a:p>
        </p:txBody>
      </p:sp>
    </p:spTree>
    <p:extLst>
      <p:ext uri="{BB962C8B-B14F-4D97-AF65-F5344CB8AC3E}">
        <p14:creationId xmlns:p14="http://schemas.microsoft.com/office/powerpoint/2010/main" val="1229238485"/>
      </p:ext>
    </p:extLst>
  </p:cSld>
</p:sld>
</file>

<file path=ppt/slides/slide29.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B41AF9C-EC90-4140-97F6-AF325ED9CFE1}"/>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Technical challenges and solutions</a:t>
            </a:r>
          </a:p>
        </p:txBody>
      </p:sp>
      <p:graphicFrame>
        <p:nvGraphicFramePr>
          <p:cNvPr id="2" name="">
            <a:extLst xmlns:a="http://schemas.openxmlformats.org/drawingml/2006/main">
              <a:ext uri="{FF2B5EF4-FFF2-40B4-BE49-F238E27FC236}">
                <a16:creationId xmlns:a16="http://schemas.microsoft.com/office/drawing/2014/main" id="{98719EF3-1592-4059-974E-6BF5DC7AA747}"/>
              </a:ext>
            </a:extLst>
          </p:cNvPr>
          <p:cNvGraphicFramePr/>
          <p:nvPr/>
        </p:nvGraphicFramePr>
        <p:xfrm>
          <a:off xmlns:a="http://schemas.openxmlformats.org/drawingml/2006/main" x="609600" y="1714500"/>
          <a:ext xmlns:a="http://schemas.openxmlformats.org/drawingml/2006/main" cx="10972800" cy="3619500"/>
        </p:xfrm>
        <a:graphic xmlns:a="http://schemas.openxmlformats.org/drawingml/2006/main">
          <a:graphicData uri="http://schemas.openxmlformats.org/drawingml/2006/table">
            <a:tbl>
              <a:tblPr/>
              <a:tblGrid>
                <a:gridCol w="5486400"/>
                <a:gridCol w="5486400"/>
              </a:tblGrid>
              <a:tr h="603250">
                <a:tc>
                  <a:txBody>
                    <a:bodyPr lIns="114300" tIns="114300" rIns="114300" bIns="114300"/>
                    <a:lstStyle/>
                    <a:p>
                      <a:r>
                        <a:rPr sz="1800" b="1">
                          <a:solidFill>
                            <a:srgbClr val="FFFFFF"/>
                          </a:solidFill>
                          <a:latin typeface="Arial"/>
                          <a:ea typeface="Arial"/>
                          <a:cs typeface="Arial"/>
                        </a:rPr>
                        <a:t>Challenge</a:t>
                      </a:r>
                    </a:p>
                  </a:txBody>
                  <a:tcPr marL="91440" marR="91440" marT="45720" marB="45720" anchor="ctr">
                    <a:lnL w="9525">
                      <a:solidFill>
                        <a:srgbClr val="C9D6DD"/>
                      </a:solidFill>
                      <a:prstDash val="solid"/>
                    </a:lnL>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800" b="1">
                          <a:solidFill>
                            <a:srgbClr val="FFFFFF"/>
                          </a:solidFill>
                          <a:latin typeface="Arial"/>
                          <a:ea typeface="Arial"/>
                          <a:cs typeface="Arial"/>
                        </a:rPr>
                        <a:t>Implementation response</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r>
              <a:tr h="603250">
                <a:tc>
                  <a:txBody>
                    <a:bodyPr lIns="114300" tIns="114300" rIns="114300" bIns="114300"/>
                    <a:lstStyle/>
                    <a:p>
                      <a:r>
                        <a:rPr sz="1800" b="0">
                          <a:solidFill>
                            <a:srgbClr val="112B3C"/>
                          </a:solidFill>
                          <a:latin typeface="Arial"/>
                          <a:ea typeface="Arial"/>
                          <a:cs typeface="Arial"/>
                        </a:rPr>
                        <a:t>Score definitions drift across modules</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Single ROLE_WEIGHTS table</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603250">
                <a:tc>
                  <a:txBody>
                    <a:bodyPr lIns="114300" tIns="114300" rIns="114300" bIns="114300"/>
                    <a:lstStyle/>
                    <a:p>
                      <a:r>
                        <a:rPr sz="1800" b="0">
                          <a:solidFill>
                            <a:srgbClr val="112B3C"/>
                          </a:solidFill>
                          <a:latin typeface="Arial"/>
                          <a:ea typeface="Arial"/>
                          <a:cs typeface="Arial"/>
                        </a:rPr>
                        <a:t>Logical hierarchy confused with physical links</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Separate membership and adjacency maps</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603250">
                <a:tc>
                  <a:txBody>
                    <a:bodyPr lIns="114300" tIns="114300" rIns="114300" bIns="114300"/>
                    <a:lstStyle/>
                    <a:p>
                      <a:r>
                        <a:rPr sz="1800" b="0">
                          <a:solidFill>
                            <a:srgbClr val="112B3C"/>
                          </a:solidFill>
                          <a:latin typeface="Arial"/>
                          <a:ea typeface="Arial"/>
                          <a:cs typeface="Arial"/>
                        </a:rPr>
                        <a:t>Message counts hide routed overhead</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Separate logical, hop, and energy counters</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603250">
                <a:tc>
                  <a:txBody>
                    <a:bodyPr lIns="114300" tIns="114300" rIns="114300" bIns="114300"/>
                    <a:lstStyle/>
                    <a:p>
                      <a:r>
                        <a:rPr sz="1800" b="0">
                          <a:solidFill>
                            <a:srgbClr val="112B3C"/>
                          </a:solidFill>
                          <a:latin typeface="Arial"/>
                          <a:ea typeface="Arial"/>
                          <a:cs typeface="Arial"/>
                        </a:rPr>
                        <a:t>Epoch revocation masks lease behavior</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Optional valid-lease retention</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603250">
                <a:tc>
                  <a:txBody>
                    <a:bodyPr lIns="114300" tIns="114300" rIns="114300" bIns="114300"/>
                    <a:lstStyle/>
                    <a:p>
                      <a:r>
                        <a:rPr sz="1800" b="0">
                          <a:solidFill>
                            <a:srgbClr val="112B3C"/>
                          </a:solidFill>
                          <a:latin typeface="Arial"/>
                          <a:ea typeface="Arial"/>
                          <a:cs typeface="Arial"/>
                        </a:rPr>
                        <a:t>Availability metrics hide missing items</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Explicit generated / delivered denominators</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98244407-4F08-491A-8043-F03971EAC99E}"/>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29 / 38</a:t>
            </a:r>
          </a:p>
        </p:txBody>
      </p:sp>
      <p:sp>
        <p:nvSpPr>
          <p:cNvPr id="4" name="">
            <a:extLst xmlns:a="http://schemas.openxmlformats.org/drawingml/2006/main">
              <a:ext uri="{FF2B5EF4-FFF2-40B4-BE49-F238E27FC236}">
                <a16:creationId xmlns:a16="http://schemas.microsoft.com/office/drawing/2014/main" id="{D374C7B9-C273-4D16-A182-D5CABB962A8C}"/>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Roadmap.md; finished_work.md; simulation/metrics.py; simulation/protocols.py</a:t>
            </a:r>
          </a:p>
        </p:txBody>
      </p:sp>
    </p:spTree>
    <p:extLst>
      <p:ext uri="{BB962C8B-B14F-4D97-AF65-F5344CB8AC3E}">
        <p14:creationId xmlns:p14="http://schemas.microsoft.com/office/powerpoint/2010/main" val="2110088672"/>
      </p:ext>
    </p:extLst>
  </p:cSld>
</p:sld>
</file>

<file path=ppt/slides/slide30.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750D298-CFDE-4538-9760-B60A830AB51B}"/>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Testing and validation</a:t>
            </a:r>
          </a:p>
        </p:txBody>
      </p:sp>
      <p:sp>
        <p:nvSpPr>
          <p:cNvPr id="2" name="">
            <a:extLst xmlns:a="http://schemas.openxmlformats.org/drawingml/2006/main">
              <a:ext uri="{FF2B5EF4-FFF2-40B4-BE49-F238E27FC236}">
                <a16:creationId xmlns:a16="http://schemas.microsoft.com/office/drawing/2014/main" id="{D9E8630E-4F13-42BF-A5B6-3C971E2BD1A8}"/>
              </a:ext>
            </a:extLst>
          </p:cNvPr>
          <p:cNvSpPr>
            <a:spLocks xmlns:a="http://schemas.openxmlformats.org/drawingml/2006/main" noGrp="1"/>
          </p:cNvSpPr>
          <p:nvPr/>
        </p:nvSpPr>
        <p:spPr>
          <a:xfrm xmlns:a="http://schemas.openxmlformats.org/drawingml/2006/main">
            <a:off x="704850" y="1666875"/>
            <a:ext cx="1000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800" b="1">
                <a:solidFill>
                  <a:srgbClr val="007F7B"/>
                </a:solidFill>
                <a:latin typeface="Arial"/>
                <a:ea typeface="Arial"/>
                <a:cs typeface="Arial"/>
              </a:defRPr>
            </a:defPPr>
          </a:lstStyle>
          <a:p xmlns:a="http://schemas.openxmlformats.org/drawingml/2006/main">
            <a:pPr>
              <a:defRPr sz="4800" b="1">
                <a:solidFill>
                  <a:srgbClr val="007F7B"/>
                </a:solidFill>
                <a:latin typeface="Arial"/>
                <a:ea typeface="Arial"/>
                <a:cs typeface="Arial"/>
              </a:defRPr>
            </a:pPr>
            <a:r>
              <a:rPr sz="4800" b="1">
                <a:solidFill>
                  <a:srgbClr val="007F7B"/>
                </a:solidFill>
                <a:latin typeface="Arial"/>
                <a:ea typeface="Arial"/>
                <a:cs typeface="Arial"/>
              </a:rPr>
              <a:t>82 passed</a:t>
            </a:r>
          </a:p>
        </p:txBody>
      </p:sp>
      <p:sp>
        <p:nvSpPr>
          <p:cNvPr id="3" name="">
            <a:extLst xmlns:a="http://schemas.openxmlformats.org/drawingml/2006/main">
              <a:ext uri="{FF2B5EF4-FFF2-40B4-BE49-F238E27FC236}">
                <a16:creationId xmlns:a16="http://schemas.microsoft.com/office/drawing/2014/main" id="{C74186E5-849B-43FA-84D8-ED89DE741BEF}"/>
              </a:ext>
            </a:extLst>
          </p:cNvPr>
          <p:cNvSpPr>
            <a:spLocks xmlns:a="http://schemas.openxmlformats.org/drawingml/2006/main" noGrp="1"/>
          </p:cNvSpPr>
          <p:nvPr/>
        </p:nvSpPr>
        <p:spPr>
          <a:xfrm xmlns:a="http://schemas.openxmlformats.org/drawingml/2006/main">
            <a:off x="723900" y="26670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526775"/>
                </a:solidFill>
                <a:latin typeface="Arial"/>
                <a:ea typeface="Arial"/>
                <a:cs typeface="Arial"/>
              </a:defRPr>
            </a:defPPr>
          </a:lstStyle>
          <a:p xmlns:a="http://schemas.openxmlformats.org/drawingml/2006/main">
            <a:pPr>
              <a:defRPr sz="2025" b="0">
                <a:solidFill>
                  <a:srgbClr val="526775"/>
                </a:solidFill>
                <a:latin typeface="Arial"/>
                <a:ea typeface="Arial"/>
                <a:cs typeface="Arial"/>
              </a:defRPr>
            </a:pPr>
            <a:r>
              <a:rPr sz="2025" b="0">
                <a:solidFill>
                  <a:srgbClr val="526775"/>
                </a:solidFill>
                <a:latin typeface="Arial"/>
                <a:ea typeface="Arial"/>
                <a:cs typeface="Arial"/>
              </a:rPr>
              <a:t>Fresh regression execution during this review</a:t>
            </a:r>
          </a:p>
        </p:txBody>
      </p:sp>
      <p:sp>
        <p:nvSpPr>
          <p:cNvPr id="4" name="">
            <a:extLst xmlns:a="http://schemas.openxmlformats.org/drawingml/2006/main">
              <a:ext uri="{FF2B5EF4-FFF2-40B4-BE49-F238E27FC236}">
                <a16:creationId xmlns:a16="http://schemas.microsoft.com/office/drawing/2014/main" id="{F393D1B2-A2F5-455B-AD98-DDD1CA1AB206}"/>
              </a:ext>
            </a:extLst>
          </p:cNvPr>
          <p:cNvSpPr>
            <a:spLocks xmlns:a="http://schemas.openxmlformats.org/drawingml/2006/main" noGrp="1"/>
          </p:cNvSpPr>
          <p:nvPr/>
        </p:nvSpPr>
        <p:spPr>
          <a:xfrm xmlns:a="http://schemas.openxmlformats.org/drawingml/2006/main">
            <a:off x="704850" y="34766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C710EBF4-B539-4E7F-9A40-BF209B7AEB1C}"/>
              </a:ext>
            </a:extLst>
          </p:cNvPr>
          <p:cNvSpPr>
            <a:spLocks xmlns:a="http://schemas.openxmlformats.org/drawingml/2006/main" noGrp="1"/>
          </p:cNvSpPr>
          <p:nvPr/>
        </p:nvSpPr>
        <p:spPr>
          <a:xfrm xmlns:a="http://schemas.openxmlformats.org/drawingml/2006/main">
            <a:off x="1371600" y="3476625"/>
            <a:ext cx="9810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12B3C"/>
                </a:solidFill>
                <a:latin typeface="Arial"/>
                <a:ea typeface="Arial"/>
                <a:cs typeface="Arial"/>
              </a:defRPr>
            </a:defPPr>
          </a:lstStyle>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480 stored run records and 30 time-series archives checked</a:t>
            </a:r>
          </a:p>
        </p:txBody>
      </p:sp>
      <p:sp>
        <p:nvSpPr>
          <p:cNvPr id="6" name="">
            <a:extLst xmlns:a="http://schemas.openxmlformats.org/drawingml/2006/main">
              <a:ext uri="{FF2B5EF4-FFF2-40B4-BE49-F238E27FC236}">
                <a16:creationId xmlns:a16="http://schemas.microsoft.com/office/drawing/2014/main" id="{DC00E504-1AA7-45B7-AED2-2DCFB4809898}"/>
              </a:ext>
            </a:extLst>
          </p:cNvPr>
          <p:cNvSpPr>
            <a:spLocks xmlns:a="http://schemas.openxmlformats.org/drawingml/2006/main" noGrp="1"/>
          </p:cNvSpPr>
          <p:nvPr/>
        </p:nvSpPr>
        <p:spPr>
          <a:xfrm xmlns:a="http://schemas.openxmlformats.org/drawingml/2006/main">
            <a:off x="704850" y="42195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5B49188F-3C75-498B-AA73-AB77D6BC37B2}"/>
              </a:ext>
            </a:extLst>
          </p:cNvPr>
          <p:cNvSpPr>
            <a:spLocks xmlns:a="http://schemas.openxmlformats.org/drawingml/2006/main" noGrp="1"/>
          </p:cNvSpPr>
          <p:nvPr/>
        </p:nvSpPr>
        <p:spPr>
          <a:xfrm xmlns:a="http://schemas.openxmlformats.org/drawingml/2006/main">
            <a:off x="1371600" y="4219575"/>
            <a:ext cx="9810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12B3C"/>
                </a:solidFill>
                <a:latin typeface="Arial"/>
                <a:ea typeface="Arial"/>
                <a:cs typeface="Arial"/>
              </a:defRPr>
            </a:defPPr>
          </a:lstStyle>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Two fresh 100-step node-failure simulations completed</a:t>
            </a:r>
          </a:p>
        </p:txBody>
      </p:sp>
      <p:sp>
        <p:nvSpPr>
          <p:cNvPr id="8" name="">
            <a:extLst xmlns:a="http://schemas.openxmlformats.org/drawingml/2006/main">
              <a:ext uri="{FF2B5EF4-FFF2-40B4-BE49-F238E27FC236}">
                <a16:creationId xmlns:a16="http://schemas.microsoft.com/office/drawing/2014/main" id="{AA59B182-1383-4563-BB96-03169EDF84F3}"/>
              </a:ext>
            </a:extLst>
          </p:cNvPr>
          <p:cNvSpPr>
            <a:spLocks xmlns:a="http://schemas.openxmlformats.org/drawingml/2006/main" noGrp="1"/>
          </p:cNvSpPr>
          <p:nvPr/>
        </p:nvSpPr>
        <p:spPr>
          <a:xfrm xmlns:a="http://schemas.openxmlformats.org/drawingml/2006/main">
            <a:off x="704850" y="49625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B0A72DB5-AA10-437F-A905-069CF150BEC2}"/>
              </a:ext>
            </a:extLst>
          </p:cNvPr>
          <p:cNvSpPr>
            <a:spLocks xmlns:a="http://schemas.openxmlformats.org/drawingml/2006/main" noGrp="1"/>
          </p:cNvSpPr>
          <p:nvPr/>
        </p:nvSpPr>
        <p:spPr>
          <a:xfrm xmlns:a="http://schemas.openxmlformats.org/drawingml/2006/main">
            <a:off x="1371600" y="4962525"/>
            <a:ext cx="9810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12B3C"/>
                </a:solidFill>
                <a:latin typeface="Arial"/>
                <a:ea typeface="Arial"/>
                <a:cs typeface="Arial"/>
              </a:defRPr>
            </a:defPPr>
          </a:lstStyle>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No coverage percentage or hardware benchmark claimed</a:t>
            </a:r>
          </a:p>
        </p:txBody>
      </p:sp>
      <p:sp>
        <p:nvSpPr>
          <p:cNvPr id="10" name="">
            <a:extLst xmlns:a="http://schemas.openxmlformats.org/drawingml/2006/main">
              <a:ext uri="{FF2B5EF4-FFF2-40B4-BE49-F238E27FC236}">
                <a16:creationId xmlns:a16="http://schemas.microsoft.com/office/drawing/2014/main" id="{9543445F-0D0F-4427-B202-331C903F9694}"/>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30 / 38</a:t>
            </a:r>
          </a:p>
        </p:txBody>
      </p:sp>
      <p:sp>
        <p:nvSpPr>
          <p:cNvPr id="11" name="">
            <a:extLst xmlns:a="http://schemas.openxmlformats.org/drawingml/2006/main">
              <a:ext uri="{FF2B5EF4-FFF2-40B4-BE49-F238E27FC236}">
                <a16:creationId xmlns:a16="http://schemas.microsoft.com/office/drawing/2014/main" id="{C5488B89-A857-459A-9E1C-744655763864}"/>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test_nodes.py; tests/test_*.py</a:t>
            </a:r>
          </a:p>
        </p:txBody>
      </p:sp>
    </p:spTree>
    <p:extLst>
      <p:ext uri="{BB962C8B-B14F-4D97-AF65-F5344CB8AC3E}">
        <p14:creationId xmlns:p14="http://schemas.microsoft.com/office/powerpoint/2010/main" val="1674935469"/>
      </p:ext>
    </p:extLst>
  </p:cSld>
</p:sld>
</file>

<file path=ppt/slides/slide3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F27AB4D-0F4B-4A31-9796-BA4E0CCF7084}"/>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Stored experimental design</a:t>
            </a:r>
          </a:p>
        </p:txBody>
      </p:sp>
      <p:graphicFrame>
        <p:nvGraphicFramePr>
          <p:cNvPr id="2" name="">
            <a:extLst xmlns:a="http://schemas.openxmlformats.org/drawingml/2006/main">
              <a:ext uri="{FF2B5EF4-FFF2-40B4-BE49-F238E27FC236}">
                <a16:creationId xmlns:a16="http://schemas.microsoft.com/office/drawing/2014/main" id="{DC1F9429-5759-4487-9431-B9E10343D1EE}"/>
              </a:ext>
            </a:extLst>
          </p:cNvPr>
          <p:cNvGraphicFramePr/>
          <p:nvPr/>
        </p:nvGraphicFramePr>
        <p:xfrm>
          <a:off xmlns:a="http://schemas.openxmlformats.org/drawingml/2006/main" x="609600" y="1714500"/>
          <a:ext xmlns:a="http://schemas.openxmlformats.org/drawingml/2006/main" cx="10972800" cy="3619500"/>
        </p:xfrm>
        <a:graphic xmlns:a="http://schemas.openxmlformats.org/drawingml/2006/main">
          <a:graphicData uri="http://schemas.openxmlformats.org/drawingml/2006/table">
            <a:tbl>
              <a:tblPr/>
              <a:tblGrid>
                <a:gridCol w="2743200"/>
                <a:gridCol w="2743200"/>
                <a:gridCol w="2743200"/>
                <a:gridCol w="2743200"/>
              </a:tblGrid>
              <a:tr h="723900">
                <a:tc>
                  <a:txBody>
                    <a:bodyPr lIns="114300" tIns="114300" rIns="114300" bIns="114300"/>
                    <a:lstStyle/>
                    <a:p>
                      <a:r>
                        <a:rPr sz="1725" b="1">
                          <a:solidFill>
                            <a:srgbClr val="FFFFFF"/>
                          </a:solidFill>
                          <a:latin typeface="Arial"/>
                          <a:ea typeface="Arial"/>
                          <a:cs typeface="Arial"/>
                        </a:rPr>
                        <a:t>Arm</a:t>
                      </a:r>
                    </a:p>
                  </a:txBody>
                  <a:tcPr marL="91440" marR="91440" marT="45720" marB="45720" anchor="ctr">
                    <a:lnL w="9525">
                      <a:solidFill>
                        <a:srgbClr val="C9D6DD"/>
                      </a:solidFill>
                      <a:prstDash val="solid"/>
                    </a:lnL>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725" b="1">
                          <a:solidFill>
                            <a:srgbClr val="FFFFFF"/>
                          </a:solidFill>
                          <a:latin typeface="Arial"/>
                          <a:ea typeface="Arial"/>
                          <a:cs typeface="Arial"/>
                        </a:rPr>
                        <a:t>Protocol</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725" b="1">
                          <a:solidFill>
                            <a:srgbClr val="FFFFFF"/>
                          </a:solidFill>
                          <a:latin typeface="Arial"/>
                          <a:ea typeface="Arial"/>
                          <a:cs typeface="Arial"/>
                        </a:rPr>
                        <a:t>Harvest</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725" b="1">
                          <a:solidFill>
                            <a:srgbClr val="FFFFFF"/>
                          </a:solidFill>
                          <a:latin typeface="Arial"/>
                          <a:ea typeface="Arial"/>
                          <a:cs typeface="Arial"/>
                        </a:rPr>
                        <a:t>Gate</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r>
              <a:tr h="723900">
                <a:tc>
                  <a:txBody>
                    <a:bodyPr lIns="114300" tIns="114300" rIns="114300" bIns="114300"/>
                    <a:lstStyle/>
                    <a:p>
                      <a:r>
                        <a:rPr sz="1725" b="0">
                          <a:solidFill>
                            <a:srgbClr val="112B3C"/>
                          </a:solidFill>
                          <a:latin typeface="Arial"/>
                          <a:ea typeface="Arial"/>
                          <a:cs typeface="Arial"/>
                        </a:rPr>
                        <a:t>A</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hierarchical</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0</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off</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723900">
                <a:tc>
                  <a:txBody>
                    <a:bodyPr lIns="114300" tIns="114300" rIns="114300" bIns="114300"/>
                    <a:lstStyle/>
                    <a:p>
                      <a:r>
                        <a:rPr sz="1725" b="0">
                          <a:solidFill>
                            <a:srgbClr val="112B3C"/>
                          </a:solidFill>
                          <a:latin typeface="Arial"/>
                          <a:ea typeface="Arial"/>
                          <a:cs typeface="Arial"/>
                        </a:rPr>
                        <a:t>B</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proposed</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0</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off</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723900">
                <a:tc>
                  <a:txBody>
                    <a:bodyPr lIns="114300" tIns="114300" rIns="114300" bIns="114300"/>
                    <a:lstStyle/>
                    <a:p>
                      <a:r>
                        <a:rPr sz="1725" b="0">
                          <a:solidFill>
                            <a:srgbClr val="112B3C"/>
                          </a:solidFill>
                          <a:latin typeface="Arial"/>
                          <a:ea typeface="Arial"/>
                          <a:cs typeface="Arial"/>
                        </a:rPr>
                        <a:t>C</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proposed</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.0002 × node factor</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off</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723900">
                <a:tc>
                  <a:txBody>
                    <a:bodyPr lIns="114300" tIns="114300" rIns="114300" bIns="114300"/>
                    <a:lstStyle/>
                    <a:p>
                      <a:r>
                        <a:rPr sz="1725" b="0">
                          <a:solidFill>
                            <a:srgbClr val="112B3C"/>
                          </a:solidFill>
                          <a:latin typeface="Arial"/>
                          <a:ea typeface="Arial"/>
                          <a:cs typeface="Arial"/>
                        </a:rPr>
                        <a:t>D</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proposed</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.0002 × node factor</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on</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bl>
          </a:graphicData>
        </a:graphic>
      </p:graphicFrame>
      <p:sp>
        <p:nvSpPr>
          <p:cNvPr id="3" name="">
            <a:extLst xmlns:a="http://schemas.openxmlformats.org/drawingml/2006/main">
              <a:ext uri="{FF2B5EF4-FFF2-40B4-BE49-F238E27FC236}">
                <a16:creationId xmlns:a16="http://schemas.microsoft.com/office/drawing/2014/main" id="{BB3808FF-F9E2-46AC-8943-638D67F73F12}"/>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31 / 38</a:t>
            </a:r>
          </a:p>
        </p:txBody>
      </p:sp>
      <p:sp>
        <p:nvSpPr>
          <p:cNvPr id="4" name="">
            <a:extLst xmlns:a="http://schemas.openxmlformats.org/drawingml/2006/main">
              <a:ext uri="{FF2B5EF4-FFF2-40B4-BE49-F238E27FC236}">
                <a16:creationId xmlns:a16="http://schemas.microsoft.com/office/drawing/2014/main" id="{734D0AEC-4367-44FB-9030-9295469124BC}"/>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patent-study/run_patent_study.py; patent-study/results_20000/final_report.md</a:t>
            </a:r>
          </a:p>
        </p:txBody>
      </p:sp>
    </p:spTree>
    <p:extLst>
      <p:ext uri="{BB962C8B-B14F-4D97-AF65-F5344CB8AC3E}">
        <p14:creationId xmlns:p14="http://schemas.microsoft.com/office/powerpoint/2010/main" val="2045249742"/>
      </p:ext>
    </p:extLst>
  </p:cSld>
</p:sld>
</file>

<file path=ppt/slides/slide3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692DB56-48A7-4CE0-A93F-0B9FC06B6DF7}"/>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Metric definitions and interpretation</a:t>
            </a:r>
          </a:p>
        </p:txBody>
      </p:sp>
      <p:sp>
        <p:nvSpPr>
          <p:cNvPr id="2" name="">
            <a:extLst xmlns:a="http://schemas.openxmlformats.org/drawingml/2006/main">
              <a:ext uri="{FF2B5EF4-FFF2-40B4-BE49-F238E27FC236}">
                <a16:creationId xmlns:a16="http://schemas.microsoft.com/office/drawing/2014/main" id="{47F3B932-C139-4206-A431-99DDF3623075}"/>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598F6456-B44A-49F8-8FF0-AB95249B320C}"/>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CSC = available role-time intervals / required role-time intervals</a:t>
            </a:r>
          </a:p>
        </p:txBody>
      </p:sp>
      <p:sp>
        <p:nvSpPr>
          <p:cNvPr id="4" name="">
            <a:extLst xmlns:a="http://schemas.openxmlformats.org/drawingml/2006/main">
              <a:ext uri="{FF2B5EF4-FFF2-40B4-BE49-F238E27FC236}">
                <a16:creationId xmlns:a16="http://schemas.microsoft.com/office/drawing/2014/main" id="{1B83AA25-4C8D-4556-B117-25078D4E7E7D}"/>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16168E1C-EA0D-416C-8A65-49658DAF5A9E}"/>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Default denominator = 56 roles × elapsed ticks, excluding time zero</a:t>
            </a:r>
          </a:p>
        </p:txBody>
      </p:sp>
      <p:sp>
        <p:nvSpPr>
          <p:cNvPr id="6" name="">
            <a:extLst xmlns:a="http://schemas.openxmlformats.org/drawingml/2006/main">
              <a:ext uri="{FF2B5EF4-FFF2-40B4-BE49-F238E27FC236}">
                <a16:creationId xmlns:a16="http://schemas.microsoft.com/office/drawing/2014/main" id="{B7ECE66E-A7E0-4E8E-8171-0A090764F491}"/>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AC99DF6B-FD00-4BB8-A261-304BCAF83324}"/>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Sensor delivery = delivered sensor items / generated sensor items</a:t>
            </a:r>
          </a:p>
        </p:txBody>
      </p:sp>
      <p:sp>
        <p:nvSpPr>
          <p:cNvPr id="8" name="">
            <a:extLst xmlns:a="http://schemas.openxmlformats.org/drawingml/2006/main">
              <a:ext uri="{FF2B5EF4-FFF2-40B4-BE49-F238E27FC236}">
                <a16:creationId xmlns:a16="http://schemas.microsoft.com/office/drawing/2014/main" id="{72BBF3FA-D3B9-4BFE-BABE-272423968166}"/>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532EEBDE-94E8-433E-82BF-6AD62A3E822B}"/>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Energy per item = modeled communication energy / delivered sensor items</a:t>
            </a:r>
          </a:p>
        </p:txBody>
      </p:sp>
      <p:sp>
        <p:nvSpPr>
          <p:cNvPr id="10" name="">
            <a:extLst xmlns:a="http://schemas.openxmlformats.org/drawingml/2006/main">
              <a:ext uri="{FF2B5EF4-FFF2-40B4-BE49-F238E27FC236}">
                <a16:creationId xmlns:a16="http://schemas.microsoft.com/office/drawing/2014/main" id="{5CFF627F-74B3-4B5D-B528-8C73152F1191}"/>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02AAE089-B8BF-46B7-AFD0-DD25AAAE888A}"/>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Lifetime records first threshold crossing and right-censors absent crossings</a:t>
            </a:r>
          </a:p>
        </p:txBody>
      </p:sp>
      <p:sp>
        <p:nvSpPr>
          <p:cNvPr id="12" name="">
            <a:extLst xmlns:a="http://schemas.openxmlformats.org/drawingml/2006/main">
              <a:ext uri="{FF2B5EF4-FFF2-40B4-BE49-F238E27FC236}">
                <a16:creationId xmlns:a16="http://schemas.microsoft.com/office/drawing/2014/main" id="{E4DF4382-1953-4D1B-87CC-5E33C3CCDFD2}"/>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32 / 38</a:t>
            </a:r>
          </a:p>
        </p:txBody>
      </p:sp>
      <p:sp>
        <p:nvSpPr>
          <p:cNvPr id="13" name="">
            <a:extLst xmlns:a="http://schemas.openxmlformats.org/drawingml/2006/main">
              <a:ext uri="{FF2B5EF4-FFF2-40B4-BE49-F238E27FC236}">
                <a16:creationId xmlns:a16="http://schemas.microsoft.com/office/drawing/2014/main" id="{06F2C3D1-E662-47AD-80C2-DA9641F28E44}"/>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simulation/metrics.py; patent-study/analyze_patent_study.py</a:t>
            </a:r>
          </a:p>
        </p:txBody>
      </p:sp>
    </p:spTree>
    <p:extLst>
      <p:ext uri="{BB962C8B-B14F-4D97-AF65-F5344CB8AC3E}">
        <p14:creationId xmlns:p14="http://schemas.microsoft.com/office/powerpoint/2010/main" val="1062800714"/>
      </p:ext>
    </p:extLst>
  </p:cSld>
</p:sld>
</file>

<file path=ppt/slides/slide3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C1C44E3-CA10-437F-80FB-627E526193E4}"/>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Verified stored results: normal scenario</a:t>
            </a:r>
          </a:p>
        </p:txBody>
      </p:sp>
      <p:graphicFrame>
        <p:nvGraphicFramePr>
          <p:cNvPr id="2" name="">
            <a:extLst xmlns:a="http://schemas.openxmlformats.org/drawingml/2006/main">
              <a:ext uri="{FF2B5EF4-FFF2-40B4-BE49-F238E27FC236}">
                <a16:creationId xmlns:a16="http://schemas.microsoft.com/office/drawing/2014/main" id="{69D824F3-7D3D-493F-AD9E-940131B0316A}"/>
              </a:ext>
            </a:extLst>
          </p:cNvPr>
          <p:cNvGraphicFramePr/>
          <p:nvPr/>
        </p:nvGraphicFramePr>
        <p:xfrm>
          <a:off xmlns:a="http://schemas.openxmlformats.org/drawingml/2006/main" x="609600" y="1762125"/>
          <a:ext xmlns:a="http://schemas.openxmlformats.org/drawingml/2006/main" cx="10972800" cy="3190875"/>
        </p:xfrm>
        <a:graphic xmlns:a="http://schemas.openxmlformats.org/drawingml/2006/main">
          <a:graphicData uri="http://schemas.openxmlformats.org/drawingml/2006/table">
            <a:tbl>
              <a:tblPr/>
              <a:tblGrid>
                <a:gridCol w="1828800"/>
                <a:gridCol w="1828800"/>
                <a:gridCol w="1828800"/>
                <a:gridCol w="1828800"/>
                <a:gridCol w="1828800"/>
                <a:gridCol w="1828800"/>
              </a:tblGrid>
              <a:tr h="638175">
                <a:tc>
                  <a:txBody>
                    <a:bodyPr lIns="114300" tIns="114300" rIns="114300" bIns="114300"/>
                    <a:lstStyle/>
                    <a:p>
                      <a:r>
                        <a:rPr sz="1725" b="1">
                          <a:solidFill>
                            <a:srgbClr val="FFFFFF"/>
                          </a:solidFill>
                          <a:latin typeface="Arial"/>
                          <a:ea typeface="Arial"/>
                          <a:cs typeface="Arial"/>
                        </a:rPr>
                        <a:t>Arm</a:t>
                      </a:r>
                    </a:p>
                  </a:txBody>
                  <a:tcPr marL="91440" marR="91440" marT="45720" marB="45720" anchor="ctr">
                    <a:lnL w="9525">
                      <a:solidFill>
                        <a:srgbClr val="C9D6DD"/>
                      </a:solidFill>
                      <a:prstDash val="solid"/>
                    </a:lnL>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725" b="1">
                          <a:solidFill>
                            <a:srgbClr val="FFFFFF"/>
                          </a:solidFill>
                          <a:latin typeface="Arial"/>
                          <a:ea typeface="Arial"/>
                          <a:cs typeface="Arial"/>
                        </a:rPr>
                        <a:t>CSC</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725" b="1">
                          <a:solidFill>
                            <a:srgbClr val="FFFFFF"/>
                          </a:solidFill>
                          <a:latin typeface="Arial"/>
                          <a:ea typeface="Arial"/>
                          <a:cs typeface="Arial"/>
                        </a:rPr>
                        <a:t>Sensor delivery</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725" b="1">
                          <a:solidFill>
                            <a:srgbClr val="FFFFFF"/>
                          </a:solidFill>
                          <a:latin typeface="Arial"/>
                          <a:ea typeface="Arial"/>
                          <a:cs typeface="Arial"/>
                        </a:rPr>
                        <a:t>Energy/item</a:t>
                      </a:r>
                    </a:p>
                    <a:p>
                      <a:r>
                        <a:rPr sz="1725" b="1">
                          <a:solidFill>
                            <a:srgbClr val="FFFFFF"/>
                          </a:solidFill>
                          <a:latin typeface="Arial"/>
                          <a:ea typeface="Arial"/>
                          <a:cs typeface="Arial"/>
                        </a:rPr>
                        <a:t>×10⁻⁶</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725" b="1">
                          <a:solidFill>
                            <a:srgbClr val="FFFFFF"/>
                          </a:solidFill>
                          <a:latin typeface="Arial"/>
                          <a:ea typeface="Arial"/>
                          <a:cs typeface="Arial"/>
                        </a:rPr>
                        <a:t>Total energy</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725" b="1">
                          <a:solidFill>
                            <a:srgbClr val="FFFFFF"/>
                          </a:solidFill>
                          <a:latin typeface="Arial"/>
                          <a:ea typeface="Arial"/>
                          <a:cs typeface="Arial"/>
                        </a:rPr>
                        <a:t>Final battery</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r>
              <a:tr h="638175">
                <a:tc>
                  <a:txBody>
                    <a:bodyPr lIns="114300" tIns="114300" rIns="114300" bIns="114300"/>
                    <a:lstStyle/>
                    <a:p>
                      <a:r>
                        <a:rPr sz="1725" b="0">
                          <a:solidFill>
                            <a:srgbClr val="112B3C"/>
                          </a:solidFill>
                          <a:latin typeface="Arial"/>
                          <a:ea typeface="Arial"/>
                          <a:cs typeface="Arial"/>
                        </a:rPr>
                        <a:t>A</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26.113%</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15.37%</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171.38</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40.80</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0.467</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638175">
                <a:tc>
                  <a:txBody>
                    <a:bodyPr lIns="114300" tIns="114300" rIns="114300" bIns="114300"/>
                    <a:lstStyle/>
                    <a:p>
                      <a:r>
                        <a:rPr sz="1725" b="0">
                          <a:solidFill>
                            <a:srgbClr val="112B3C"/>
                          </a:solidFill>
                          <a:latin typeface="Arial"/>
                          <a:ea typeface="Arial"/>
                          <a:cs typeface="Arial"/>
                        </a:rPr>
                        <a:t>B</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99.998%</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83.38%</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117.37</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85.16</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0.023</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638175">
                <a:tc>
                  <a:txBody>
                    <a:bodyPr lIns="114300" tIns="114300" rIns="114300" bIns="114300"/>
                    <a:lstStyle/>
                    <a:p>
                      <a:r>
                        <a:rPr sz="1725" b="0">
                          <a:solidFill>
                            <a:srgbClr val="112B3C"/>
                          </a:solidFill>
                          <a:latin typeface="Arial"/>
                          <a:ea typeface="Arial"/>
                          <a:cs typeface="Arial"/>
                        </a:rPr>
                        <a:t>C</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100.000%</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100.00%</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154.38</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297.08</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0.822</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638175">
                <a:tc>
                  <a:txBody>
                    <a:bodyPr lIns="114300" tIns="114300" rIns="114300" bIns="114300"/>
                    <a:lstStyle/>
                    <a:p>
                      <a:r>
                        <a:rPr sz="1725" b="0">
                          <a:solidFill>
                            <a:srgbClr val="112B3C"/>
                          </a:solidFill>
                          <a:latin typeface="Arial"/>
                          <a:ea typeface="Arial"/>
                          <a:cs typeface="Arial"/>
                        </a:rPr>
                        <a:t>D</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100.000%</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100.00%</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154.82</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297.81</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0.819</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bl>
          </a:graphicData>
        </a:graphic>
      </p:graphicFrame>
      <p:sp>
        <p:nvSpPr>
          <p:cNvPr id="3" name="">
            <a:extLst xmlns:a="http://schemas.openxmlformats.org/drawingml/2006/main">
              <a:ext uri="{FF2B5EF4-FFF2-40B4-BE49-F238E27FC236}">
                <a16:creationId xmlns:a16="http://schemas.microsoft.com/office/drawing/2014/main" id="{16BA3EBB-6E05-457C-A37F-CE686E34242A}"/>
              </a:ext>
            </a:extLst>
          </p:cNvPr>
          <p:cNvSpPr>
            <a:spLocks xmlns:a="http://schemas.openxmlformats.org/drawingml/2006/main" noGrp="1"/>
          </p:cNvSpPr>
          <p:nvPr/>
        </p:nvSpPr>
        <p:spPr>
          <a:xfrm xmlns:a="http://schemas.openxmlformats.org/drawingml/2006/main">
            <a:off x="685800" y="5286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775"/>
                </a:solidFill>
                <a:latin typeface="Arial"/>
                <a:ea typeface="Arial"/>
                <a:cs typeface="Arial"/>
              </a:defRPr>
            </a:defPPr>
          </a:lstStyle>
          <a:p xmlns:a="http://schemas.openxmlformats.org/drawingml/2006/main">
            <a:pPr>
              <a:defRPr sz="1875" b="0">
                <a:solidFill>
                  <a:srgbClr val="526775"/>
                </a:solidFill>
                <a:latin typeface="Arial"/>
                <a:ea typeface="Arial"/>
                <a:cs typeface="Arial"/>
              </a:defRPr>
            </a:pPr>
            <a:r>
              <a:rPr sz="1875" b="0">
                <a:solidFill>
                  <a:srgbClr val="526775"/>
                </a:solidFill>
                <a:latin typeface="Arial"/>
                <a:ea typeface="Arial"/>
                <a:cs typeface="Arial"/>
              </a:rPr>
              <a:t>30 seeds per arm. Normalized energy units. Means of per-run ratios.</a:t>
            </a:r>
          </a:p>
        </p:txBody>
      </p:sp>
      <p:sp>
        <p:nvSpPr>
          <p:cNvPr id="4" name="">
            <a:extLst xmlns:a="http://schemas.openxmlformats.org/drawingml/2006/main">
              <a:ext uri="{FF2B5EF4-FFF2-40B4-BE49-F238E27FC236}">
                <a16:creationId xmlns:a16="http://schemas.microsoft.com/office/drawing/2014/main" id="{EA26559B-97AD-4839-B7EB-91DCFA54B169}"/>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33 / 38</a:t>
            </a:r>
          </a:p>
        </p:txBody>
      </p:sp>
      <p:sp>
        <p:nvSpPr>
          <p:cNvPr id="5" name="">
            <a:extLst xmlns:a="http://schemas.openxmlformats.org/drawingml/2006/main">
              <a:ext uri="{FF2B5EF4-FFF2-40B4-BE49-F238E27FC236}">
                <a16:creationId xmlns:a16="http://schemas.microsoft.com/office/drawing/2014/main" id="{CA5DB183-3C2C-440B-8170-974651163DE0}"/>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patent-study/results_20000/per_run_metrics.csv</a:t>
            </a:r>
          </a:p>
        </p:txBody>
      </p:sp>
    </p:spTree>
    <p:extLst>
      <p:ext uri="{BB962C8B-B14F-4D97-AF65-F5344CB8AC3E}">
        <p14:creationId xmlns:p14="http://schemas.microsoft.com/office/powerpoint/2010/main" val="1768454494"/>
      </p:ext>
    </p:extLst>
  </p:cSld>
</p:sld>
</file>

<file path=ppt/slides/slide3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17EB186-E653-4233-A7FE-F8E345CEA541}"/>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What the paired comparisons support</a:t>
            </a:r>
          </a:p>
        </p:txBody>
      </p:sp>
      <p:sp>
        <p:nvSpPr>
          <p:cNvPr id="2" name="">
            <a:extLst xmlns:a="http://schemas.openxmlformats.org/drawingml/2006/main">
              <a:ext uri="{FF2B5EF4-FFF2-40B4-BE49-F238E27FC236}">
                <a16:creationId xmlns:a16="http://schemas.microsoft.com/office/drawing/2014/main" id="{069F5CBC-67ED-464A-AB25-7F71BC9ABE86}"/>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8D2257AE-4907-4D14-BD7C-308C6BCC9A4C}"/>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Normal B − A sensor delivery: +68.02 percentage points</a:t>
            </a:r>
          </a:p>
        </p:txBody>
      </p:sp>
      <p:sp>
        <p:nvSpPr>
          <p:cNvPr id="4" name="">
            <a:extLst xmlns:a="http://schemas.openxmlformats.org/drawingml/2006/main">
              <a:ext uri="{FF2B5EF4-FFF2-40B4-BE49-F238E27FC236}">
                <a16:creationId xmlns:a16="http://schemas.microsoft.com/office/drawing/2014/main" id="{275C8DA9-E1C6-4A4E-B648-7542FA4D77FB}"/>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9004E319-763C-46B6-8C04-EC1FBF78A4D3}"/>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95% paired t interval: +65.68 to +70.35 percentage points</a:t>
            </a:r>
          </a:p>
        </p:txBody>
      </p:sp>
      <p:sp>
        <p:nvSpPr>
          <p:cNvPr id="6" name="">
            <a:extLst xmlns:a="http://schemas.openxmlformats.org/drawingml/2006/main">
              <a:ext uri="{FF2B5EF4-FFF2-40B4-BE49-F238E27FC236}">
                <a16:creationId xmlns:a16="http://schemas.microsoft.com/office/drawing/2014/main" id="{16643FDF-FCB2-4C6B-92F3-E1186A83C0EF}"/>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B56846E0-3974-4E03-A324-B219DB4675E7}"/>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Normal C − B delivery: +16.62 percentage points</a:t>
            </a:r>
          </a:p>
        </p:txBody>
      </p:sp>
      <p:sp>
        <p:nvSpPr>
          <p:cNvPr id="8" name="">
            <a:extLst xmlns:a="http://schemas.openxmlformats.org/drawingml/2006/main">
              <a:ext uri="{FF2B5EF4-FFF2-40B4-BE49-F238E27FC236}">
                <a16:creationId xmlns:a16="http://schemas.microsoft.com/office/drawing/2014/main" id="{B11209AC-FF2C-44D0-97CC-E41594B3F062}"/>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99ED0D88-14F1-4E92-93EB-6BD3B8DC8DBB}"/>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Normal D − C delivery: 0.00 percentage points</a:t>
            </a:r>
          </a:p>
        </p:txBody>
      </p:sp>
      <p:sp>
        <p:nvSpPr>
          <p:cNvPr id="10" name="">
            <a:extLst xmlns:a="http://schemas.openxmlformats.org/drawingml/2006/main">
              <a:ext uri="{FF2B5EF4-FFF2-40B4-BE49-F238E27FC236}">
                <a16:creationId xmlns:a16="http://schemas.microsoft.com/office/drawing/2014/main" id="{F95041CF-D3E2-40DB-9CE0-B2CB9ED87611}"/>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DDF58F03-FAAF-4A8D-B67E-2A75481B7434}"/>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Normal D − C energy/item: +0.446 × 10⁻⁶ normalized units</a:t>
            </a:r>
          </a:p>
        </p:txBody>
      </p:sp>
      <p:sp>
        <p:nvSpPr>
          <p:cNvPr id="12" name="">
            <a:extLst xmlns:a="http://schemas.openxmlformats.org/drawingml/2006/main">
              <a:ext uri="{FF2B5EF4-FFF2-40B4-BE49-F238E27FC236}">
                <a16:creationId xmlns:a16="http://schemas.microsoft.com/office/drawing/2014/main" id="{165BDC29-8416-42B8-BC67-47340513756D}"/>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34 / 38</a:t>
            </a:r>
          </a:p>
        </p:txBody>
      </p:sp>
      <p:sp>
        <p:nvSpPr>
          <p:cNvPr id="13" name="">
            <a:extLst xmlns:a="http://schemas.openxmlformats.org/drawingml/2006/main">
              <a:ext uri="{FF2B5EF4-FFF2-40B4-BE49-F238E27FC236}">
                <a16:creationId xmlns:a16="http://schemas.microsoft.com/office/drawing/2014/main" id="{A6C0E74F-C151-49A9-8CE2-FD8824E6634A}"/>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patent-study/results_20000/paired_comparison.csv</a:t>
            </a:r>
          </a:p>
        </p:txBody>
      </p:sp>
    </p:spTree>
    <p:extLst>
      <p:ext uri="{BB962C8B-B14F-4D97-AF65-F5344CB8AC3E}">
        <p14:creationId xmlns:p14="http://schemas.microsoft.com/office/powerpoint/2010/main" val="1790574200"/>
      </p:ext>
    </p:extLst>
  </p:cSld>
</p:sld>
</file>

<file path=ppt/slides/slide3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B84A683-33B6-4445-B4F9-46093164C647}"/>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Advantages and contributions</a:t>
            </a:r>
          </a:p>
        </p:txBody>
      </p:sp>
      <p:sp>
        <p:nvSpPr>
          <p:cNvPr id="2" name="">
            <a:extLst xmlns:a="http://schemas.openxmlformats.org/drawingml/2006/main">
              <a:ext uri="{FF2B5EF4-FFF2-40B4-BE49-F238E27FC236}">
                <a16:creationId xmlns:a16="http://schemas.microsoft.com/office/drawing/2014/main" id="{1ADD2817-9E1F-446A-8520-7ECCF1046395}"/>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DCFA0A20-B608-4047-A775-F5AD15970953}"/>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One shared world supports controlled policy comparisons</a:t>
            </a:r>
          </a:p>
        </p:txBody>
      </p:sp>
      <p:sp>
        <p:nvSpPr>
          <p:cNvPr id="4" name="">
            <a:extLst xmlns:a="http://schemas.openxmlformats.org/drawingml/2006/main">
              <a:ext uri="{FF2B5EF4-FFF2-40B4-BE49-F238E27FC236}">
                <a16:creationId xmlns:a16="http://schemas.microsoft.com/office/drawing/2014/main" id="{61061AEC-15AE-4360-9305-5837E7F7075F}"/>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8A545313-5B62-4B7A-8777-E56DBC0EF617}"/>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Recursive scoring uses the same role vector at every hierarchy level</a:t>
            </a:r>
          </a:p>
        </p:txBody>
      </p:sp>
      <p:sp>
        <p:nvSpPr>
          <p:cNvPr id="6" name="">
            <a:extLst xmlns:a="http://schemas.openxmlformats.org/drawingml/2006/main">
              <a:ext uri="{FF2B5EF4-FFF2-40B4-BE49-F238E27FC236}">
                <a16:creationId xmlns:a16="http://schemas.microsoft.com/office/drawing/2014/main" id="{10D23253-55ED-40EB-9A7B-54B3145136B6}"/>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A612152C-EAB7-44A1-BC6F-FC1A108821D1}"/>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Explicit lease states make assignment behavior inspectable</a:t>
            </a:r>
          </a:p>
        </p:txBody>
      </p:sp>
      <p:sp>
        <p:nvSpPr>
          <p:cNvPr id="8" name="">
            <a:extLst xmlns:a="http://schemas.openxmlformats.org/drawingml/2006/main">
              <a:ext uri="{FF2B5EF4-FFF2-40B4-BE49-F238E27FC236}">
                <a16:creationId xmlns:a16="http://schemas.microsoft.com/office/drawing/2014/main" id="{78B445F0-0823-4649-9717-D296D9A5E304}"/>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62DEE41D-336C-4FDE-9EAB-24A8A7662325}"/>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Routed traffic and energy expose the cost of coordination</a:t>
            </a:r>
          </a:p>
        </p:txBody>
      </p:sp>
      <p:sp>
        <p:nvSpPr>
          <p:cNvPr id="10" name="">
            <a:extLst xmlns:a="http://schemas.openxmlformats.org/drawingml/2006/main">
              <a:ext uri="{FF2B5EF4-FFF2-40B4-BE49-F238E27FC236}">
                <a16:creationId xmlns:a16="http://schemas.microsoft.com/office/drawing/2014/main" id="{EC50E6D3-6AD0-4605-B250-17ADFFA28664}"/>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B056DDA4-D053-4961-B5A2-CA33A590A2C6}"/>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Stored per-seed outputs support further analysis</a:t>
            </a:r>
          </a:p>
        </p:txBody>
      </p:sp>
      <p:sp>
        <p:nvSpPr>
          <p:cNvPr id="12" name="">
            <a:extLst xmlns:a="http://schemas.openxmlformats.org/drawingml/2006/main">
              <a:ext uri="{FF2B5EF4-FFF2-40B4-BE49-F238E27FC236}">
                <a16:creationId xmlns:a16="http://schemas.microsoft.com/office/drawing/2014/main" id="{41442372-4B4F-4F6E-B8E1-816369F51C12}"/>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35 / 38</a:t>
            </a:r>
          </a:p>
        </p:txBody>
      </p:sp>
      <p:sp>
        <p:nvSpPr>
          <p:cNvPr id="13" name="">
            <a:extLst xmlns:a="http://schemas.openxmlformats.org/drawingml/2006/main">
              <a:ext uri="{FF2B5EF4-FFF2-40B4-BE49-F238E27FC236}">
                <a16:creationId xmlns:a16="http://schemas.microsoft.com/office/drawing/2014/main" id="{318F7DD3-41A4-4EC1-8528-4B92CAC5E597}"/>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 patent-study/run_patent_study.py</a:t>
            </a:r>
          </a:p>
        </p:txBody>
      </p:sp>
    </p:spTree>
    <p:extLst>
      <p:ext uri="{BB962C8B-B14F-4D97-AF65-F5344CB8AC3E}">
        <p14:creationId xmlns:p14="http://schemas.microsoft.com/office/powerpoint/2010/main" val="1716654794"/>
      </p:ext>
    </p:extLst>
  </p:cSld>
</p:sld>
</file>

<file path=ppt/slides/slide3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5EE9EC0-674A-4225-A9A5-0EE7F066DD4E}"/>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Limitations</a:t>
            </a:r>
          </a:p>
        </p:txBody>
      </p:sp>
      <p:sp>
        <p:nvSpPr>
          <p:cNvPr id="2" name="">
            <a:extLst xmlns:a="http://schemas.openxmlformats.org/drawingml/2006/main">
              <a:ext uri="{FF2B5EF4-FFF2-40B4-BE49-F238E27FC236}">
                <a16:creationId xmlns:a16="http://schemas.microsoft.com/office/drawing/2014/main" id="{FE650919-4965-4188-9915-0CA7EAEDB164}"/>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6333E693-7F9B-4A51-B12A-600F02D2B683}"/>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Role labels model availability, without anomaly detection or discovery payload algorithms</a:t>
            </a:r>
          </a:p>
        </p:txBody>
      </p:sp>
      <p:sp>
        <p:nvSpPr>
          <p:cNvPr id="4" name="">
            <a:extLst xmlns:a="http://schemas.openxmlformats.org/drawingml/2006/main">
              <a:ext uri="{FF2B5EF4-FFF2-40B4-BE49-F238E27FC236}">
                <a16:creationId xmlns:a16="http://schemas.microsoft.com/office/drawing/2014/main" id="{847195B1-4F8F-40C0-A15C-AE21B3E21F9B}"/>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1C6ADDBE-AA55-4A81-B277-220DF8D69F2D}"/>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Shared-memory coordination does not simulate consensus, message delay, or split-brain</a:t>
            </a:r>
          </a:p>
        </p:txBody>
      </p:sp>
      <p:sp>
        <p:nvSpPr>
          <p:cNvPr id="6" name="">
            <a:extLst xmlns:a="http://schemas.openxmlformats.org/drawingml/2006/main">
              <a:ext uri="{FF2B5EF4-FFF2-40B4-BE49-F238E27FC236}">
                <a16:creationId xmlns:a16="http://schemas.microsoft.com/office/drawing/2014/main" id="{9D88F615-AA08-4855-9253-65176240D1A4}"/>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A2D50B1F-3F82-4610-8C7D-8E01A2707257}"/>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No MAC contention, retransmission, sensing / CPU energy, or calibrated radio units</a:t>
            </a:r>
          </a:p>
        </p:txBody>
      </p:sp>
      <p:sp>
        <p:nvSpPr>
          <p:cNvPr id="8" name="">
            <a:extLst xmlns:a="http://schemas.openxmlformats.org/drawingml/2006/main">
              <a:ext uri="{FF2B5EF4-FFF2-40B4-BE49-F238E27FC236}">
                <a16:creationId xmlns:a16="http://schemas.microsoft.com/office/drawing/2014/main" id="{6E3EECE8-2D3A-4E93-82D3-8757674EE9E0}"/>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1401B414-6002-46C4-BB69-EB424B81E954}"/>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Constant solar rates omit daylight and weather variation</a:t>
            </a:r>
          </a:p>
        </p:txBody>
      </p:sp>
      <p:sp>
        <p:nvSpPr>
          <p:cNvPr id="10" name="">
            <a:extLst xmlns:a="http://schemas.openxmlformats.org/drawingml/2006/main">
              <a:ext uri="{FF2B5EF4-FFF2-40B4-BE49-F238E27FC236}">
                <a16:creationId xmlns:a16="http://schemas.microsoft.com/office/drawing/2014/main" id="{B7CE9052-D0E2-49DF-B53D-F2BD2CD3E4F9}"/>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D8D55213-0F3A-4C8C-82E6-5441935AA997}"/>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Mesa version drift breaks startup, and SciPy is undeclared</a:t>
            </a:r>
          </a:p>
        </p:txBody>
      </p:sp>
      <p:sp>
        <p:nvSpPr>
          <p:cNvPr id="12" name="">
            <a:extLst xmlns:a="http://schemas.openxmlformats.org/drawingml/2006/main">
              <a:ext uri="{FF2B5EF4-FFF2-40B4-BE49-F238E27FC236}">
                <a16:creationId xmlns:a16="http://schemas.microsoft.com/office/drawing/2014/main" id="{F4151FAF-F907-4806-A04C-F5F5A525AF05}"/>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36 / 38</a:t>
            </a:r>
          </a:p>
        </p:txBody>
      </p:sp>
      <p:sp>
        <p:nvSpPr>
          <p:cNvPr id="13" name="">
            <a:extLst xmlns:a="http://schemas.openxmlformats.org/drawingml/2006/main">
              <a:ext uri="{FF2B5EF4-FFF2-40B4-BE49-F238E27FC236}">
                <a16:creationId xmlns:a16="http://schemas.microsoft.com/office/drawing/2014/main" id="{430196EB-80F2-480D-9ED3-61274759369B}"/>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simulation/entities.py; simulation/protocols.py; simulation/metrics.py; requirements.txt</a:t>
            </a:r>
          </a:p>
        </p:txBody>
      </p:sp>
    </p:spTree>
    <p:extLst>
      <p:ext uri="{BB962C8B-B14F-4D97-AF65-F5344CB8AC3E}">
        <p14:creationId xmlns:p14="http://schemas.microsoft.com/office/powerpoint/2010/main" val="960219755"/>
      </p:ext>
    </p:extLst>
  </p:cSld>
</p:sld>
</file>

<file path=ppt/slides/slide3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063F884-B78F-4C2E-BA74-B137765F2155}"/>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Future enhancements</a:t>
            </a:r>
          </a:p>
        </p:txBody>
      </p:sp>
      <p:sp>
        <p:nvSpPr>
          <p:cNvPr id="2" name="">
            <a:extLst xmlns:a="http://schemas.openxmlformats.org/drawingml/2006/main">
              <a:ext uri="{FF2B5EF4-FFF2-40B4-BE49-F238E27FC236}">
                <a16:creationId xmlns:a16="http://schemas.microsoft.com/office/drawing/2014/main" id="{C6B1FC3D-001F-482E-817B-117CBE471656}"/>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DDA49B72-78BE-46BD-8EBF-0EE44BEEFCD3}"/>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Implement real role services with measurable task correctness</a:t>
            </a:r>
          </a:p>
        </p:txBody>
      </p:sp>
      <p:sp>
        <p:nvSpPr>
          <p:cNvPr id="4" name="">
            <a:extLst xmlns:a="http://schemas.openxmlformats.org/drawingml/2006/main">
              <a:ext uri="{FF2B5EF4-FFF2-40B4-BE49-F238E27FC236}">
                <a16:creationId xmlns:a16="http://schemas.microsoft.com/office/drawing/2014/main" id="{53E5F92A-E4BB-4959-AC40-6139FC162A7A}"/>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9F975AD7-45FF-44FE-90F4-3139E13CF665}"/>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Add explicit message queues, delay, partition behavior, and stale-epoch rejection</a:t>
            </a:r>
          </a:p>
        </p:txBody>
      </p:sp>
      <p:sp>
        <p:nvSpPr>
          <p:cNvPr id="6" name="">
            <a:extLst xmlns:a="http://schemas.openxmlformats.org/drawingml/2006/main">
              <a:ext uri="{FF2B5EF4-FFF2-40B4-BE49-F238E27FC236}">
                <a16:creationId xmlns:a16="http://schemas.microsoft.com/office/drawing/2014/main" id="{31C8E4D6-903E-4ED0-AB41-F4DECEE2CC9E}"/>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E46A6C8A-C7A3-43A6-BBF8-36288D5FAF7B}"/>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Measure end-to-end root delivery with a fixed offered-load model</a:t>
            </a:r>
          </a:p>
        </p:txBody>
      </p:sp>
      <p:sp>
        <p:nvSpPr>
          <p:cNvPr id="8" name="">
            <a:extLst xmlns:a="http://schemas.openxmlformats.org/drawingml/2006/main">
              <a:ext uri="{FF2B5EF4-FFF2-40B4-BE49-F238E27FC236}">
                <a16:creationId xmlns:a16="http://schemas.microsoft.com/office/drawing/2014/main" id="{DE4BA265-5C7D-4234-9AA0-BB4542675402}"/>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CA853052-B87B-42DC-BD18-69A60D69C148}"/>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Calibrate radio and battery costs and introduce time-varying solar profiles</a:t>
            </a:r>
          </a:p>
        </p:txBody>
      </p:sp>
      <p:sp>
        <p:nvSpPr>
          <p:cNvPr id="10" name="">
            <a:extLst xmlns:a="http://schemas.openxmlformats.org/drawingml/2006/main">
              <a:ext uri="{FF2B5EF4-FFF2-40B4-BE49-F238E27FC236}">
                <a16:creationId xmlns:a16="http://schemas.microsoft.com/office/drawing/2014/main" id="{6F2848C7-14DB-4654-B301-A5D4DBDA688D}"/>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E1007C50-8B6A-4E83-BE04-8F12BA743362}"/>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Pin dependencies and expand matched scaling and ablation experiments</a:t>
            </a:r>
          </a:p>
        </p:txBody>
      </p:sp>
      <p:sp>
        <p:nvSpPr>
          <p:cNvPr id="12" name="">
            <a:extLst xmlns:a="http://schemas.openxmlformats.org/drawingml/2006/main">
              <a:ext uri="{FF2B5EF4-FFF2-40B4-BE49-F238E27FC236}">
                <a16:creationId xmlns:a16="http://schemas.microsoft.com/office/drawing/2014/main" id="{921568A3-589A-45D8-AF92-3541E10C2C17}"/>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37 / 38</a:t>
            </a:r>
          </a:p>
        </p:txBody>
      </p:sp>
      <p:sp>
        <p:nvSpPr>
          <p:cNvPr id="13" name="">
            <a:extLst xmlns:a="http://schemas.openxmlformats.org/drawingml/2006/main">
              <a:ext uri="{FF2B5EF4-FFF2-40B4-BE49-F238E27FC236}">
                <a16:creationId xmlns:a16="http://schemas.microsoft.com/office/drawing/2014/main" id="{0A0C2AAD-2488-4D30-9EF9-C53402A5AD2A}"/>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Architectural recommendations based on simulation/ and study design</a:t>
            </a:r>
          </a:p>
        </p:txBody>
      </p:sp>
    </p:spTree>
    <p:extLst>
      <p:ext uri="{BB962C8B-B14F-4D97-AF65-F5344CB8AC3E}">
        <p14:creationId xmlns:p14="http://schemas.microsoft.com/office/powerpoint/2010/main" val="1670855801"/>
      </p:ext>
    </p:extLst>
  </p:cSld>
</p:sld>
</file>

<file path=ppt/slides/slide3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29E176A-F402-46F7-B2FD-E8ED41BB2B35}"/>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Conclusion and references</a:t>
            </a:r>
          </a:p>
        </p:txBody>
      </p:sp>
      <p:sp>
        <p:nvSpPr>
          <p:cNvPr id="2" name="">
            <a:extLst xmlns:a="http://schemas.openxmlformats.org/drawingml/2006/main">
              <a:ext uri="{FF2B5EF4-FFF2-40B4-BE49-F238E27FC236}">
                <a16:creationId xmlns:a16="http://schemas.microsoft.com/office/drawing/2014/main" id="{A461D853-0BD8-445D-9774-AF9B3483542A}"/>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2A59AF95-763B-40C4-97AA-339D87EAFBA2}"/>
              </a:ext>
            </a:extLst>
          </p:cNvPr>
          <p:cNvSpPr>
            <a:spLocks xmlns:a="http://schemas.openxmlformats.org/drawingml/2006/main" noGrp="1"/>
          </p:cNvSpPr>
          <p:nvPr/>
        </p:nvSpPr>
        <p:spPr>
          <a:xfrm xmlns:a="http://schemas.openxmlformats.org/drawingml/2006/main">
            <a:off x="1352550" y="17145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Implemented: hierarchical capability, role leases, routing, recovery, and solar extensions</a:t>
            </a:r>
          </a:p>
        </p:txBody>
      </p:sp>
      <p:sp>
        <p:nvSpPr>
          <p:cNvPr id="4" name="">
            <a:extLst xmlns:a="http://schemas.openxmlformats.org/drawingml/2006/main">
              <a:ext uri="{FF2B5EF4-FFF2-40B4-BE49-F238E27FC236}">
                <a16:creationId xmlns:a16="http://schemas.microsoft.com/office/drawing/2014/main" id="{DBD6A72C-DD93-4957-8980-681FCB1DD0DC}"/>
              </a:ext>
            </a:extLst>
          </p:cNvPr>
          <p:cNvSpPr>
            <a:spLocks xmlns:a="http://schemas.openxmlformats.org/drawingml/2006/main" noGrp="1"/>
          </p:cNvSpPr>
          <p:nvPr/>
        </p:nvSpPr>
        <p:spPr>
          <a:xfrm xmlns:a="http://schemas.openxmlformats.org/drawingml/2006/main">
            <a:off x="685800" y="2667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2BC179A2-051B-4B3D-9139-8F0273517A15}"/>
              </a:ext>
            </a:extLst>
          </p:cNvPr>
          <p:cNvSpPr>
            <a:spLocks xmlns:a="http://schemas.openxmlformats.org/drawingml/2006/main" noGrp="1"/>
          </p:cNvSpPr>
          <p:nvPr/>
        </p:nvSpPr>
        <p:spPr>
          <a:xfrm xmlns:a="http://schemas.openxmlformats.org/drawingml/2006/main">
            <a:off x="1352550" y="26670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Demonstrated: repeatable comparisons with stored 480-run evidence</a:t>
            </a:r>
          </a:p>
        </p:txBody>
      </p:sp>
      <p:sp>
        <p:nvSpPr>
          <p:cNvPr id="6" name="">
            <a:extLst xmlns:a="http://schemas.openxmlformats.org/drawingml/2006/main">
              <a:ext uri="{FF2B5EF4-FFF2-40B4-BE49-F238E27FC236}">
                <a16:creationId xmlns:a16="http://schemas.microsoft.com/office/drawing/2014/main" id="{11F25DA9-2732-4CFF-B959-F1390567593B}"/>
              </a:ext>
            </a:extLst>
          </p:cNvPr>
          <p:cNvSpPr>
            <a:spLocks xmlns:a="http://schemas.openxmlformats.org/drawingml/2006/main" noGrp="1"/>
          </p:cNvSpPr>
          <p:nvPr/>
        </p:nvSpPr>
        <p:spPr>
          <a:xfrm xmlns:a="http://schemas.openxmlformats.org/drawingml/2006/main">
            <a:off x="685800" y="3619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CE9C9148-83E9-480C-B65C-D5121903908F}"/>
              </a:ext>
            </a:extLst>
          </p:cNvPr>
          <p:cNvSpPr>
            <a:spLocks xmlns:a="http://schemas.openxmlformats.org/drawingml/2006/main" noGrp="1"/>
          </p:cNvSpPr>
          <p:nvPr/>
        </p:nvSpPr>
        <p:spPr>
          <a:xfrm xmlns:a="http://schemas.openxmlformats.org/drawingml/2006/main">
            <a:off x="1352550" y="36195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Main finding: harvest sustains service in this model, while gate benefits remain unproven</a:t>
            </a:r>
          </a:p>
        </p:txBody>
      </p:sp>
      <p:sp>
        <p:nvSpPr>
          <p:cNvPr id="8" name="">
            <a:extLst xmlns:a="http://schemas.openxmlformats.org/drawingml/2006/main">
              <a:ext uri="{FF2B5EF4-FFF2-40B4-BE49-F238E27FC236}">
                <a16:creationId xmlns:a16="http://schemas.microsoft.com/office/drawing/2014/main" id="{E0F94336-8F09-4C28-AE71-7AF935DBE9DB}"/>
              </a:ext>
            </a:extLst>
          </p:cNvPr>
          <p:cNvSpPr>
            <a:spLocks xmlns:a="http://schemas.openxmlformats.org/drawingml/2006/main" noGrp="1"/>
          </p:cNvSpPr>
          <p:nvPr/>
        </p:nvSpPr>
        <p:spPr>
          <a:xfrm xmlns:a="http://schemas.openxmlformats.org/drawingml/2006/main">
            <a:off x="685800" y="4572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C7A8C64F-CA12-40A7-B39A-39DAE6489502}"/>
              </a:ext>
            </a:extLst>
          </p:cNvPr>
          <p:cNvSpPr>
            <a:spLocks xmlns:a="http://schemas.openxmlformats.org/drawingml/2006/main" noGrp="1"/>
          </p:cNvSpPr>
          <p:nvPr/>
        </p:nvSpPr>
        <p:spPr>
          <a:xfrm xmlns:a="http://schemas.openxmlformats.org/drawingml/2006/main">
            <a:off x="1352550" y="45720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Evidence: source code, regression tests, per-run metrics, and paired comparisons</a:t>
            </a:r>
          </a:p>
        </p:txBody>
      </p:sp>
      <p:sp>
        <p:nvSpPr>
          <p:cNvPr id="10" name="">
            <a:extLst xmlns:a="http://schemas.openxmlformats.org/drawingml/2006/main">
              <a:ext uri="{FF2B5EF4-FFF2-40B4-BE49-F238E27FC236}">
                <a16:creationId xmlns:a16="http://schemas.microsoft.com/office/drawing/2014/main" id="{5FA20A46-0546-49BE-8C7D-10E9669BDBD6}"/>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38 / 38</a:t>
            </a:r>
          </a:p>
        </p:txBody>
      </p:sp>
      <p:sp>
        <p:nvSpPr>
          <p:cNvPr id="11" name="">
            <a:extLst xmlns:a="http://schemas.openxmlformats.org/drawingml/2006/main">
              <a:ext uri="{FF2B5EF4-FFF2-40B4-BE49-F238E27FC236}">
                <a16:creationId xmlns:a16="http://schemas.microsoft.com/office/drawing/2014/main" id="{F0EE27F5-3F93-4541-B9AA-7E8FE0AA0363}"/>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Project.md; SIMULATION_GUIDE.md; simulation/; tests/; patent-study/results_20000/</a:t>
            </a:r>
          </a:p>
        </p:txBody>
      </p:sp>
    </p:spTree>
    <p:extLst>
      <p:ext uri="{BB962C8B-B14F-4D97-AF65-F5344CB8AC3E}">
        <p14:creationId xmlns:p14="http://schemas.microsoft.com/office/powerpoint/2010/main" val="1123229744"/>
      </p:ext>
    </p:extLst>
  </p:cSld>
</p:sld>
</file>

<file path=ppt/slides/slide39.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65FF3DA-FF26-43B7-93A7-97713D934FF3}"/>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Appendix: migration pseudocode</a:t>
            </a:r>
          </a:p>
        </p:txBody>
      </p:sp>
      <p:sp>
        <p:nvSpPr>
          <p:cNvPr id="2" name="">
            <a:extLst xmlns:a="http://schemas.openxmlformats.org/drawingml/2006/main">
              <a:ext uri="{FF2B5EF4-FFF2-40B4-BE49-F238E27FC236}">
                <a16:creationId xmlns:a16="http://schemas.microsoft.com/office/drawing/2014/main" id="{4000233C-B8EC-4F19-B974-14F3EC8D6E7E}"/>
              </a:ext>
            </a:extLst>
          </p:cNvPr>
          <p:cNvSpPr>
            <a:spLocks xmlns:a="http://schemas.openxmlformats.org/drawingml/2006/main" noGrp="1"/>
          </p:cNvSpPr>
          <p:nvPr/>
        </p:nvSpPr>
        <p:spPr>
          <a:xfrm xmlns:a="http://schemas.openxmlformats.org/drawingml/2006/main">
            <a:off x="723900" y="171450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112B3C"/>
                </a:solidFill>
                <a:latin typeface="Arial"/>
                <a:ea typeface="Arial"/>
                <a:cs typeface="Arial"/>
              </a:defRPr>
            </a:defPPr>
          </a:lstStyle>
          <a:p xmlns:a="http://schemas.openxmlformats.org/drawingml/2006/main">
            <a:pPr>
              <a:defRPr sz="2100" b="1">
                <a:solidFill>
                  <a:srgbClr val="112B3C"/>
                </a:solidFill>
                <a:latin typeface="Arial"/>
                <a:ea typeface="Arial"/>
                <a:cs typeface="Arial"/>
              </a:defRPr>
            </a:pPr>
            <a:r>
              <a:rPr sz="2100" b="1">
                <a:solidFill>
                  <a:srgbClr val="112B3C"/>
                </a:solidFill>
                <a:latin typeface="Arial"/>
                <a:ea typeface="Arial"/>
                <a:cs typeface="Arial"/>
              </a:rPr>
              <a:t>current = known_capability(holder, role)</a:t>
            </a:r>
          </a:p>
        </p:txBody>
      </p:sp>
      <p:sp>
        <p:nvSpPr>
          <p:cNvPr id="3" name="">
            <a:extLst xmlns:a="http://schemas.openxmlformats.org/drawingml/2006/main">
              <a:ext uri="{FF2B5EF4-FFF2-40B4-BE49-F238E27FC236}">
                <a16:creationId xmlns:a16="http://schemas.microsoft.com/office/drawing/2014/main" id="{FD7847AA-8370-4C42-83E3-F4FF9ACC38C7}"/>
              </a:ext>
            </a:extLst>
          </p:cNvPr>
          <p:cNvSpPr>
            <a:spLocks xmlns:a="http://schemas.openxmlformats.org/drawingml/2006/main" noGrp="1"/>
          </p:cNvSpPr>
          <p:nvPr/>
        </p:nvSpPr>
        <p:spPr>
          <a:xfrm xmlns:a="http://schemas.openxmlformats.org/drawingml/2006/main">
            <a:off x="723900" y="22193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526775"/>
                </a:solidFill>
                <a:latin typeface="Arial"/>
                <a:ea typeface="Arial"/>
                <a:cs typeface="Arial"/>
              </a:defRPr>
            </a:defPPr>
          </a:lstStyle>
          <a:p xmlns:a="http://schemas.openxmlformats.org/drawingml/2006/main">
            <a:pPr>
              <a:defRPr sz="2100" b="0">
                <a:solidFill>
                  <a:srgbClr val="526775"/>
                </a:solidFill>
                <a:latin typeface="Arial"/>
                <a:ea typeface="Arial"/>
                <a:cs typeface="Arial"/>
              </a:defRPr>
            </a:pPr>
            <a:r>
              <a:rPr sz="2100" b="0">
                <a:solidFill>
                  <a:srgbClr val="526775"/>
                </a:solidFill>
                <a:latin typeface="Arial"/>
                <a:ea typeface="Arial"/>
                <a:cs typeface="Arial"/>
              </a:rPr>
              <a:t>for candidate in available_scope_children:</a:t>
            </a:r>
          </a:p>
        </p:txBody>
      </p:sp>
      <p:sp>
        <p:nvSpPr>
          <p:cNvPr id="4" name="">
            <a:extLst xmlns:a="http://schemas.openxmlformats.org/drawingml/2006/main">
              <a:ext uri="{FF2B5EF4-FFF2-40B4-BE49-F238E27FC236}">
                <a16:creationId xmlns:a16="http://schemas.microsoft.com/office/drawing/2014/main" id="{D636DFCA-7C1A-4957-AD73-BBF76A1BF241}"/>
              </a:ext>
            </a:extLst>
          </p:cNvPr>
          <p:cNvSpPr>
            <a:spLocks xmlns:a="http://schemas.openxmlformats.org/drawingml/2006/main" noGrp="1"/>
          </p:cNvSpPr>
          <p:nvPr/>
        </p:nvSpPr>
        <p:spPr>
          <a:xfrm xmlns:a="http://schemas.openxmlformats.org/drawingml/2006/main">
            <a:off x="723900" y="272415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12B3C"/>
                </a:solidFill>
                <a:latin typeface="Arial"/>
                <a:ea typeface="Arial"/>
                <a:cs typeface="Arial"/>
              </a:defRPr>
            </a:defPPr>
          </a:lstStyle>
          <a:p xmlns:a="http://schemas.openxmlformats.org/drawingml/2006/main">
            <a:pPr>
              <a:defRPr sz="2100" b="0">
                <a:solidFill>
                  <a:srgbClr val="112B3C"/>
                </a:solidFill>
                <a:latin typeface="Arial"/>
                <a:ea typeface="Arial"/>
                <a:cs typeface="Arial"/>
              </a:defRPr>
            </a:pPr>
            <a:r>
              <a:rPr sz="2100" b="0">
                <a:solidFill>
                  <a:srgbClr val="112B3C"/>
                </a:solidFill>
                <a:latin typeface="Arial"/>
                <a:ea typeface="Arial"/>
                <a:cs typeface="Arial"/>
              </a:rPr>
              <a:t>    cost = migration_cost(holder, candidate)</a:t>
            </a:r>
          </a:p>
        </p:txBody>
      </p:sp>
      <p:sp>
        <p:nvSpPr>
          <p:cNvPr id="5" name="">
            <a:extLst xmlns:a="http://schemas.openxmlformats.org/drawingml/2006/main">
              <a:ext uri="{FF2B5EF4-FFF2-40B4-BE49-F238E27FC236}">
                <a16:creationId xmlns:a16="http://schemas.microsoft.com/office/drawing/2014/main" id="{52BEAD8E-D0AB-46EE-85E6-1E4F45DD7A7B}"/>
              </a:ext>
            </a:extLst>
          </p:cNvPr>
          <p:cNvSpPr>
            <a:spLocks xmlns:a="http://schemas.openxmlformats.org/drawingml/2006/main" noGrp="1"/>
          </p:cNvSpPr>
          <p:nvPr/>
        </p:nvSpPr>
        <p:spPr>
          <a:xfrm xmlns:a="http://schemas.openxmlformats.org/drawingml/2006/main">
            <a:off x="723900" y="322897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526775"/>
                </a:solidFill>
                <a:latin typeface="Arial"/>
                <a:ea typeface="Arial"/>
                <a:cs typeface="Arial"/>
              </a:defRPr>
            </a:defPPr>
          </a:lstStyle>
          <a:p xmlns:a="http://schemas.openxmlformats.org/drawingml/2006/main">
            <a:pPr>
              <a:defRPr sz="2100" b="0">
                <a:solidFill>
                  <a:srgbClr val="526775"/>
                </a:solidFill>
                <a:latin typeface="Arial"/>
                <a:ea typeface="Arial"/>
                <a:cs typeface="Arial"/>
              </a:defRPr>
            </a:pPr>
            <a:r>
              <a:rPr sz="2100" b="0">
                <a:solidFill>
                  <a:srgbClr val="526775"/>
                </a:solidFill>
                <a:latin typeface="Arial"/>
                <a:ea typeface="Arial"/>
                <a:cs typeface="Arial"/>
              </a:rPr>
              <a:t>    utility = known_capability(candidate, role) - λ * cost</a:t>
            </a:r>
          </a:p>
        </p:txBody>
      </p:sp>
      <p:sp>
        <p:nvSpPr>
          <p:cNvPr id="6" name="">
            <a:extLst xmlns:a="http://schemas.openxmlformats.org/drawingml/2006/main">
              <a:ext uri="{FF2B5EF4-FFF2-40B4-BE49-F238E27FC236}">
                <a16:creationId xmlns:a16="http://schemas.microsoft.com/office/drawing/2014/main" id="{BF8F98B9-5AE3-4C13-B8C5-9623721F3607}"/>
              </a:ext>
            </a:extLst>
          </p:cNvPr>
          <p:cNvSpPr>
            <a:spLocks xmlns:a="http://schemas.openxmlformats.org/drawingml/2006/main" noGrp="1"/>
          </p:cNvSpPr>
          <p:nvPr/>
        </p:nvSpPr>
        <p:spPr>
          <a:xfrm xmlns:a="http://schemas.openxmlformats.org/drawingml/2006/main">
            <a:off x="723900" y="373380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12B3C"/>
                </a:solidFill>
                <a:latin typeface="Arial"/>
                <a:ea typeface="Arial"/>
                <a:cs typeface="Arial"/>
              </a:defRPr>
            </a:defPPr>
          </a:lstStyle>
          <a:p xmlns:a="http://schemas.openxmlformats.org/drawingml/2006/main">
            <a:pPr>
              <a:defRPr sz="2100" b="0">
                <a:solidFill>
                  <a:srgbClr val="112B3C"/>
                </a:solidFill>
                <a:latin typeface="Arial"/>
                <a:ea typeface="Arial"/>
                <a:cs typeface="Arial"/>
              </a:defRPr>
            </a:pPr>
            <a:r>
              <a:rPr sz="2100" b="0">
                <a:solidFill>
                  <a:srgbClr val="112B3C"/>
                </a:solidFill>
                <a:latin typeface="Arial"/>
                <a:ea typeface="Arial"/>
                <a:cs typeface="Arial"/>
              </a:rPr>
              <a:t>choose candidate with greatest utility above current</a:t>
            </a:r>
          </a:p>
        </p:txBody>
      </p:sp>
      <p:sp>
        <p:nvSpPr>
          <p:cNvPr id="7" name="">
            <a:extLst xmlns:a="http://schemas.openxmlformats.org/drawingml/2006/main">
              <a:ext uri="{FF2B5EF4-FFF2-40B4-BE49-F238E27FC236}">
                <a16:creationId xmlns:a16="http://schemas.microsoft.com/office/drawing/2014/main" id="{44410C69-A179-4839-898E-44103F488706}"/>
              </a:ext>
            </a:extLst>
          </p:cNvPr>
          <p:cNvSpPr>
            <a:spLocks xmlns:a="http://schemas.openxmlformats.org/drawingml/2006/main" noGrp="1"/>
          </p:cNvSpPr>
          <p:nvPr/>
        </p:nvSpPr>
        <p:spPr>
          <a:xfrm xmlns:a="http://schemas.openxmlformats.org/drawingml/2006/main">
            <a:off x="723900" y="42386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526775"/>
                </a:solidFill>
                <a:latin typeface="Arial"/>
                <a:ea typeface="Arial"/>
                <a:cs typeface="Arial"/>
              </a:defRPr>
            </a:defPPr>
          </a:lstStyle>
          <a:p xmlns:a="http://schemas.openxmlformats.org/drawingml/2006/main">
            <a:pPr>
              <a:defRPr sz="2100" b="0">
                <a:solidFill>
                  <a:srgbClr val="526775"/>
                </a:solidFill>
                <a:latin typeface="Arial"/>
                <a:ea typeface="Arial"/>
                <a:cs typeface="Arial"/>
              </a:defRPr>
            </a:pPr>
            <a:r>
              <a:rPr sz="2100" b="0">
                <a:solidFill>
                  <a:srgbClr val="526775"/>
                </a:solidFill>
                <a:latin typeface="Arial"/>
                <a:ea typeface="Arial"/>
                <a:cs typeface="Arial"/>
              </a:rPr>
              <a:t>if utility &gt; current + Δ and optional_gate_passes:</a:t>
            </a:r>
          </a:p>
        </p:txBody>
      </p:sp>
      <p:sp>
        <p:nvSpPr>
          <p:cNvPr id="8" name="">
            <a:extLst xmlns:a="http://schemas.openxmlformats.org/drawingml/2006/main">
              <a:ext uri="{FF2B5EF4-FFF2-40B4-BE49-F238E27FC236}">
                <a16:creationId xmlns:a16="http://schemas.microsoft.com/office/drawing/2014/main" id="{203CBF4B-5127-4AB6-A54D-9FB10290DD31}"/>
              </a:ext>
            </a:extLst>
          </p:cNvPr>
          <p:cNvSpPr>
            <a:spLocks xmlns:a="http://schemas.openxmlformats.org/drawingml/2006/main" noGrp="1"/>
          </p:cNvSpPr>
          <p:nvPr/>
        </p:nvSpPr>
        <p:spPr>
          <a:xfrm xmlns:a="http://schemas.openxmlformats.org/drawingml/2006/main">
            <a:off x="723900" y="474345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12B3C"/>
                </a:solidFill>
                <a:latin typeface="Arial"/>
                <a:ea typeface="Arial"/>
                <a:cs typeface="Arial"/>
              </a:defRPr>
            </a:defPPr>
          </a:lstStyle>
          <a:p xmlns:a="http://schemas.openxmlformats.org/drawingml/2006/main">
            <a:pPr>
              <a:defRPr sz="2100" b="0">
                <a:solidFill>
                  <a:srgbClr val="112B3C"/>
                </a:solidFill>
                <a:latin typeface="Arial"/>
                <a:ea typeface="Arial"/>
                <a:cs typeface="Arial"/>
              </a:defRPr>
            </a:pPr>
            <a:r>
              <a:rPr sz="2100" b="0">
                <a:solidFill>
                  <a:srgbClr val="112B3C"/>
                </a:solidFill>
                <a:latin typeface="Arial"/>
                <a:ea typeface="Arial"/>
                <a:cs typeface="Arial"/>
              </a:rPr>
              <a:t>    send MIGRATE, update lease, record change</a:t>
            </a:r>
          </a:p>
        </p:txBody>
      </p:sp>
      <p:sp>
        <p:nvSpPr>
          <p:cNvPr id="9" name="">
            <a:extLst xmlns:a="http://schemas.openxmlformats.org/drawingml/2006/main">
              <a:ext uri="{FF2B5EF4-FFF2-40B4-BE49-F238E27FC236}">
                <a16:creationId xmlns:a16="http://schemas.microsoft.com/office/drawing/2014/main" id="{FA7DDF30-0CEB-4471-9B6E-FF929FEDFD41}"/>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39 / appendix</a:t>
            </a:r>
          </a:p>
        </p:txBody>
      </p:sp>
      <p:sp>
        <p:nvSpPr>
          <p:cNvPr id="10" name="">
            <a:extLst xmlns:a="http://schemas.openxmlformats.org/drawingml/2006/main">
              <a:ext uri="{FF2B5EF4-FFF2-40B4-BE49-F238E27FC236}">
                <a16:creationId xmlns:a16="http://schemas.microsoft.com/office/drawing/2014/main" id="{F33ECC1B-E81E-481D-A9CA-641369610CB6}"/>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simulation/protocols.py: _consider_cost_aware_migration; _migrate</a:t>
            </a:r>
          </a:p>
        </p:txBody>
      </p:sp>
    </p:spTree>
    <p:extLst>
      <p:ext uri="{BB962C8B-B14F-4D97-AF65-F5344CB8AC3E}">
        <p14:creationId xmlns:p14="http://schemas.microsoft.com/office/powerpoint/2010/main" val="793428507"/>
      </p:ext>
    </p:extLst>
  </p:cSld>
</p:sld>
</file>

<file path=ppt/slides/slide40.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5C6FFE5-92B2-47B7-8CC8-4864FB399C32}"/>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Appendix: complexity and data structures</a:t>
            </a:r>
          </a:p>
        </p:txBody>
      </p:sp>
      <p:graphicFrame>
        <p:nvGraphicFramePr>
          <p:cNvPr id="2" name="">
            <a:extLst xmlns:a="http://schemas.openxmlformats.org/drawingml/2006/main">
              <a:ext uri="{FF2B5EF4-FFF2-40B4-BE49-F238E27FC236}">
                <a16:creationId xmlns:a16="http://schemas.microsoft.com/office/drawing/2014/main" id="{0E6471F9-C0AB-4C73-A398-B058746BE5B1}"/>
              </a:ext>
            </a:extLst>
          </p:cNvPr>
          <p:cNvGraphicFramePr/>
          <p:nvPr/>
        </p:nvGraphicFramePr>
        <p:xfrm>
          <a:off xmlns:a="http://schemas.openxmlformats.org/drawingml/2006/main" x="609600" y="1714500"/>
          <a:ext xmlns:a="http://schemas.openxmlformats.org/drawingml/2006/main" cx="10972800" cy="4000500"/>
        </p:xfrm>
        <a:graphic xmlns:a="http://schemas.openxmlformats.org/drawingml/2006/main">
          <a:graphicData uri="http://schemas.openxmlformats.org/drawingml/2006/table">
            <a:tbl>
              <a:tblPr/>
              <a:tblGrid>
                <a:gridCol w="5486400"/>
                <a:gridCol w="5486400"/>
              </a:tblGrid>
              <a:tr h="571500">
                <a:tc>
                  <a:txBody>
                    <a:bodyPr lIns="114300" tIns="114300" rIns="114300" bIns="114300"/>
                    <a:lstStyle/>
                    <a:p>
                      <a:r>
                        <a:rPr sz="1800" b="1">
                          <a:solidFill>
                            <a:srgbClr val="FFFFFF"/>
                          </a:solidFill>
                          <a:latin typeface="Arial"/>
                          <a:ea typeface="Arial"/>
                          <a:cs typeface="Arial"/>
                        </a:rPr>
                        <a:t>Operation / storage</a:t>
                      </a:r>
                    </a:p>
                  </a:txBody>
                  <a:tcPr marL="91440" marR="91440" marT="45720" marB="45720" anchor="ctr">
                    <a:lnL w="9525">
                      <a:solidFill>
                        <a:srgbClr val="C9D6DD"/>
                      </a:solidFill>
                      <a:prstDash val="solid"/>
                    </a:lnL>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800" b="1">
                          <a:solidFill>
                            <a:srgbClr val="FFFFFF"/>
                          </a:solidFill>
                          <a:latin typeface="Arial"/>
                          <a:ea typeface="Arial"/>
                          <a:cs typeface="Arial"/>
                        </a:rPr>
                        <a:t>Code-derived bound or structure</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r>
              <a:tr h="571500">
                <a:tc>
                  <a:txBody>
                    <a:bodyPr lIns="114300" tIns="114300" rIns="114300" bIns="114300"/>
                    <a:lstStyle/>
                    <a:p>
                      <a:r>
                        <a:rPr sz="1800" b="0">
                          <a:solidFill>
                            <a:srgbClr val="112B3C"/>
                          </a:solidFill>
                          <a:latin typeface="Arial"/>
                          <a:ea typeface="Arial"/>
                          <a:cs typeface="Arial"/>
                        </a:rPr>
                        <a:t>Topology distance construction</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O(N²) pair comparisons</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571500">
                <a:tc>
                  <a:txBody>
                    <a:bodyPr lIns="114300" tIns="114300" rIns="114300" bIns="114300"/>
                    <a:lstStyle/>
                    <a:p>
                      <a:r>
                        <a:rPr sz="1800" b="0">
                          <a:solidFill>
                            <a:srgbClr val="112B3C"/>
                          </a:solidFill>
                          <a:latin typeface="Arial"/>
                          <a:ea typeface="Arial"/>
                          <a:cs typeface="Arial"/>
                        </a:rPr>
                        <a:t>Capability refresh</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O(R × Σ k log k) with child sorting</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571500">
                <a:tc>
                  <a:txBody>
                    <a:bodyPr lIns="114300" tIns="114300" rIns="114300" bIns="114300"/>
                    <a:lstStyle/>
                    <a:p>
                      <a:r>
                        <a:rPr sz="1800" b="0">
                          <a:solidFill>
                            <a:srgbClr val="112B3C"/>
                          </a:solidFill>
                          <a:latin typeface="Arial"/>
                          <a:ea typeface="Arial"/>
                          <a:cs typeface="Arial"/>
                        </a:rPr>
                        <a:t>Uncached single-source routing</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O((N+E) log N + E log N + Σ path lengths)</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571500">
                <a:tc>
                  <a:txBody>
                    <a:bodyPr lIns="114300" tIns="114300" rIns="114300" bIns="114300"/>
                    <a:lstStyle/>
                    <a:p>
                      <a:r>
                        <a:rPr sz="1800" b="0">
                          <a:solidFill>
                            <a:srgbClr val="112B3C"/>
                          </a:solidFill>
                          <a:latin typeface="Arial"/>
                          <a:ea typeface="Arial"/>
                          <a:cs typeface="Arial"/>
                        </a:rPr>
                        <a:t>Migration candidate scan</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O(K) plus route lookup / construction</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571500">
                <a:tc>
                  <a:txBody>
                    <a:bodyPr lIns="114300" tIns="114300" rIns="114300" bIns="114300"/>
                    <a:lstStyle/>
                    <a:p>
                      <a:r>
                        <a:rPr sz="1800" b="0">
                          <a:solidFill>
                            <a:srgbClr val="112B3C"/>
                          </a:solidFill>
                          <a:latin typeface="Arial"/>
                          <a:ea typeface="Arial"/>
                          <a:cs typeface="Arial"/>
                        </a:rPr>
                        <a:t>Lease inventory</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O(R × scopes), dict of tuple keys</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571500">
                <a:tc>
                  <a:txBody>
                    <a:bodyPr lIns="114300" tIns="114300" rIns="114300" bIns="114300"/>
                    <a:lstStyle/>
                    <a:p>
                      <a:r>
                        <a:rPr sz="1800" b="0">
                          <a:solidFill>
                            <a:srgbClr val="112B3C"/>
                          </a:solidFill>
                          <a:latin typeface="Arial"/>
                          <a:ea typeface="Arial"/>
                          <a:cs typeface="Arial"/>
                        </a:rPr>
                        <a:t>All-source explicit route cache</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Up to O(N³) stored path-node entries</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bl>
          </a:graphicData>
        </a:graphic>
      </p:graphicFrame>
      <p:sp>
        <p:nvSpPr>
          <p:cNvPr id="3" name="">
            <a:extLst xmlns:a="http://schemas.openxmlformats.org/drawingml/2006/main">
              <a:ext uri="{FF2B5EF4-FFF2-40B4-BE49-F238E27FC236}">
                <a16:creationId xmlns:a16="http://schemas.microsoft.com/office/drawing/2014/main" id="{04059BEC-5F5A-42AF-953D-1ED16D5DF179}"/>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40 / appendix</a:t>
            </a:r>
          </a:p>
        </p:txBody>
      </p:sp>
      <p:sp>
        <p:nvSpPr>
          <p:cNvPr id="4" name="">
            <a:extLst xmlns:a="http://schemas.openxmlformats.org/drawingml/2006/main">
              <a:ext uri="{FF2B5EF4-FFF2-40B4-BE49-F238E27FC236}">
                <a16:creationId xmlns:a16="http://schemas.microsoft.com/office/drawing/2014/main" id="{660C5FD9-0FFD-45DF-BE37-9949C7506FEE}"/>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simulation/topology.py; simulation/capability.py; simulation/communications.py; simulation/protocols.py</a:t>
            </a:r>
          </a:p>
        </p:txBody>
      </p:sp>
    </p:spTree>
    <p:extLst>
      <p:ext uri="{BB962C8B-B14F-4D97-AF65-F5344CB8AC3E}">
        <p14:creationId xmlns:p14="http://schemas.microsoft.com/office/powerpoint/2010/main" val="119670741"/>
      </p:ext>
    </p:extLst>
  </p:cSld>
</p:sld>
</file>

<file path=ppt/slides/slide4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5435E1F-FE5C-493E-8EB2-49CA72D8B64C}"/>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Appendix: configuration and reproducibility</a:t>
            </a:r>
          </a:p>
        </p:txBody>
      </p:sp>
      <p:sp>
        <p:nvSpPr>
          <p:cNvPr id="2" name="">
            <a:extLst xmlns:a="http://schemas.openxmlformats.org/drawingml/2006/main">
              <a:ext uri="{FF2B5EF4-FFF2-40B4-BE49-F238E27FC236}">
                <a16:creationId xmlns:a16="http://schemas.microsoft.com/office/drawing/2014/main" id="{DEA05671-317E-45EC-B126-5CAEA8F25218}"/>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F0F52FD5-C4AB-4D3F-8674-E7E5678189DE}"/>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Default: seed 42, 100 steps, range 5.2, grid spacing 4.0</a:t>
            </a:r>
          </a:p>
        </p:txBody>
      </p:sp>
      <p:sp>
        <p:nvSpPr>
          <p:cNvPr id="4" name="">
            <a:extLst xmlns:a="http://schemas.openxmlformats.org/drawingml/2006/main">
              <a:ext uri="{FF2B5EF4-FFF2-40B4-BE49-F238E27FC236}">
                <a16:creationId xmlns:a16="http://schemas.microsoft.com/office/drawing/2014/main" id="{7A11139D-0CB7-440B-9DD6-1F27BECE53CD}"/>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EE2BE434-14F9-4824-9B23-D520FCF49260}"/>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Default: epoch 20, leases 10–100, renewal fraction .7, Δ=.05</a:t>
            </a:r>
          </a:p>
        </p:txBody>
      </p:sp>
      <p:sp>
        <p:nvSpPr>
          <p:cNvPr id="6" name="">
            <a:extLst xmlns:a="http://schemas.openxmlformats.org/drawingml/2006/main">
              <a:ext uri="{FF2B5EF4-FFF2-40B4-BE49-F238E27FC236}">
                <a16:creationId xmlns:a16="http://schemas.microsoft.com/office/drawing/2014/main" id="{F2749284-602A-4CFE-A00F-9A9F7D7FF9EE}"/>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8A649E37-4D1E-44C8-9036-388B2C7BC3EA}"/>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Study: 20,000 steps, 30 seeds, gap 1.5, distance weight 1</a:t>
            </a:r>
          </a:p>
        </p:txBody>
      </p:sp>
      <p:sp>
        <p:nvSpPr>
          <p:cNvPr id="8" name="">
            <a:extLst xmlns:a="http://schemas.openxmlformats.org/drawingml/2006/main">
              <a:ext uri="{FF2B5EF4-FFF2-40B4-BE49-F238E27FC236}">
                <a16:creationId xmlns:a16="http://schemas.microsoft.com/office/drawing/2014/main" id="{6947FAEF-0A0C-4FAD-9904-034919C6CC59}"/>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35FD47E4-2070-43ED-8BCD-B542F6FC419E}"/>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Study: backhaul and valid-lease retention enabled</a:t>
            </a:r>
          </a:p>
        </p:txBody>
      </p:sp>
      <p:sp>
        <p:nvSpPr>
          <p:cNvPr id="10" name="">
            <a:extLst xmlns:a="http://schemas.openxmlformats.org/drawingml/2006/main">
              <a:ext uri="{FF2B5EF4-FFF2-40B4-BE49-F238E27FC236}">
                <a16:creationId xmlns:a16="http://schemas.microsoft.com/office/drawing/2014/main" id="{580474DA-7707-498C-B373-0E0DAAC559C0}"/>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D4D52924-0136-401E-976F-9C457CDE59EB}"/>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Verify with Mesa 3.3.1. Mesa 3.5.1 conflicts with model.scenario</a:t>
            </a:r>
          </a:p>
        </p:txBody>
      </p:sp>
      <p:sp>
        <p:nvSpPr>
          <p:cNvPr id="12" name="">
            <a:extLst xmlns:a="http://schemas.openxmlformats.org/drawingml/2006/main">
              <a:ext uri="{FF2B5EF4-FFF2-40B4-BE49-F238E27FC236}">
                <a16:creationId xmlns:a16="http://schemas.microsoft.com/office/drawing/2014/main" id="{E82B5240-9D90-4FC8-A736-EA17A7DBC4A1}"/>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41 / appendix</a:t>
            </a:r>
          </a:p>
        </p:txBody>
      </p:sp>
      <p:sp>
        <p:nvSpPr>
          <p:cNvPr id="13" name="">
            <a:extLst xmlns:a="http://schemas.openxmlformats.org/drawingml/2006/main">
              <a:ext uri="{FF2B5EF4-FFF2-40B4-BE49-F238E27FC236}">
                <a16:creationId xmlns:a16="http://schemas.microsoft.com/office/drawing/2014/main" id="{64E49BB6-F14F-4609-9F54-CDA8715122CD}"/>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simulation/config.py; simulation/main.py; patent-study/run_patent_study.py; requirements.txt</a:t>
            </a:r>
          </a:p>
        </p:txBody>
      </p:sp>
    </p:spTree>
    <p:extLst>
      <p:ext uri="{BB962C8B-B14F-4D97-AF65-F5344CB8AC3E}">
        <p14:creationId xmlns:p14="http://schemas.microsoft.com/office/powerpoint/2010/main" val="1588737004"/>
      </p:ext>
    </p:extLst>
  </p:cSld>
</p:sld>
</file>

<file path=ppt/slides/slide4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1D673D9-52D1-4DB8-ABB2-A5959D9586DB}"/>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Viva preparation 1 of 6</a:t>
            </a:r>
          </a:p>
        </p:txBody>
      </p:sp>
      <p:sp>
        <p:nvSpPr>
          <p:cNvPr id="2" name="">
            <a:extLst xmlns:a="http://schemas.openxmlformats.org/drawingml/2006/main">
              <a:ext uri="{FF2B5EF4-FFF2-40B4-BE49-F238E27FC236}">
                <a16:creationId xmlns:a16="http://schemas.microsoft.com/office/drawing/2014/main" id="{E876CA51-361C-4EC9-8495-1486C47C3805}"/>
              </a:ext>
            </a:extLst>
          </p:cNvPr>
          <p:cNvSpPr>
            <a:spLocks xmlns:a="http://schemas.openxmlformats.org/drawingml/2006/main" noGrp="1"/>
          </p:cNvSpPr>
          <p:nvPr/>
        </p:nvSpPr>
        <p:spPr>
          <a:xfrm xmlns:a="http://schemas.openxmlformats.org/drawingml/2006/main">
            <a:off x="685800" y="16192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Why separate logical hierarchy from physical mesh?</a:t>
            </a:r>
          </a:p>
        </p:txBody>
      </p:sp>
      <p:sp>
        <p:nvSpPr>
          <p:cNvPr id="3" name="">
            <a:extLst xmlns:a="http://schemas.openxmlformats.org/drawingml/2006/main">
              <a:ext uri="{FF2B5EF4-FFF2-40B4-BE49-F238E27FC236}">
                <a16:creationId xmlns:a16="http://schemas.microsoft.com/office/drawing/2014/main" id="{9031885D-BF64-424D-A4D7-867CBC5D290F}"/>
              </a:ext>
            </a:extLst>
          </p:cNvPr>
          <p:cNvSpPr>
            <a:spLocks xmlns:a="http://schemas.openxmlformats.org/drawingml/2006/main" noGrp="1"/>
          </p:cNvSpPr>
          <p:nvPr/>
        </p:nvSpPr>
        <p:spPr>
          <a:xfrm xmlns:a="http://schemas.openxmlformats.org/drawingml/2006/main">
            <a:off x="685800" y="2000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Membership defines role candidates and aggregation. Physical adjacency determines whether their representatives can actually communicate.</a:t>
            </a:r>
          </a:p>
        </p:txBody>
      </p:sp>
      <p:sp>
        <p:nvSpPr>
          <p:cNvPr id="4" name="">
            <a:extLst xmlns:a="http://schemas.openxmlformats.org/drawingml/2006/main">
              <a:ext uri="{FF2B5EF4-FFF2-40B4-BE49-F238E27FC236}">
                <a16:creationId xmlns:a16="http://schemas.microsoft.com/office/drawing/2014/main" id="{7AF0B8D5-31A0-4747-B726-7E816BB50231}"/>
              </a:ext>
            </a:extLst>
          </p:cNvPr>
          <p:cNvSpPr>
            <a:spLocks xmlns:a="http://schemas.openxmlformats.org/drawingml/2006/main" noGrp="1"/>
          </p:cNvSpPr>
          <p:nvPr/>
        </p:nvSpPr>
        <p:spPr>
          <a:xfrm xmlns:a="http://schemas.openxmlformats.org/drawingml/2006/main">
            <a:off x="685800" y="26860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How many assignments does the default world require?</a:t>
            </a:r>
          </a:p>
        </p:txBody>
      </p:sp>
      <p:sp>
        <p:nvSpPr>
          <p:cNvPr id="5" name="">
            <a:extLst xmlns:a="http://schemas.openxmlformats.org/drawingml/2006/main">
              <a:ext uri="{FF2B5EF4-FFF2-40B4-BE49-F238E27FC236}">
                <a16:creationId xmlns:a16="http://schemas.microsoft.com/office/drawing/2014/main" id="{BA49A069-691C-4DE4-BCBC-774014C157E4}"/>
              </a:ext>
            </a:extLst>
          </p:cNvPr>
          <p:cNvSpPr>
            <a:spLocks xmlns:a="http://schemas.openxmlformats.org/drawingml/2006/main" noGrp="1"/>
          </p:cNvSpPr>
          <p:nvPr/>
        </p:nvSpPr>
        <p:spPr>
          <a:xfrm xmlns:a="http://schemas.openxmlformats.org/drawingml/2006/main">
            <a:off x="685800" y="30670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Four roles across ten subnet, three network, and one internetwork scopes: 4 × 14 = 56.</a:t>
            </a:r>
          </a:p>
        </p:txBody>
      </p:sp>
      <p:sp>
        <p:nvSpPr>
          <p:cNvPr id="6" name="">
            <a:extLst xmlns:a="http://schemas.openxmlformats.org/drawingml/2006/main">
              <a:ext uri="{FF2B5EF4-FFF2-40B4-BE49-F238E27FC236}">
                <a16:creationId xmlns:a16="http://schemas.microsoft.com/office/drawing/2014/main" id="{FE271885-CA63-460F-A221-EBCF954D4145}"/>
              </a:ext>
            </a:extLst>
          </p:cNvPr>
          <p:cNvSpPr>
            <a:spLocks xmlns:a="http://schemas.openxmlformats.org/drawingml/2006/main" noGrp="1"/>
          </p:cNvSpPr>
          <p:nvPr/>
        </p:nvSpPr>
        <p:spPr>
          <a:xfrm xmlns:a="http://schemas.openxmlformats.org/drawingml/2006/main">
            <a:off x="685800" y="37528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Does anomaly_detection execute a detection model?</a:t>
            </a:r>
          </a:p>
        </p:txBody>
      </p:sp>
      <p:sp>
        <p:nvSpPr>
          <p:cNvPr id="7" name="">
            <a:extLst xmlns:a="http://schemas.openxmlformats.org/drawingml/2006/main">
              <a:ext uri="{FF2B5EF4-FFF2-40B4-BE49-F238E27FC236}">
                <a16:creationId xmlns:a16="http://schemas.microsoft.com/office/drawing/2014/main" id="{2A7CABC4-B465-4F1A-9CBB-711641DE25D0}"/>
              </a:ext>
            </a:extLst>
          </p:cNvPr>
          <p:cNvSpPr>
            <a:spLocks xmlns:a="http://schemas.openxmlformats.org/drawingml/2006/main" noGrp="1"/>
          </p:cNvSpPr>
          <p:nvPr/>
        </p:nvSpPr>
        <p:spPr>
          <a:xfrm xmlns:a="http://schemas.openxmlformats.org/drawingml/2006/main">
            <a:off x="685800" y="41338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No. It is a role label scored from energy and health. No anomaly classifier or sensor-payload detector is implemented.</a:t>
            </a:r>
          </a:p>
        </p:txBody>
      </p:sp>
      <p:sp>
        <p:nvSpPr>
          <p:cNvPr id="8" name="">
            <a:extLst xmlns:a="http://schemas.openxmlformats.org/drawingml/2006/main">
              <a:ext uri="{FF2B5EF4-FFF2-40B4-BE49-F238E27FC236}">
                <a16:creationId xmlns:a16="http://schemas.microsoft.com/office/drawing/2014/main" id="{EB06F8A9-042A-4EBF-B0B6-4A637AF98BCD}"/>
              </a:ext>
            </a:extLst>
          </p:cNvPr>
          <p:cNvSpPr>
            <a:spLocks xmlns:a="http://schemas.openxmlformats.org/drawingml/2006/main" noGrp="1"/>
          </p:cNvSpPr>
          <p:nvPr/>
        </p:nvSpPr>
        <p:spPr>
          <a:xfrm xmlns:a="http://schemas.openxmlformats.org/drawingml/2006/main">
            <a:off x="685800" y="48196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How are node scores calculated?</a:t>
            </a:r>
          </a:p>
        </p:txBody>
      </p:sp>
      <p:sp>
        <p:nvSpPr>
          <p:cNvPr id="9" name="">
            <a:extLst xmlns:a="http://schemas.openxmlformats.org/drawingml/2006/main">
              <a:ext uri="{FF2B5EF4-FFF2-40B4-BE49-F238E27FC236}">
                <a16:creationId xmlns:a16="http://schemas.microsoft.com/office/drawing/2014/main" id="{823691ED-86E4-44DB-A4D5-71818DC4C32F}"/>
              </a:ext>
            </a:extLst>
          </p:cNvPr>
          <p:cNvSpPr>
            <a:spLocks xmlns:a="http://schemas.openxmlformats.org/drawingml/2006/main" noGrp="1"/>
          </p:cNvSpPr>
          <p:nvPr/>
        </p:nvSpPr>
        <p:spPr>
          <a:xfrm xmlns:a="http://schemas.openxmlformats.org/drawingml/2006/main">
            <a:off x="685800" y="52006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ROLE_WEIGHTS defines normalized weighted sums. Gateway uses .40 energy, .35 link quality, and .25 initial degree centrality.</a:t>
            </a:r>
          </a:p>
        </p:txBody>
      </p:sp>
      <p:sp>
        <p:nvSpPr>
          <p:cNvPr id="10" name="">
            <a:extLst xmlns:a="http://schemas.openxmlformats.org/drawingml/2006/main">
              <a:ext uri="{FF2B5EF4-FFF2-40B4-BE49-F238E27FC236}">
                <a16:creationId xmlns:a16="http://schemas.microsoft.com/office/drawing/2014/main" id="{0966ADB1-8C96-4368-9B0B-7BFB81421899}"/>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42 / appendix</a:t>
            </a:r>
          </a:p>
        </p:txBody>
      </p:sp>
      <p:sp>
        <p:nvSpPr>
          <p:cNvPr id="11" name="">
            <a:extLst xmlns:a="http://schemas.openxmlformats.org/drawingml/2006/main">
              <a:ext uri="{FF2B5EF4-FFF2-40B4-BE49-F238E27FC236}">
                <a16:creationId xmlns:a16="http://schemas.microsoft.com/office/drawing/2014/main" id="{258A47F2-ED1B-4466-9DA0-51A73F8322C0}"/>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simulation/entities.py; simulation/topology.py; simulation/config.py; ProtocolEngine.assignment_keys; nodes.py; simulation/runner.py; nodes.py</a:t>
            </a:r>
          </a:p>
        </p:txBody>
      </p:sp>
    </p:spTree>
    <p:extLst>
      <p:ext uri="{BB962C8B-B14F-4D97-AF65-F5344CB8AC3E}">
        <p14:creationId xmlns:p14="http://schemas.microsoft.com/office/powerpoint/2010/main" val="1866528364"/>
      </p:ext>
    </p:extLst>
  </p:cSld>
</p:sld>
</file>

<file path=ppt/slides/slide4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37E9AE4-1830-4DA9-93E4-293D1F136F34}"/>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Viva preparation 2 of 6</a:t>
            </a:r>
          </a:p>
        </p:txBody>
      </p:sp>
      <p:sp>
        <p:nvSpPr>
          <p:cNvPr id="2" name="">
            <a:extLst xmlns:a="http://schemas.openxmlformats.org/drawingml/2006/main">
              <a:ext uri="{FF2B5EF4-FFF2-40B4-BE49-F238E27FC236}">
                <a16:creationId xmlns:a16="http://schemas.microsoft.com/office/drawing/2014/main" id="{0500C476-0561-4308-85A9-33E02A8FF080}"/>
              </a:ext>
            </a:extLst>
          </p:cNvPr>
          <p:cNvSpPr>
            <a:spLocks xmlns:a="http://schemas.openxmlformats.org/drawingml/2006/main" noGrp="1"/>
          </p:cNvSpPr>
          <p:nvPr/>
        </p:nvSpPr>
        <p:spPr>
          <a:xfrm xmlns:a="http://schemas.openxmlformats.org/drawingml/2006/main">
            <a:off x="685800" y="16192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happens to a failed node during aggregation?</a:t>
            </a:r>
          </a:p>
        </p:txBody>
      </p:sp>
      <p:sp>
        <p:nvSpPr>
          <p:cNvPr id="3" name="">
            <a:extLst xmlns:a="http://schemas.openxmlformats.org/drawingml/2006/main">
              <a:ext uri="{FF2B5EF4-FFF2-40B4-BE49-F238E27FC236}">
                <a16:creationId xmlns:a16="http://schemas.microsoft.com/office/drawing/2014/main" id="{8FE6A861-0A19-40AB-832A-0597C3551A58}"/>
              </a:ext>
            </a:extLst>
          </p:cNvPr>
          <p:cNvSpPr>
            <a:spLocks xmlns:a="http://schemas.openxmlformats.org/drawingml/2006/main" noGrp="1"/>
          </p:cNvSpPr>
          <p:nvPr/>
        </p:nvSpPr>
        <p:spPr>
          <a:xfrm xmlns:a="http://schemas.openxmlformats.org/drawingml/2006/main">
            <a:off x="685800" y="2000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Its capability becomes zero but its child weight remains in the denominator, reducing the parent aggregate.</a:t>
            </a:r>
          </a:p>
        </p:txBody>
      </p:sp>
      <p:sp>
        <p:nvSpPr>
          <p:cNvPr id="4" name="">
            <a:extLst xmlns:a="http://schemas.openxmlformats.org/drawingml/2006/main">
              <a:ext uri="{FF2B5EF4-FFF2-40B4-BE49-F238E27FC236}">
                <a16:creationId xmlns:a16="http://schemas.microsoft.com/office/drawing/2014/main" id="{11BE4432-E719-4083-B4A8-2EB5B06575A0}"/>
              </a:ext>
            </a:extLst>
          </p:cNvPr>
          <p:cNvSpPr>
            <a:spLocks xmlns:a="http://schemas.openxmlformats.org/drawingml/2006/main" noGrp="1"/>
          </p:cNvSpPr>
          <p:nvPr/>
        </p:nvSpPr>
        <p:spPr>
          <a:xfrm xmlns:a="http://schemas.openxmlformats.org/drawingml/2006/main">
            <a:off x="685800" y="26860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Is the root aggregate the global average node score?</a:t>
            </a:r>
          </a:p>
        </p:txBody>
      </p:sp>
      <p:sp>
        <p:nvSpPr>
          <p:cNvPr id="5" name="">
            <a:extLst xmlns:a="http://schemas.openxmlformats.org/drawingml/2006/main">
              <a:ext uri="{FF2B5EF4-FFF2-40B4-BE49-F238E27FC236}">
                <a16:creationId xmlns:a16="http://schemas.microsoft.com/office/drawing/2014/main" id="{B624C021-836D-4307-8783-8E2BF62597D5}"/>
              </a:ext>
            </a:extLst>
          </p:cNvPr>
          <p:cNvSpPr>
            <a:spLocks xmlns:a="http://schemas.openxmlformats.org/drawingml/2006/main" noGrp="1"/>
          </p:cNvSpPr>
          <p:nvPr/>
        </p:nvSpPr>
        <p:spPr>
          <a:xfrm xmlns:a="http://schemas.openxmlformats.org/drawingml/2006/main">
            <a:off x="685800" y="30670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Not necessarily. Default aggregation averages immediate children at each level, and the networks have unequal descendant counts.</a:t>
            </a:r>
          </a:p>
        </p:txBody>
      </p:sp>
      <p:sp>
        <p:nvSpPr>
          <p:cNvPr id="6" name="">
            <a:extLst xmlns:a="http://schemas.openxmlformats.org/drawingml/2006/main">
              <a:ext uri="{FF2B5EF4-FFF2-40B4-BE49-F238E27FC236}">
                <a16:creationId xmlns:a16="http://schemas.microsoft.com/office/drawing/2014/main" id="{F3067558-3D78-4D01-ACEC-EEBC4C12BE61}"/>
              </a:ext>
            </a:extLst>
          </p:cNvPr>
          <p:cNvSpPr>
            <a:spLocks xmlns:a="http://schemas.openxmlformats.org/drawingml/2006/main" noGrp="1"/>
          </p:cNvSpPr>
          <p:nvPr/>
        </p:nvSpPr>
        <p:spPr>
          <a:xfrm xmlns:a="http://schemas.openxmlformats.org/drawingml/2006/main">
            <a:off x="685800" y="37528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How is a container represented on the physical mesh?</a:t>
            </a:r>
          </a:p>
        </p:txBody>
      </p:sp>
      <p:sp>
        <p:nvSpPr>
          <p:cNvPr id="7" name="">
            <a:extLst xmlns:a="http://schemas.openxmlformats.org/drawingml/2006/main">
              <a:ext uri="{FF2B5EF4-FFF2-40B4-BE49-F238E27FC236}">
                <a16:creationId xmlns:a16="http://schemas.microsoft.com/office/drawing/2014/main" id="{4F5F7657-42BE-4DDE-A29A-8E362C102C23}"/>
              </a:ext>
            </a:extLst>
          </p:cNvPr>
          <p:cNvSpPr>
            <a:spLocks xmlns:a="http://schemas.openxmlformats.org/drawingml/2006/main" noGrp="1"/>
          </p:cNvSpPr>
          <p:nvPr/>
        </p:nvSpPr>
        <p:spPr>
          <a:xfrm xmlns:a="http://schemas.openxmlformats.org/drawingml/2006/main">
            <a:off x="685800" y="41338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The first available descendant node in its stored order represents it. This is an abstraction rather than optimized representative election.</a:t>
            </a:r>
          </a:p>
        </p:txBody>
      </p:sp>
      <p:sp>
        <p:nvSpPr>
          <p:cNvPr id="8" name="">
            <a:extLst xmlns:a="http://schemas.openxmlformats.org/drawingml/2006/main">
              <a:ext uri="{FF2B5EF4-FFF2-40B4-BE49-F238E27FC236}">
                <a16:creationId xmlns:a16="http://schemas.microsoft.com/office/drawing/2014/main" id="{E66BB9E6-577B-4E9C-9F51-9A6A52109B0F}"/>
              </a:ext>
            </a:extLst>
          </p:cNvPr>
          <p:cNvSpPr>
            <a:spLocks xmlns:a="http://schemas.openxmlformats.org/drawingml/2006/main" noGrp="1"/>
          </p:cNvSpPr>
          <p:nvPr/>
        </p:nvSpPr>
        <p:spPr>
          <a:xfrm xmlns:a="http://schemas.openxmlformats.org/drawingml/2006/main">
            <a:off x="685800" y="48196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prevents optional migration oscillation?</a:t>
            </a:r>
          </a:p>
        </p:txBody>
      </p:sp>
      <p:sp>
        <p:nvSpPr>
          <p:cNvPr id="9" name="">
            <a:extLst xmlns:a="http://schemas.openxmlformats.org/drawingml/2006/main">
              <a:ext uri="{FF2B5EF4-FFF2-40B4-BE49-F238E27FC236}">
                <a16:creationId xmlns:a16="http://schemas.microsoft.com/office/drawing/2014/main" id="{5E1270A3-7D6A-4E47-BFB9-326C2EA93808}"/>
              </a:ext>
            </a:extLst>
          </p:cNvPr>
          <p:cNvSpPr>
            <a:spLocks xmlns:a="http://schemas.openxmlformats.org/drawingml/2006/main" noGrp="1"/>
          </p:cNvSpPr>
          <p:nvPr/>
        </p:nvSpPr>
        <p:spPr>
          <a:xfrm xmlns:a="http://schemas.openxmlformats.org/drawingml/2006/main">
            <a:off x="685800" y="52006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Candidate capability minus weighted migration cost must strictly exceed current capability plus hysteresis. Cooldown and adaptive hysteresis are optional.</a:t>
            </a:r>
          </a:p>
        </p:txBody>
      </p:sp>
      <p:sp>
        <p:nvSpPr>
          <p:cNvPr id="10" name="">
            <a:extLst xmlns:a="http://schemas.openxmlformats.org/drawingml/2006/main">
              <a:ext uri="{FF2B5EF4-FFF2-40B4-BE49-F238E27FC236}">
                <a16:creationId xmlns:a16="http://schemas.microsoft.com/office/drawing/2014/main" id="{16E5B3EB-BF1C-4A48-928A-352C07A75088}"/>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43 / appendix</a:t>
            </a:r>
          </a:p>
        </p:txBody>
      </p:sp>
      <p:sp>
        <p:nvSpPr>
          <p:cNvPr id="11" name="">
            <a:extLst xmlns:a="http://schemas.openxmlformats.org/drawingml/2006/main">
              <a:ext uri="{FF2B5EF4-FFF2-40B4-BE49-F238E27FC236}">
                <a16:creationId xmlns:a16="http://schemas.microsoft.com/office/drawing/2014/main" id="{169181C5-8CD1-4A0A-9D7C-484B18D2F15B}"/>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nodes.py; simulation/capability.py; simulation/capability.py; SimulationConfig.subnet_counts; EntityHierarchy.representative_node_id; ProtocolEng...</a:t>
            </a:r>
          </a:p>
        </p:txBody>
      </p:sp>
    </p:spTree>
    <p:extLst>
      <p:ext uri="{BB962C8B-B14F-4D97-AF65-F5344CB8AC3E}">
        <p14:creationId xmlns:p14="http://schemas.microsoft.com/office/powerpoint/2010/main" val="2127648669"/>
      </p:ext>
    </p:extLst>
  </p:cSld>
</p:sld>
</file>

<file path=ppt/slides/slide4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793D7AE-40C1-4482-9714-C30E8F21E595}"/>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Viva preparation 3 of 6</a:t>
            </a:r>
          </a:p>
        </p:txBody>
      </p:sp>
      <p:sp>
        <p:nvSpPr>
          <p:cNvPr id="2" name="">
            <a:extLst xmlns:a="http://schemas.openxmlformats.org/drawingml/2006/main">
              <a:ext uri="{FF2B5EF4-FFF2-40B4-BE49-F238E27FC236}">
                <a16:creationId xmlns:a16="http://schemas.microsoft.com/office/drawing/2014/main" id="{F3CFF46B-3739-4ED2-8B4D-934B0FB1623D}"/>
              </a:ext>
            </a:extLst>
          </p:cNvPr>
          <p:cNvSpPr>
            <a:spLocks xmlns:a="http://schemas.openxmlformats.org/drawingml/2006/main" noGrp="1"/>
          </p:cNvSpPr>
          <p:nvPr/>
        </p:nvSpPr>
        <p:spPr>
          <a:xfrm xmlns:a="http://schemas.openxmlformats.org/drawingml/2006/main">
            <a:off x="685800" y="16192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How is migration cost different from charged energy?</a:t>
            </a:r>
          </a:p>
        </p:txBody>
      </p:sp>
      <p:sp>
        <p:nvSpPr>
          <p:cNvPr id="3" name="">
            <a:extLst xmlns:a="http://schemas.openxmlformats.org/drawingml/2006/main">
              <a:ext uri="{FF2B5EF4-FFF2-40B4-BE49-F238E27FC236}">
                <a16:creationId xmlns:a16="http://schemas.microsoft.com/office/drawing/2014/main" id="{ED25E617-300C-404D-A4FF-F36C3D07578B}"/>
              </a:ext>
            </a:extLst>
          </p:cNvPr>
          <p:cNvSpPr>
            <a:spLocks xmlns:a="http://schemas.openxmlformats.org/drawingml/2006/main" noGrp="1"/>
          </p:cNvSpPr>
          <p:nvPr/>
        </p:nvSpPr>
        <p:spPr>
          <a:xfrm xmlns:a="http://schemas.openxmlformats.org/drawingml/2006/main">
            <a:off x="685800" y="2000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The score cost combines estimated messages, transfer, route-based energy, and disruption. Actual router counters charge the modeled exchanges that execute.</a:t>
            </a:r>
          </a:p>
        </p:txBody>
      </p:sp>
      <p:sp>
        <p:nvSpPr>
          <p:cNvPr id="4" name="">
            <a:extLst xmlns:a="http://schemas.openxmlformats.org/drawingml/2006/main">
              <a:ext uri="{FF2B5EF4-FFF2-40B4-BE49-F238E27FC236}">
                <a16:creationId xmlns:a16="http://schemas.microsoft.com/office/drawing/2014/main" id="{497BA03D-4E15-4965-9F78-83A0ABE59EB5}"/>
              </a:ext>
            </a:extLst>
          </p:cNvPr>
          <p:cNvSpPr>
            <a:spLocks xmlns:a="http://schemas.openxmlformats.org/drawingml/2006/main" noGrp="1"/>
          </p:cNvSpPr>
          <p:nvPr/>
        </p:nvSpPr>
        <p:spPr>
          <a:xfrm xmlns:a="http://schemas.openxmlformats.org/drawingml/2006/main">
            <a:off x="685800" y="26860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How do lease renewal and epoch retention interact?</a:t>
            </a:r>
          </a:p>
        </p:txBody>
      </p:sp>
      <p:sp>
        <p:nvSpPr>
          <p:cNvPr id="5" name="">
            <a:extLst xmlns:a="http://schemas.openxmlformats.org/drawingml/2006/main">
              <a:ext uri="{FF2B5EF4-FFF2-40B4-BE49-F238E27FC236}">
                <a16:creationId xmlns:a16="http://schemas.microsoft.com/office/drawing/2014/main" id="{FB7B3089-4281-4E18-BC9D-9545874CB82B}"/>
              </a:ext>
            </a:extLst>
          </p:cNvPr>
          <p:cNvSpPr>
            <a:spLocks xmlns:a="http://schemas.openxmlformats.org/drawingml/2006/main" noGrp="1"/>
          </p:cNvSpPr>
          <p:nvPr/>
        </p:nvSpPr>
        <p:spPr>
          <a:xfrm xmlns:a="http://schemas.openxmlformats.org/drawingml/2006/main">
            <a:off x="685800" y="30670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Renewal updates lease timing at its configured fraction. Without retention, epoch changes regrant leases, potentially occurring before long leases renew.</a:t>
            </a:r>
          </a:p>
        </p:txBody>
      </p:sp>
      <p:sp>
        <p:nvSpPr>
          <p:cNvPr id="6" name="">
            <a:extLst xmlns:a="http://schemas.openxmlformats.org/drawingml/2006/main">
              <a:ext uri="{FF2B5EF4-FFF2-40B4-BE49-F238E27FC236}">
                <a16:creationId xmlns:a16="http://schemas.microsoft.com/office/drawing/2014/main" id="{41B8324F-FC5B-4C2B-88AF-10980A15ADCA}"/>
              </a:ext>
            </a:extLst>
          </p:cNvPr>
          <p:cNvSpPr>
            <a:spLocks xmlns:a="http://schemas.openxmlformats.org/drawingml/2006/main" noGrp="1"/>
          </p:cNvSpPr>
          <p:nvPr/>
        </p:nvSpPr>
        <p:spPr>
          <a:xfrm xmlns:a="http://schemas.openxmlformats.org/drawingml/2006/main">
            <a:off x="685800" y="37528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Does epoch fencing solve distributed split-brain?</a:t>
            </a:r>
          </a:p>
        </p:txBody>
      </p:sp>
      <p:sp>
        <p:nvSpPr>
          <p:cNvPr id="7" name="">
            <a:extLst xmlns:a="http://schemas.openxmlformats.org/drawingml/2006/main">
              <a:ext uri="{FF2B5EF4-FFF2-40B4-BE49-F238E27FC236}">
                <a16:creationId xmlns:a16="http://schemas.microsoft.com/office/drawing/2014/main" id="{B6363AD6-4B26-42F6-ADE1-751D6AC521C4}"/>
              </a:ext>
            </a:extLst>
          </p:cNvPr>
          <p:cNvSpPr>
            <a:spLocks xmlns:a="http://schemas.openxmlformats.org/drawingml/2006/main" noGrp="1"/>
          </p:cNvSpPr>
          <p:nvPr/>
        </p:nvSpPr>
        <p:spPr>
          <a:xfrm xmlns:a="http://schemas.openxmlformats.org/drawingml/2006/main">
            <a:off x="685800" y="41338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No. Epoch labels and invalidation operate in one process. Independent receivers, delayed messages, and stale-epoch rejection are not simulated.</a:t>
            </a:r>
          </a:p>
        </p:txBody>
      </p:sp>
      <p:sp>
        <p:nvSpPr>
          <p:cNvPr id="8" name="">
            <a:extLst xmlns:a="http://schemas.openxmlformats.org/drawingml/2006/main">
              <a:ext uri="{FF2B5EF4-FFF2-40B4-BE49-F238E27FC236}">
                <a16:creationId xmlns:a16="http://schemas.microsoft.com/office/drawing/2014/main" id="{24A318C0-6DE8-4637-A519-58B85776F804}"/>
              </a:ext>
            </a:extLst>
          </p:cNvPr>
          <p:cNvSpPr>
            <a:spLocks xmlns:a="http://schemas.openxmlformats.org/drawingml/2006/main" noGrp="1"/>
          </p:cNvSpPr>
          <p:nvPr/>
        </p:nvSpPr>
        <p:spPr>
          <a:xfrm xmlns:a="http://schemas.openxmlformats.org/drawingml/2006/main">
            <a:off x="685800" y="48196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Why does routing sometimes choose more hops?</a:t>
            </a:r>
          </a:p>
        </p:txBody>
      </p:sp>
      <p:sp>
        <p:nvSpPr>
          <p:cNvPr id="9" name="">
            <a:extLst xmlns:a="http://schemas.openxmlformats.org/drawingml/2006/main">
              <a:ext uri="{FF2B5EF4-FFF2-40B4-BE49-F238E27FC236}">
                <a16:creationId xmlns:a16="http://schemas.microsoft.com/office/drawing/2014/main" id="{F11D6194-15E7-4A24-A0D6-BD8DC7385AA5}"/>
              </a:ext>
            </a:extLst>
          </p:cNvPr>
          <p:cNvSpPr>
            <a:spLocks xmlns:a="http://schemas.openxmlformats.org/drawingml/2006/main" noGrp="1"/>
          </p:cNvSpPr>
          <p:nvPr/>
        </p:nvSpPr>
        <p:spPr>
          <a:xfrm xmlns:a="http://schemas.openxmlformats.org/drawingml/2006/main">
            <a:off x="685800" y="52006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Dijkstra minimizes quality-weighted cost, so two reliable edges can cost less than one poor edge.</a:t>
            </a:r>
          </a:p>
        </p:txBody>
      </p:sp>
      <p:sp>
        <p:nvSpPr>
          <p:cNvPr id="10" name="">
            <a:extLst xmlns:a="http://schemas.openxmlformats.org/drawingml/2006/main">
              <a:ext uri="{FF2B5EF4-FFF2-40B4-BE49-F238E27FC236}">
                <a16:creationId xmlns:a16="http://schemas.microsoft.com/office/drawing/2014/main" id="{F4777969-EEE9-42C4-AD43-FDA9E0318149}"/>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44 / appendix</a:t>
            </a:r>
          </a:p>
        </p:txBody>
      </p:sp>
      <p:sp>
        <p:nvSpPr>
          <p:cNvPr id="11" name="">
            <a:extLst xmlns:a="http://schemas.openxmlformats.org/drawingml/2006/main">
              <a:ext uri="{FF2B5EF4-FFF2-40B4-BE49-F238E27FC236}">
                <a16:creationId xmlns:a16="http://schemas.microsoft.com/office/drawing/2014/main" id="{2D3C2AAA-B8F4-4A6B-BBD9-E5DB31CFCB82}"/>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calculate_migration_cost; ProtocolEngine._migrate; ProtocolEngine._renew_if_due; _advance_epoch; simulation/protocols.py; simulation/leases.py; N...</a:t>
            </a:r>
          </a:p>
        </p:txBody>
      </p:sp>
    </p:spTree>
    <p:extLst>
      <p:ext uri="{BB962C8B-B14F-4D97-AF65-F5344CB8AC3E}">
        <p14:creationId xmlns:p14="http://schemas.microsoft.com/office/powerpoint/2010/main" val="1371557504"/>
      </p:ext>
    </p:extLst>
  </p:cSld>
</p:sld>
</file>

<file path=ppt/slides/slide4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2A7276B-AF1D-44A4-B9D7-8FBC0FF15C1A}"/>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Viva preparation 4 of 6</a:t>
            </a:r>
          </a:p>
        </p:txBody>
      </p:sp>
      <p:sp>
        <p:nvSpPr>
          <p:cNvPr id="2" name="">
            <a:extLst xmlns:a="http://schemas.openxmlformats.org/drawingml/2006/main">
              <a:ext uri="{FF2B5EF4-FFF2-40B4-BE49-F238E27FC236}">
                <a16:creationId xmlns:a16="http://schemas.microsoft.com/office/drawing/2014/main" id="{7BFF0221-3D7C-49D1-A330-E4DACE259DCF}"/>
              </a:ext>
            </a:extLst>
          </p:cNvPr>
          <p:cNvSpPr>
            <a:spLocks xmlns:a="http://schemas.openxmlformats.org/drawingml/2006/main" noGrp="1"/>
          </p:cNvSpPr>
          <p:nvPr/>
        </p:nvSpPr>
        <p:spPr>
          <a:xfrm xmlns:a="http://schemas.openxmlformats.org/drawingml/2006/main">
            <a:off x="685800" y="16192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When are cached routes invalidated?</a:t>
            </a:r>
          </a:p>
        </p:txBody>
      </p:sp>
      <p:sp>
        <p:nvSpPr>
          <p:cNvPr id="3" name="">
            <a:extLst xmlns:a="http://schemas.openxmlformats.org/drawingml/2006/main">
              <a:ext uri="{FF2B5EF4-FFF2-40B4-BE49-F238E27FC236}">
                <a16:creationId xmlns:a16="http://schemas.microsoft.com/office/drawing/2014/main" id="{C5A975CB-4535-4F24-BF8D-86B4AA650DB8}"/>
              </a:ext>
            </a:extLst>
          </p:cNvPr>
          <p:cNvSpPr>
            <a:spLocks xmlns:a="http://schemas.openxmlformats.org/drawingml/2006/main" noGrp="1"/>
          </p:cNvSpPr>
          <p:nvPr/>
        </p:nvSpPr>
        <p:spPr>
          <a:xfrm xmlns:a="http://schemas.openxmlformats.org/drawingml/2006/main">
            <a:off x="685800" y="2000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Failure, recovery, link degradation, and depletion invalidate usable graph and source-route caches.</a:t>
            </a:r>
          </a:p>
        </p:txBody>
      </p:sp>
      <p:sp>
        <p:nvSpPr>
          <p:cNvPr id="4" name="">
            <a:extLst xmlns:a="http://schemas.openxmlformats.org/drawingml/2006/main">
              <a:ext uri="{FF2B5EF4-FFF2-40B4-BE49-F238E27FC236}">
                <a16:creationId xmlns:a16="http://schemas.microsoft.com/office/drawing/2014/main" id="{470F7772-0607-45D5-8016-3F272AA83A0D}"/>
              </a:ext>
            </a:extLst>
          </p:cNvPr>
          <p:cNvSpPr>
            <a:spLocks xmlns:a="http://schemas.openxmlformats.org/drawingml/2006/main" noGrp="1"/>
          </p:cNvSpPr>
          <p:nvPr/>
        </p:nvSpPr>
        <p:spPr>
          <a:xfrm xmlns:a="http://schemas.openxmlformats.org/drawingml/2006/main">
            <a:off x="685800" y="26860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is the routing complexity caveat?</a:t>
            </a:r>
          </a:p>
        </p:txBody>
      </p:sp>
      <p:sp>
        <p:nvSpPr>
          <p:cNvPr id="5" name="">
            <a:extLst xmlns:a="http://schemas.openxmlformats.org/drawingml/2006/main">
              <a:ext uri="{FF2B5EF4-FFF2-40B4-BE49-F238E27FC236}">
                <a16:creationId xmlns:a16="http://schemas.microsoft.com/office/drawing/2014/main" id="{0A7CEE2C-A03A-46EC-80E6-C2077A1970D4}"/>
              </a:ext>
            </a:extLst>
          </p:cNvPr>
          <p:cNvSpPr>
            <a:spLocks xmlns:a="http://schemas.openxmlformats.org/drawingml/2006/main" noGrp="1"/>
          </p:cNvSpPr>
          <p:nvPr/>
        </p:nvSpPr>
        <p:spPr>
          <a:xfrm xmlns:a="http://schemas.openxmlformats.org/drawingml/2006/main">
            <a:off x="685800" y="30670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Heap-based shortest paths are followed by explicit reconstruction of every destination path. Path storage can dominate textbook distance-only bounds.</a:t>
            </a:r>
          </a:p>
        </p:txBody>
      </p:sp>
      <p:sp>
        <p:nvSpPr>
          <p:cNvPr id="6" name="">
            <a:extLst xmlns:a="http://schemas.openxmlformats.org/drawingml/2006/main">
              <a:ext uri="{FF2B5EF4-FFF2-40B4-BE49-F238E27FC236}">
                <a16:creationId xmlns:a16="http://schemas.microsoft.com/office/drawing/2014/main" id="{08724E97-B628-43D5-B285-7F9BF400BE2D}"/>
              </a:ext>
            </a:extLst>
          </p:cNvPr>
          <p:cNvSpPr>
            <a:spLocks xmlns:a="http://schemas.openxmlformats.org/drawingml/2006/main" noGrp="1"/>
          </p:cNvSpPr>
          <p:nvPr/>
        </p:nvSpPr>
        <p:spPr>
          <a:xfrm xmlns:a="http://schemas.openxmlformats.org/drawingml/2006/main">
            <a:off x="685800" y="37528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How is solar energy modeled?</a:t>
            </a:r>
          </a:p>
        </p:txBody>
      </p:sp>
      <p:sp>
        <p:nvSpPr>
          <p:cNvPr id="7" name="">
            <a:extLst xmlns:a="http://schemas.openxmlformats.org/drawingml/2006/main">
              <a:ext uri="{FF2B5EF4-FFF2-40B4-BE49-F238E27FC236}">
                <a16:creationId xmlns:a16="http://schemas.microsoft.com/office/drawing/2014/main" id="{1AD02D07-07C5-4781-BD6C-5B73B0CB9DDB}"/>
              </a:ext>
            </a:extLst>
          </p:cNvPr>
          <p:cNvSpPr>
            <a:spLocks xmlns:a="http://schemas.openxmlformats.org/drawingml/2006/main" noGrp="1"/>
          </p:cNvSpPr>
          <p:nvPr/>
        </p:nvSpPr>
        <p:spPr>
          <a:xfrm xmlns:a="http://schemas.openxmlformats.org/drawingml/2006/main">
            <a:off x="685800" y="41338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A constant seeded per-node rate charges batteries up to capacity. Overflow is curtailed, and depleted nodes rejoin after reaching reserve.</a:t>
            </a:r>
          </a:p>
        </p:txBody>
      </p:sp>
      <p:sp>
        <p:nvSpPr>
          <p:cNvPr id="8" name="">
            <a:extLst xmlns:a="http://schemas.openxmlformats.org/drawingml/2006/main">
              <a:ext uri="{FF2B5EF4-FFF2-40B4-BE49-F238E27FC236}">
                <a16:creationId xmlns:a16="http://schemas.microsoft.com/office/drawing/2014/main" id="{F13643BC-06E4-459B-9D38-EAE69AE69EF6}"/>
              </a:ext>
            </a:extLst>
          </p:cNvPr>
          <p:cNvSpPr>
            <a:spLocks xmlns:a="http://schemas.openxmlformats.org/drawingml/2006/main" noGrp="1"/>
          </p:cNvSpPr>
          <p:nvPr/>
        </p:nvSpPr>
        <p:spPr>
          <a:xfrm xmlns:a="http://schemas.openxmlformats.org/drawingml/2006/main">
            <a:off x="685800" y="48196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Can the solar gate block failure recovery?</a:t>
            </a:r>
          </a:p>
        </p:txBody>
      </p:sp>
      <p:sp>
        <p:nvSpPr>
          <p:cNvPr id="9" name="">
            <a:extLst xmlns:a="http://schemas.openxmlformats.org/drawingml/2006/main">
              <a:ext uri="{FF2B5EF4-FFF2-40B4-BE49-F238E27FC236}">
                <a16:creationId xmlns:a16="http://schemas.microsoft.com/office/drawing/2014/main" id="{79EF3D8A-5D53-4A48-AD2C-5B6066672936}"/>
              </a:ext>
            </a:extLst>
          </p:cNvPr>
          <p:cNvSpPr>
            <a:spLocks xmlns:a="http://schemas.openxmlformats.org/drawingml/2006/main" noGrp="1"/>
          </p:cNvSpPr>
          <p:nvPr/>
        </p:nvSpPr>
        <p:spPr>
          <a:xfrm xmlns:a="http://schemas.openxmlformats.org/drawingml/2006/main">
            <a:off x="685800" y="52006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No. The gate restricts optional migrations. Assignment after holder failure takes the recovery path instead.</a:t>
            </a:r>
          </a:p>
        </p:txBody>
      </p:sp>
      <p:sp>
        <p:nvSpPr>
          <p:cNvPr id="10" name="">
            <a:extLst xmlns:a="http://schemas.openxmlformats.org/drawingml/2006/main">
              <a:ext uri="{FF2B5EF4-FFF2-40B4-BE49-F238E27FC236}">
                <a16:creationId xmlns:a16="http://schemas.microsoft.com/office/drawing/2014/main" id="{6D397B76-95A4-4EFC-B070-B4A1E889CE39}"/>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45 / appendix</a:t>
            </a:r>
          </a:p>
        </p:txBody>
      </p:sp>
      <p:sp>
        <p:nvSpPr>
          <p:cNvPr id="11" name="">
            <a:extLst xmlns:a="http://schemas.openxmlformats.org/drawingml/2006/main">
              <a:ext uri="{FF2B5EF4-FFF2-40B4-BE49-F238E27FC236}">
                <a16:creationId xmlns:a16="http://schemas.microsoft.com/office/drawing/2014/main" id="{7A40A4EE-5F92-4DC5-8C44-6172EB9AC1A0}"/>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simulation/runner.py; NetworkRouter.invalidate_graph; NetworkRouter._routes_from; RoleSimulationModel._harvest_solar_energy; ProtocolEngine.step;...</a:t>
            </a:r>
          </a:p>
        </p:txBody>
      </p:sp>
    </p:spTree>
    <p:extLst>
      <p:ext uri="{BB962C8B-B14F-4D97-AF65-F5344CB8AC3E}">
        <p14:creationId xmlns:p14="http://schemas.microsoft.com/office/powerpoint/2010/main" val="1745341069"/>
      </p:ext>
    </p:extLst>
  </p:cSld>
</p:sld>
</file>

<file path=ppt/slides/slide4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0141A0C-4C0F-4E3E-9566-A61264E98ADF}"/>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Viva preparation 5 of 6</a:t>
            </a:r>
          </a:p>
        </p:txBody>
      </p:sp>
      <p:sp>
        <p:nvSpPr>
          <p:cNvPr id="2" name="">
            <a:extLst xmlns:a="http://schemas.openxmlformats.org/drawingml/2006/main">
              <a:ext uri="{FF2B5EF4-FFF2-40B4-BE49-F238E27FC236}">
                <a16:creationId xmlns:a16="http://schemas.microsoft.com/office/drawing/2014/main" id="{2545DAC9-ABF5-42EC-AAF3-A2DB4364C0ED}"/>
              </a:ext>
            </a:extLst>
          </p:cNvPr>
          <p:cNvSpPr>
            <a:spLocks xmlns:a="http://schemas.openxmlformats.org/drawingml/2006/main" noGrp="1"/>
          </p:cNvSpPr>
          <p:nvPr/>
        </p:nvSpPr>
        <p:spPr>
          <a:xfrm xmlns:a="http://schemas.openxmlformats.org/drawingml/2006/main">
            <a:off x="685800" y="16192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does CSC measure?</a:t>
            </a:r>
          </a:p>
        </p:txBody>
      </p:sp>
      <p:sp>
        <p:nvSpPr>
          <p:cNvPr id="3" name="">
            <a:extLst xmlns:a="http://schemas.openxmlformats.org/drawingml/2006/main">
              <a:ext uri="{FF2B5EF4-FFF2-40B4-BE49-F238E27FC236}">
                <a16:creationId xmlns:a16="http://schemas.microsoft.com/office/drawing/2014/main" id="{F484EF61-2CEF-44F6-8B0E-4F8EF3B4E8CB}"/>
              </a:ext>
            </a:extLst>
          </p:cNvPr>
          <p:cNvSpPr>
            <a:spLocks xmlns:a="http://schemas.openxmlformats.org/drawingml/2006/main" noGrp="1"/>
          </p:cNvSpPr>
          <p:nvPr/>
        </p:nvSpPr>
        <p:spPr>
          <a:xfrm xmlns:a="http://schemas.openxmlformats.org/drawingml/2006/main">
            <a:off x="685800" y="2000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The fraction of required role-time intervals whose lease and holder satisfy role_available. It excludes time zero and does not prove service-task execution.</a:t>
            </a:r>
          </a:p>
        </p:txBody>
      </p:sp>
      <p:sp>
        <p:nvSpPr>
          <p:cNvPr id="4" name="">
            <a:extLst xmlns:a="http://schemas.openxmlformats.org/drawingml/2006/main">
              <a:ext uri="{FF2B5EF4-FFF2-40B4-BE49-F238E27FC236}">
                <a16:creationId xmlns:a16="http://schemas.microsoft.com/office/drawing/2014/main" id="{77278DFF-0726-4111-BC82-3FB1568214F0}"/>
              </a:ext>
            </a:extLst>
          </p:cNvPr>
          <p:cNvSpPr>
            <a:spLocks xmlns:a="http://schemas.openxmlformats.org/drawingml/2006/main" noGrp="1"/>
          </p:cNvSpPr>
          <p:nvPr/>
        </p:nvSpPr>
        <p:spPr>
          <a:xfrm xmlns:a="http://schemas.openxmlformats.org/drawingml/2006/main">
            <a:off x="685800" y="26860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Is sensor delivery measured at the root?</a:t>
            </a:r>
          </a:p>
        </p:txBody>
      </p:sp>
      <p:sp>
        <p:nvSpPr>
          <p:cNvPr id="5" name="">
            <a:extLst xmlns:a="http://schemas.openxmlformats.org/drawingml/2006/main">
              <a:ext uri="{FF2B5EF4-FFF2-40B4-BE49-F238E27FC236}">
                <a16:creationId xmlns:a16="http://schemas.microsoft.com/office/drawing/2014/main" id="{0E580F17-5982-4F6A-AC07-DD75B9ABE225}"/>
              </a:ext>
            </a:extLst>
          </p:cNvPr>
          <p:cNvSpPr>
            <a:spLocks xmlns:a="http://schemas.openxmlformats.org/drawingml/2006/main" noGrp="1"/>
          </p:cNvSpPr>
          <p:nvPr/>
        </p:nvSpPr>
        <p:spPr>
          <a:xfrm xmlns:a="http://schemas.openxmlformats.org/drawingml/2006/main">
            <a:off x="685800" y="30670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No. It counts successful sensor items reaching subnet gateways. Optional aggregate backhaul has separate counters.</a:t>
            </a:r>
          </a:p>
        </p:txBody>
      </p:sp>
      <p:sp>
        <p:nvSpPr>
          <p:cNvPr id="6" name="">
            <a:extLst xmlns:a="http://schemas.openxmlformats.org/drawingml/2006/main">
              <a:ext uri="{FF2B5EF4-FFF2-40B4-BE49-F238E27FC236}">
                <a16:creationId xmlns:a16="http://schemas.microsoft.com/office/drawing/2014/main" id="{41EC9F09-4C00-4262-A346-2A1733CE7A6E}"/>
              </a:ext>
            </a:extLst>
          </p:cNvPr>
          <p:cNvSpPr>
            <a:spLocks xmlns:a="http://schemas.openxmlformats.org/drawingml/2006/main" noGrp="1"/>
          </p:cNvSpPr>
          <p:nvPr/>
        </p:nvSpPr>
        <p:spPr>
          <a:xfrm xmlns:a="http://schemas.openxmlformats.org/drawingml/2006/main">
            <a:off x="685800" y="37528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Why can high residual energy coexist with poor service?</a:t>
            </a:r>
          </a:p>
        </p:txBody>
      </p:sp>
      <p:sp>
        <p:nvSpPr>
          <p:cNvPr id="7" name="">
            <a:extLst xmlns:a="http://schemas.openxmlformats.org/drawingml/2006/main">
              <a:ext uri="{FF2B5EF4-FFF2-40B4-BE49-F238E27FC236}">
                <a16:creationId xmlns:a16="http://schemas.microsoft.com/office/drawing/2014/main" id="{74B959C0-D605-4ACE-9F4D-C98970D59DBE}"/>
              </a:ext>
            </a:extLst>
          </p:cNvPr>
          <p:cNvSpPr>
            <a:spLocks xmlns:a="http://schemas.openxmlformats.org/drawingml/2006/main" noGrp="1"/>
          </p:cNvSpPr>
          <p:nvPr/>
        </p:nvSpPr>
        <p:spPr>
          <a:xfrm xmlns:a="http://schemas.openxmlformats.org/drawingml/2006/main">
            <a:off x="685800" y="41338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A failed controller or unavailable gateway can suppress traffic and leave nodes alive but unable to provide modeled service.</a:t>
            </a:r>
          </a:p>
        </p:txBody>
      </p:sp>
      <p:sp>
        <p:nvSpPr>
          <p:cNvPr id="8" name="">
            <a:extLst xmlns:a="http://schemas.openxmlformats.org/drawingml/2006/main">
              <a:ext uri="{FF2B5EF4-FFF2-40B4-BE49-F238E27FC236}">
                <a16:creationId xmlns:a16="http://schemas.microsoft.com/office/drawing/2014/main" id="{72FFA5AF-BC26-42DB-AB9D-EB2DF5F1F6BA}"/>
              </a:ext>
            </a:extLst>
          </p:cNvPr>
          <p:cNvSpPr>
            <a:spLocks xmlns:a="http://schemas.openxmlformats.org/drawingml/2006/main" noGrp="1"/>
          </p:cNvSpPr>
          <p:nvPr/>
        </p:nvSpPr>
        <p:spPr>
          <a:xfrm xmlns:a="http://schemas.openxmlformats.org/drawingml/2006/main">
            <a:off x="685800" y="48196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does right-censored lifetime mean?</a:t>
            </a:r>
          </a:p>
        </p:txBody>
      </p:sp>
      <p:sp>
        <p:nvSpPr>
          <p:cNvPr id="9" name="">
            <a:extLst xmlns:a="http://schemas.openxmlformats.org/drawingml/2006/main">
              <a:ext uri="{FF2B5EF4-FFF2-40B4-BE49-F238E27FC236}">
                <a16:creationId xmlns:a16="http://schemas.microsoft.com/office/drawing/2014/main" id="{C3B938D0-1669-4E29-AA77-D81437A77431}"/>
              </a:ext>
            </a:extLst>
          </p:cNvPr>
          <p:cNvSpPr>
            <a:spLocks xmlns:a="http://schemas.openxmlformats.org/drawingml/2006/main" noGrp="1"/>
          </p:cNvSpPr>
          <p:nvPr/>
        </p:nvSpPr>
        <p:spPr>
          <a:xfrm xmlns:a="http://schemas.openxmlformats.org/drawingml/2006/main">
            <a:off x="685800" y="52006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The threshold did not cross during the observation horizon. The horizon is a bound on observation, not a measured failure time.</a:t>
            </a:r>
          </a:p>
        </p:txBody>
      </p:sp>
      <p:sp>
        <p:nvSpPr>
          <p:cNvPr id="10" name="">
            <a:extLst xmlns:a="http://schemas.openxmlformats.org/drawingml/2006/main">
              <a:ext uri="{FF2B5EF4-FFF2-40B4-BE49-F238E27FC236}">
                <a16:creationId xmlns:a16="http://schemas.microsoft.com/office/drawing/2014/main" id="{34673B9E-7DE2-4C0F-A145-ADFCE770BDBC}"/>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46 / appendix</a:t>
            </a:r>
          </a:p>
        </p:txBody>
      </p:sp>
      <p:sp>
        <p:nvSpPr>
          <p:cNvPr id="11" name="">
            <a:extLst xmlns:a="http://schemas.openxmlformats.org/drawingml/2006/main">
              <a:ext uri="{FF2B5EF4-FFF2-40B4-BE49-F238E27FC236}">
                <a16:creationId xmlns:a16="http://schemas.microsoft.com/office/drawing/2014/main" id="{42B6BA32-38DC-47F5-B467-731AF960A88B}"/>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MetricsRecorder.record; ProtocolEngine.role_available; RoleSimulationModel._route_sensor_traffic; simulation/runner.py; stored per_run_metrics.cs...</a:t>
            </a:r>
          </a:p>
        </p:txBody>
      </p:sp>
    </p:spTree>
    <p:extLst>
      <p:ext uri="{BB962C8B-B14F-4D97-AF65-F5344CB8AC3E}">
        <p14:creationId xmlns:p14="http://schemas.microsoft.com/office/powerpoint/2010/main" val="1458610141"/>
      </p:ext>
    </p:extLst>
  </p:cSld>
</p:sld>
</file>

<file path=ppt/slides/slide4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ECB477C-0839-4B98-9CDD-721B1382CE30}"/>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Viva preparation 6 of 6</a:t>
            </a:r>
          </a:p>
        </p:txBody>
      </p:sp>
      <p:sp>
        <p:nvSpPr>
          <p:cNvPr id="2" name="">
            <a:extLst xmlns:a="http://schemas.openxmlformats.org/drawingml/2006/main">
              <a:ext uri="{FF2B5EF4-FFF2-40B4-BE49-F238E27FC236}">
                <a16:creationId xmlns:a16="http://schemas.microsoft.com/office/drawing/2014/main" id="{6CB9D889-0359-40E6-B04B-BE91A39931C2}"/>
              </a:ext>
            </a:extLst>
          </p:cNvPr>
          <p:cNvSpPr>
            <a:spLocks xmlns:a="http://schemas.openxmlformats.org/drawingml/2006/main" noGrp="1"/>
          </p:cNvSpPr>
          <p:nvPr/>
        </p:nvSpPr>
        <p:spPr>
          <a:xfrm xmlns:a="http://schemas.openxmlformats.org/drawingml/2006/main">
            <a:off x="685800" y="16192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Why compare paired seeds?</a:t>
            </a:r>
          </a:p>
        </p:txBody>
      </p:sp>
      <p:sp>
        <p:nvSpPr>
          <p:cNvPr id="3" name="">
            <a:extLst xmlns:a="http://schemas.openxmlformats.org/drawingml/2006/main">
              <a:ext uri="{FF2B5EF4-FFF2-40B4-BE49-F238E27FC236}">
                <a16:creationId xmlns:a16="http://schemas.microsoft.com/office/drawing/2014/main" id="{6DE790D6-B824-4CE0-9B99-4998E0A21122}"/>
              </a:ext>
            </a:extLst>
          </p:cNvPr>
          <p:cNvSpPr>
            <a:spLocks xmlns:a="http://schemas.openxmlformats.org/drawingml/2006/main" noGrp="1"/>
          </p:cNvSpPr>
          <p:nvPr/>
        </p:nvSpPr>
        <p:spPr>
          <a:xfrm xmlns:a="http://schemas.openxmlformats.org/drawingml/2006/main">
            <a:off x="685800" y="2000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The arms share topology and event schedules for each seed/scenario, reducing unrelated world variation in within-seed differences.</a:t>
            </a:r>
          </a:p>
        </p:txBody>
      </p:sp>
      <p:sp>
        <p:nvSpPr>
          <p:cNvPr id="4" name="">
            <a:extLst xmlns:a="http://schemas.openxmlformats.org/drawingml/2006/main">
              <a:ext uri="{FF2B5EF4-FFF2-40B4-BE49-F238E27FC236}">
                <a16:creationId xmlns:a16="http://schemas.microsoft.com/office/drawing/2014/main" id="{3A395BF8-97D0-44FB-896B-85AB23608827}"/>
              </a:ext>
            </a:extLst>
          </p:cNvPr>
          <p:cNvSpPr>
            <a:spLocks xmlns:a="http://schemas.openxmlformats.org/drawingml/2006/main" noGrp="1"/>
          </p:cNvSpPr>
          <p:nvPr/>
        </p:nvSpPr>
        <p:spPr>
          <a:xfrm xmlns:a="http://schemas.openxmlformats.org/drawingml/2006/main">
            <a:off x="685800" y="26860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does D minus C establish about the gate?</a:t>
            </a:r>
          </a:p>
        </p:txBody>
      </p:sp>
      <p:sp>
        <p:nvSpPr>
          <p:cNvPr id="5" name="">
            <a:extLst xmlns:a="http://schemas.openxmlformats.org/drawingml/2006/main">
              <a:ext uri="{FF2B5EF4-FFF2-40B4-BE49-F238E27FC236}">
                <a16:creationId xmlns:a16="http://schemas.microsoft.com/office/drawing/2014/main" id="{0F390C75-4D4F-4FC7-8974-5C6E1AEFE1D3}"/>
              </a:ext>
            </a:extLst>
          </p:cNvPr>
          <p:cNvSpPr>
            <a:spLocks xmlns:a="http://schemas.openxmlformats.org/drawingml/2006/main" noGrp="1"/>
          </p:cNvSpPr>
          <p:nvPr/>
        </p:nvSpPr>
        <p:spPr>
          <a:xfrm xmlns:a="http://schemas.openxmlformats.org/drawingml/2006/main">
            <a:off x="685800" y="30670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In the stored study it does not establish an overall delivery or energy-efficiency improvement. Normal delivery is unchanged and energy/item slightly rises.</a:t>
            </a:r>
          </a:p>
        </p:txBody>
      </p:sp>
      <p:sp>
        <p:nvSpPr>
          <p:cNvPr id="6" name="">
            <a:extLst xmlns:a="http://schemas.openxmlformats.org/drawingml/2006/main">
              <a:ext uri="{FF2B5EF4-FFF2-40B4-BE49-F238E27FC236}">
                <a16:creationId xmlns:a16="http://schemas.microsoft.com/office/drawing/2014/main" id="{32CDCF40-9892-4224-8852-C920BC67175A}"/>
              </a:ext>
            </a:extLst>
          </p:cNvPr>
          <p:cNvSpPr>
            <a:spLocks xmlns:a="http://schemas.openxmlformats.org/drawingml/2006/main" noGrp="1"/>
          </p:cNvSpPr>
          <p:nvPr/>
        </p:nvSpPr>
        <p:spPr>
          <a:xfrm xmlns:a="http://schemas.openxmlformats.org/drawingml/2006/main">
            <a:off x="685800" y="37528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security mechanisms exist?</a:t>
            </a:r>
          </a:p>
        </p:txBody>
      </p:sp>
      <p:sp>
        <p:nvSpPr>
          <p:cNvPr id="7" name="">
            <a:extLst xmlns:a="http://schemas.openxmlformats.org/drawingml/2006/main">
              <a:ext uri="{FF2B5EF4-FFF2-40B4-BE49-F238E27FC236}">
                <a16:creationId xmlns:a16="http://schemas.microsoft.com/office/drawing/2014/main" id="{CB7E3139-E9BF-4898-9980-0E18135EE970}"/>
              </a:ext>
            </a:extLst>
          </p:cNvPr>
          <p:cNvSpPr>
            <a:spLocks xmlns:a="http://schemas.openxmlformats.org/drawingml/2006/main" noGrp="1"/>
          </p:cNvSpPr>
          <p:nvPr/>
        </p:nvSpPr>
        <p:spPr>
          <a:xfrm xmlns:a="http://schemas.openxmlformats.org/drawingml/2006/main">
            <a:off x="685800" y="41338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Input validation and state consistency checks exist. Authentication, encryption, authorization, and adversarial-node defenses do not.</a:t>
            </a:r>
          </a:p>
        </p:txBody>
      </p:sp>
      <p:sp>
        <p:nvSpPr>
          <p:cNvPr id="8" name="">
            <a:extLst xmlns:a="http://schemas.openxmlformats.org/drawingml/2006/main">
              <a:ext uri="{FF2B5EF4-FFF2-40B4-BE49-F238E27FC236}">
                <a16:creationId xmlns:a16="http://schemas.microsoft.com/office/drawing/2014/main" id="{E4D2F9CA-E1B7-4BFC-8739-311B92659197}"/>
              </a:ext>
            </a:extLst>
          </p:cNvPr>
          <p:cNvSpPr>
            <a:spLocks xmlns:a="http://schemas.openxmlformats.org/drawingml/2006/main" noGrp="1"/>
          </p:cNvSpPr>
          <p:nvPr/>
        </p:nvSpPr>
        <p:spPr>
          <a:xfrm xmlns:a="http://schemas.openxmlformats.org/drawingml/2006/main">
            <a:off x="685800" y="48196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should be improved first?</a:t>
            </a:r>
          </a:p>
        </p:txBody>
      </p:sp>
      <p:sp>
        <p:nvSpPr>
          <p:cNvPr id="9" name="">
            <a:extLst xmlns:a="http://schemas.openxmlformats.org/drawingml/2006/main">
              <a:ext uri="{FF2B5EF4-FFF2-40B4-BE49-F238E27FC236}">
                <a16:creationId xmlns:a16="http://schemas.microsoft.com/office/drawing/2014/main" id="{F207B341-C728-44E5-AA16-914CBA1F1133}"/>
              </a:ext>
            </a:extLst>
          </p:cNvPr>
          <p:cNvSpPr>
            <a:spLocks xmlns:a="http://schemas.openxmlformats.org/drawingml/2006/main" noGrp="1"/>
          </p:cNvSpPr>
          <p:nvPr/>
        </p:nvSpPr>
        <p:spPr>
          <a:xfrm xmlns:a="http://schemas.openxmlformats.org/drawingml/2006/main">
            <a:off x="685800" y="52006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Define real role-task execution and end-to-end item delivery, then add asynchronous communication and calibrated energy before deployment claims.</a:t>
            </a:r>
          </a:p>
        </p:txBody>
      </p:sp>
      <p:sp>
        <p:nvSpPr>
          <p:cNvPr id="10" name="">
            <a:extLst xmlns:a="http://schemas.openxmlformats.org/drawingml/2006/main">
              <a:ext uri="{FF2B5EF4-FFF2-40B4-BE49-F238E27FC236}">
                <a16:creationId xmlns:a16="http://schemas.microsoft.com/office/drawing/2014/main" id="{89AC9D82-498E-4ECE-A5A8-2530B503476F}"/>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47 / appendix</a:t>
            </a:r>
          </a:p>
        </p:txBody>
      </p:sp>
      <p:sp>
        <p:nvSpPr>
          <p:cNvPr id="11" name="">
            <a:extLst xmlns:a="http://schemas.openxmlformats.org/drawingml/2006/main">
              <a:ext uri="{FF2B5EF4-FFF2-40B4-BE49-F238E27FC236}">
                <a16:creationId xmlns:a16="http://schemas.microsoft.com/office/drawing/2014/main" id="{D3719E22-1239-4AF3-A9CA-26B6F469A6AC}"/>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patent-study/run_patent_study.py; patent-study/results_20000/paired_comparison.csv; simulation/config.py; simulation/leases.py; Architectural rec...</a:t>
            </a:r>
          </a:p>
        </p:txBody>
      </p:sp>
    </p:spTree>
    <p:extLst>
      <p:ext uri="{BB962C8B-B14F-4D97-AF65-F5344CB8AC3E}">
        <p14:creationId xmlns:p14="http://schemas.microsoft.com/office/powerpoint/2010/main" val="987518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2026-10-15T17:18:22.4190000Z</dcterms:created>
  <dcterms:modified xsi:type="dcterms:W3CDTF">2026-10-15T17:18:22.4190000Z</dcterms:modified>
</coreProperties>
</file>