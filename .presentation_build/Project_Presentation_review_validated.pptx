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15702c6da24276" /><Relationship Type="http://schemas.openxmlformats.org/officeDocument/2006/relationships/extended-properties" Target="/docProps/app.xml" Id="Rca7b87f263b94cbb" /><Relationship Type="http://schemas.openxmlformats.org/officeDocument/2006/relationships/officeDocument" Target="/ppt/presentation.xml" Id="Rbd8add70694c4765" /></Relationships>
</file>

<file path=ppt/presentation.xml><?xml version="1.0" encoding="utf-8"?>
<p:presentation xmlns:p="http://schemas.openxmlformats.org/presentationml/2006/main">
  <p:sldMasterIdLst>
    <p:sldMasterId xmlns:r="http://schemas.openxmlformats.org/officeDocument/2006/relationships" id="2147483648" r:id="Rfec519b146fd4be3"/>
  </p:sldMasterIdLst>
  <p:notesMasterIdLst>
    <p:notesMasterId xmlns:r="http://schemas.openxmlformats.org/officeDocument/2006/relationships" r:id="R71ac359ee16248db"/>
  </p:notesMasterIdLst>
  <p:sldIdLst>
    <p:sldId xmlns:r="http://schemas.openxmlformats.org/officeDocument/2006/relationships" id="256" r:id="R786e69f91681402f"/>
    <p:sldId xmlns:r="http://schemas.openxmlformats.org/officeDocument/2006/relationships" id="257" r:id="Re511048730ae4531"/>
    <p:sldId xmlns:r="http://schemas.openxmlformats.org/officeDocument/2006/relationships" id="258" r:id="R72eb9cc22ce243f6"/>
    <p:sldId xmlns:r="http://schemas.openxmlformats.org/officeDocument/2006/relationships" id="259" r:id="Rc5276988c4184acd"/>
    <p:sldId xmlns:r="http://schemas.openxmlformats.org/officeDocument/2006/relationships" id="260" r:id="R9b50c2a8197b4bfd"/>
    <p:sldId xmlns:r="http://schemas.openxmlformats.org/officeDocument/2006/relationships" id="261" r:id="R6e5ea25a738f433f"/>
    <p:sldId xmlns:r="http://schemas.openxmlformats.org/officeDocument/2006/relationships" id="262" r:id="Re79771c1200f4567"/>
    <p:sldId xmlns:r="http://schemas.openxmlformats.org/officeDocument/2006/relationships" id="263" r:id="R34379e24126e4e46"/>
    <p:sldId xmlns:r="http://schemas.openxmlformats.org/officeDocument/2006/relationships" id="264" r:id="Rc3f089df1dcc4586"/>
    <p:sldId xmlns:r="http://schemas.openxmlformats.org/officeDocument/2006/relationships" id="265" r:id="R457127addee94b68"/>
    <p:sldId xmlns:r="http://schemas.openxmlformats.org/officeDocument/2006/relationships" id="266" r:id="R997f9f666c694bfc"/>
    <p:sldId xmlns:r="http://schemas.openxmlformats.org/officeDocument/2006/relationships" id="267" r:id="Rbc34ffd08134403b"/>
    <p:sldId xmlns:r="http://schemas.openxmlformats.org/officeDocument/2006/relationships" id="268" r:id="R56e59c1a9fc94837"/>
    <p:sldId xmlns:r="http://schemas.openxmlformats.org/officeDocument/2006/relationships" id="269" r:id="R11a74d97939d4a32"/>
    <p:sldId xmlns:r="http://schemas.openxmlformats.org/officeDocument/2006/relationships" id="270" r:id="R2efc7031578c4369"/>
    <p:sldId xmlns:r="http://schemas.openxmlformats.org/officeDocument/2006/relationships" id="271" r:id="Reb25a209e39b424c"/>
    <p:sldId xmlns:r="http://schemas.openxmlformats.org/officeDocument/2006/relationships" id="272" r:id="Rb4c6cc8baa134963"/>
    <p:sldId xmlns:r="http://schemas.openxmlformats.org/officeDocument/2006/relationships" id="273" r:id="Re83949ea151e47e4"/>
    <p:sldId xmlns:r="http://schemas.openxmlformats.org/officeDocument/2006/relationships" id="274" r:id="R16c9b55ede2446bf"/>
    <p:sldId xmlns:r="http://schemas.openxmlformats.org/officeDocument/2006/relationships" id="275" r:id="R4cdad1a5844049ed"/>
    <p:sldId xmlns:r="http://schemas.openxmlformats.org/officeDocument/2006/relationships" id="276" r:id="R95863ef7ec8040dc"/>
    <p:sldId xmlns:r="http://schemas.openxmlformats.org/officeDocument/2006/relationships" id="277" r:id="R3faf121d24b04f5a"/>
    <p:sldId xmlns:r="http://schemas.openxmlformats.org/officeDocument/2006/relationships" id="278" r:id="R2630bd0e97984340"/>
    <p:sldId xmlns:r="http://schemas.openxmlformats.org/officeDocument/2006/relationships" id="279" r:id="Rcb6ab2df6aa0474d"/>
    <p:sldId xmlns:r="http://schemas.openxmlformats.org/officeDocument/2006/relationships" id="280" r:id="Re77dd2a458384e45"/>
    <p:sldId xmlns:r="http://schemas.openxmlformats.org/officeDocument/2006/relationships" id="281" r:id="Rf0a3cc74986843ce"/>
    <p:sldId xmlns:r="http://schemas.openxmlformats.org/officeDocument/2006/relationships" id="282" r:id="R860d0a2e9f2d4b37"/>
    <p:sldId xmlns:r="http://schemas.openxmlformats.org/officeDocument/2006/relationships" id="283" r:id="R9e54cc79849d494f"/>
    <p:sldId xmlns:r="http://schemas.openxmlformats.org/officeDocument/2006/relationships" id="284" r:id="R4168561af0d646da"/>
    <p:sldId xmlns:r="http://schemas.openxmlformats.org/officeDocument/2006/relationships" id="285" r:id="R788e798b19564980"/>
    <p:sldId xmlns:r="http://schemas.openxmlformats.org/officeDocument/2006/relationships" id="286" r:id="Rcac2359c4acc41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ce8e5f469348f1" /><Relationship Type="http://schemas.openxmlformats.org/officeDocument/2006/relationships/slideMaster" Target="/ppt/slideMasters/slideMaster1.xml" Id="Rfec519b146fd4be3" /><Relationship Type="http://schemas.openxmlformats.org/officeDocument/2006/relationships/notesMaster" Target="/ppt/notesMasters/notesMaster1.xml" Id="R71ac359ee16248db" /><Relationship Type="http://schemas.openxmlformats.org/officeDocument/2006/relationships/presProps" Target="/ppt/presProps.xml" Id="Rc38cf593b7b041a8" /><Relationship Type="http://schemas.openxmlformats.org/officeDocument/2006/relationships/tableStyles" Target="/ppt/tableStyles.xml" Id="Rd0b360e62b494c60" /><Relationship Type="http://schemas.openxmlformats.org/officeDocument/2006/relationships/slide" Target="/ppt/slides/slide1.xml" Id="R786e69f91681402f" /><Relationship Type="http://schemas.openxmlformats.org/officeDocument/2006/relationships/slide" Target="/ppt/slides/slide2.xml" Id="Re511048730ae4531" /><Relationship Type="http://schemas.openxmlformats.org/officeDocument/2006/relationships/slide" Target="/ppt/slides/slide3.xml" Id="R72eb9cc22ce243f6" /><Relationship Type="http://schemas.openxmlformats.org/officeDocument/2006/relationships/slide" Target="/ppt/slides/slide4.xml" Id="Rc5276988c4184acd" /><Relationship Type="http://schemas.openxmlformats.org/officeDocument/2006/relationships/slide" Target="/ppt/slides/slide5.xml" Id="R9b50c2a8197b4bfd" /><Relationship Type="http://schemas.openxmlformats.org/officeDocument/2006/relationships/slide" Target="/ppt/slides/slide6.xml" Id="R6e5ea25a738f433f" /><Relationship Type="http://schemas.openxmlformats.org/officeDocument/2006/relationships/slide" Target="/ppt/slides/slide7.xml" Id="Re79771c1200f4567" /><Relationship Type="http://schemas.openxmlformats.org/officeDocument/2006/relationships/slide" Target="/ppt/slides/slide8.xml" Id="R34379e24126e4e46" /><Relationship Type="http://schemas.openxmlformats.org/officeDocument/2006/relationships/slide" Target="/ppt/slides/slide9.xml" Id="Rc3f089df1dcc4586" /><Relationship Type="http://schemas.openxmlformats.org/officeDocument/2006/relationships/slide" Target="/ppt/slides/slide10.xml" Id="R457127addee94b68" /><Relationship Type="http://schemas.openxmlformats.org/officeDocument/2006/relationships/slide" Target="/ppt/slides/slide11.xml" Id="R997f9f666c694bfc" /><Relationship Type="http://schemas.openxmlformats.org/officeDocument/2006/relationships/slide" Target="/ppt/slides/slide12.xml" Id="Rbc34ffd08134403b" /><Relationship Type="http://schemas.openxmlformats.org/officeDocument/2006/relationships/slide" Target="/ppt/slides/slide13.xml" Id="R56e59c1a9fc94837" /><Relationship Type="http://schemas.openxmlformats.org/officeDocument/2006/relationships/slide" Target="/ppt/slides/slide14.xml" Id="R11a74d97939d4a32" /><Relationship Type="http://schemas.openxmlformats.org/officeDocument/2006/relationships/slide" Target="/ppt/slides/slide15.xml" Id="R2efc7031578c4369" /><Relationship Type="http://schemas.openxmlformats.org/officeDocument/2006/relationships/slide" Target="/ppt/slides/slide16.xml" Id="Reb25a209e39b424c" /><Relationship Type="http://schemas.openxmlformats.org/officeDocument/2006/relationships/slide" Target="/ppt/slides/slide17.xml" Id="Rb4c6cc8baa134963" /><Relationship Type="http://schemas.openxmlformats.org/officeDocument/2006/relationships/slide" Target="/ppt/slides/slide18.xml" Id="Re83949ea151e47e4" /><Relationship Type="http://schemas.openxmlformats.org/officeDocument/2006/relationships/slide" Target="/ppt/slides/slide19.xml" Id="R16c9b55ede2446bf" /><Relationship Type="http://schemas.openxmlformats.org/officeDocument/2006/relationships/slide" Target="/ppt/slides/slide20.xml" Id="R4cdad1a5844049ed" /><Relationship Type="http://schemas.openxmlformats.org/officeDocument/2006/relationships/slide" Target="/ppt/slides/slide21.xml" Id="R95863ef7ec8040dc" /><Relationship Type="http://schemas.openxmlformats.org/officeDocument/2006/relationships/slide" Target="/ppt/slides/slide22.xml" Id="R3faf121d24b04f5a" /><Relationship Type="http://schemas.openxmlformats.org/officeDocument/2006/relationships/slide" Target="/ppt/slides/slide23.xml" Id="R2630bd0e97984340" /><Relationship Type="http://schemas.openxmlformats.org/officeDocument/2006/relationships/slide" Target="/ppt/slides/slide24.xml" Id="Rcb6ab2df6aa0474d" /><Relationship Type="http://schemas.openxmlformats.org/officeDocument/2006/relationships/slide" Target="/ppt/slides/slide25.xml" Id="Re77dd2a458384e45" /><Relationship Type="http://schemas.openxmlformats.org/officeDocument/2006/relationships/slide" Target="/ppt/slides/slide26.xml" Id="Rf0a3cc74986843ce" /><Relationship Type="http://schemas.openxmlformats.org/officeDocument/2006/relationships/slide" Target="/ppt/slides/slide27.xml" Id="R860d0a2e9f2d4b37" /><Relationship Type="http://schemas.openxmlformats.org/officeDocument/2006/relationships/slide" Target="/ppt/slides/slide28.xml" Id="R9e54cc79849d494f" /><Relationship Type="http://schemas.openxmlformats.org/officeDocument/2006/relationships/slide" Target="/ppt/slides/slide29.xml" Id="R4168561af0d646da" /><Relationship Type="http://schemas.openxmlformats.org/officeDocument/2006/relationships/slide" Target="/ppt/slides/slide30.xml" Id="R788e798b19564980" /><Relationship Type="http://schemas.openxmlformats.org/officeDocument/2006/relationships/slide" Target="/ppt/slides/slide31.xml" Id="Rcac2359c4acc41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f56933901140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c331e095274241" /><Relationship Type="http://schemas.openxmlformats.org/officeDocument/2006/relationships/notesMaster" Target="/ppt/notesMasters/notesMaster1.xml" Id="Rcf757f3350674a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6d8d4ebc514f13" /><Relationship Type="http://schemas.openxmlformats.org/officeDocument/2006/relationships/notesMaster" Target="/ppt/notesMasters/notesMaster1.xml" Id="R121ae63b9f964b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add021e9af4638" /><Relationship Type="http://schemas.openxmlformats.org/officeDocument/2006/relationships/notesMaster" Target="/ppt/notesMasters/notesMaster1.xml" Id="R94cbc4e44aca40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b6b74a0a37466d" /><Relationship Type="http://schemas.openxmlformats.org/officeDocument/2006/relationships/notesMaster" Target="/ppt/notesMasters/notesMaster1.xml" Id="Rc0f130c7cf2540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00d46f260d4464" /><Relationship Type="http://schemas.openxmlformats.org/officeDocument/2006/relationships/notesMaster" Target="/ppt/notesMasters/notesMaster1.xml" Id="R75141b780d4c43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694e5c11944a36" /><Relationship Type="http://schemas.openxmlformats.org/officeDocument/2006/relationships/notesMaster" Target="/ppt/notesMasters/notesMaster1.xml" Id="Rcbae599619cc43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9a59e3b1b24080" /><Relationship Type="http://schemas.openxmlformats.org/officeDocument/2006/relationships/notesMaster" Target="/ppt/notesMasters/notesMaster1.xml" Id="Rc48efe61036e4b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368d2868414298" /><Relationship Type="http://schemas.openxmlformats.org/officeDocument/2006/relationships/notesMaster" Target="/ppt/notesMasters/notesMaster1.xml" Id="Re9096a0869d548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bcd64d32084f14" /><Relationship Type="http://schemas.openxmlformats.org/officeDocument/2006/relationships/notesMaster" Target="/ppt/notesMasters/notesMaster1.xml" Id="R2d36ec14cddb4d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8b01d144a34d9f" /><Relationship Type="http://schemas.openxmlformats.org/officeDocument/2006/relationships/notesMaster" Target="/ppt/notesMasters/notesMaster1.xml" Id="R01618b585f6a41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46d8913d144ac8" /><Relationship Type="http://schemas.openxmlformats.org/officeDocument/2006/relationships/notesMaster" Target="/ppt/notesMasters/notesMaster1.xml" Id="Rab39052f58074d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246266830a4097" /><Relationship Type="http://schemas.openxmlformats.org/officeDocument/2006/relationships/notesMaster" Target="/ppt/notesMasters/notesMaster1.xml" Id="R0afeea46bca24d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9618dfee40e41c1" /><Relationship Type="http://schemas.openxmlformats.org/officeDocument/2006/relationships/notesMaster" Target="/ppt/notesMasters/notesMaster1.xml" Id="Rf843b5326e9f4b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71185a4d01f459b" /><Relationship Type="http://schemas.openxmlformats.org/officeDocument/2006/relationships/notesMaster" Target="/ppt/notesMasters/notesMaster1.xml" Id="R3032668eaa484ee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f4b274c31c44aa" /><Relationship Type="http://schemas.openxmlformats.org/officeDocument/2006/relationships/notesMaster" Target="/ppt/notesMasters/notesMaster1.xml" Id="R43b6100cfb8d43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47e5aa7e5a4119" /><Relationship Type="http://schemas.openxmlformats.org/officeDocument/2006/relationships/notesMaster" Target="/ppt/notesMasters/notesMaster1.xml" Id="R62ff5fa46702474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f37c8585794346" /><Relationship Type="http://schemas.openxmlformats.org/officeDocument/2006/relationships/notesMaster" Target="/ppt/notesMasters/notesMaster1.xml" Id="R2f4ec72093994c0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551f447db64d4d" /><Relationship Type="http://schemas.openxmlformats.org/officeDocument/2006/relationships/notesMaster" Target="/ppt/notesMasters/notesMaster1.xml" Id="R474817b1ce7140f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0dbc70c11e4b54" /><Relationship Type="http://schemas.openxmlformats.org/officeDocument/2006/relationships/notesMaster" Target="/ppt/notesMasters/notesMaster1.xml" Id="Refc3af3074c544a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6fa51dfe3b74b51" /><Relationship Type="http://schemas.openxmlformats.org/officeDocument/2006/relationships/notesMaster" Target="/ppt/notesMasters/notesMaster1.xml" Id="R27876ce3da9149e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8842be7ceca432e" /><Relationship Type="http://schemas.openxmlformats.org/officeDocument/2006/relationships/notesMaster" Target="/ppt/notesMasters/notesMaster1.xml" Id="R34a48ef64d964d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49dd10964e24282" /><Relationship Type="http://schemas.openxmlformats.org/officeDocument/2006/relationships/notesMaster" Target="/ppt/notesMasters/notesMaster1.xml" Id="Rfbb0d0d98add439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c93f09eb0e64cc7" /><Relationship Type="http://schemas.openxmlformats.org/officeDocument/2006/relationships/notesMaster" Target="/ppt/notesMasters/notesMaster1.xml" Id="Rb10a59ed1403469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03bc07476914153" /><Relationship Type="http://schemas.openxmlformats.org/officeDocument/2006/relationships/notesMaster" Target="/ppt/notesMasters/notesMaster1.xml" Id="R959b7d80b0e449e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dfaa17080704c4f" /><Relationship Type="http://schemas.openxmlformats.org/officeDocument/2006/relationships/notesMaster" Target="/ppt/notesMasters/notesMaster1.xml" Id="R59fa6a7d852842e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db60c72ecf44cdc" /><Relationship Type="http://schemas.openxmlformats.org/officeDocument/2006/relationships/notesMaster" Target="/ppt/notesMasters/notesMaster1.xml" Id="R1384793b39dd497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d6a05b5355944f8" /><Relationship Type="http://schemas.openxmlformats.org/officeDocument/2006/relationships/notesMaster" Target="/ppt/notesMasters/notesMaster1.xml" Id="Rf53746ff5dea4ec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bd81bb516af4da6" /><Relationship Type="http://schemas.openxmlformats.org/officeDocument/2006/relationships/notesMaster" Target="/ppt/notesMasters/notesMaster1.xml" Id="R6e87780ac3c6490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91d8d97718b4462" /><Relationship Type="http://schemas.openxmlformats.org/officeDocument/2006/relationships/notesMaster" Target="/ppt/notesMasters/notesMaster1.xml" Id="Rece8ccfc1d634dc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f5738ff29334ba9" /><Relationship Type="http://schemas.openxmlformats.org/officeDocument/2006/relationships/notesMaster" Target="/ppt/notesMasters/notesMaster1.xml" Id="Rceb430068b6e448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2545f070ff2423f" /><Relationship Type="http://schemas.openxmlformats.org/officeDocument/2006/relationships/notesMaster" Target="/ppt/notesMasters/notesMaster1.xml" Id="Raa0955d3c9af43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this as a software simulation of coordination in agricultural IoT. The central contribution is selecting temporary role holders using recursive capability, migration costs, and lease rules. The supplied folder does not identify the student, institution, department, or guide, so replace the marked fields before presenting. The implementation and stored experiments support statements about this model, not a deployed farm network. Allow about 18 minutes for slides 1–33 and use the appendix for questions.</a:t>
            </a:r>
          </a:p>
          <a:p xmlns:a="http://schemas.openxmlformats.org/drawingml/2006/main">
            <a:r>
              <a:t/>
            </a:r>
          </a:p>
          <a:p xmlns:a="http://schemas.openxmlformats.org/drawingml/2006/main">
            <a:r>
              <a:t>Implementation evidence: Project.md; simulation/config.py</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one subnet gateway receiving traffic from nearby sensor nodes. If that holder fails or depletes its energy, an assignment that remains unchanged loses its useful destination. A fixed controller creates a second dependency in the modeled hierarchical baseline. That baseline does attempt replacement when a holder becomes unavailable, provided the controller and a physical route remain available. It does not continuously optimize holder capability. The project investigates whether adaptive role ownership can improve service without excessive switching. The figures are conceptual diagrams of implemented behavior, not deployed field observations.</a:t>
            </a:r>
          </a:p>
          <a:p xmlns:a="http://schemas.openxmlformats.org/drawingml/2006/main">
            <a:r>
              <a:t/>
            </a:r>
          </a:p>
          <a:p xmlns:a="http://schemas.openxmlformats.org/drawingml/2006/main">
            <a:r>
              <a:t>Implementation evidence: simulation/runner.py: control_source; simulation/protocols.py: step; _select_for_role</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designs share a predefined hierarchy, physical routes, sensor traffic, and the same energy accounting. In arm A, the hierarchical policy selects a seeded random fixed controller and random eligible holders. They remain fixed until unavailable, and controller loss makes baseline roles unavailable. The proposed policy uses scope representatives, recursive role capability, temporary adaptive leases, renewal, and cost-aware migration. The optional energy gate is an extension rather than the core contribution. Objectives are to preserve role availability, recover when possible, and expose coordination overhead. A versus B is a bundled comparison: the experiment does not isolate leases from all the other policy changes. These algorithms are not a validated networking standard.</a:t>
            </a:r>
          </a:p>
          <a:p xmlns:a="http://schemas.openxmlformats.org/drawingml/2006/main">
            <a:r>
              <a:t/>
            </a:r>
          </a:p>
          <a:p xmlns:a="http://schemas.openxmlformats.org/drawingml/2006/main">
            <a:r>
              <a:t>Implementation evidence: simulation/protocols.py; simulation/runner.py; patent-study/run_patent_study.py</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diagram from the sensors upward. Physical nodes are organized into ten subnets, then three networks, then one internetwork. The four role names are gateway, anomaly detection, health monitoring, and discoverability. Every parent scope selects one immediate child per role, producing 56 role/scope assignments. At subnet level a holder is a node. At network level a holder is a subnet entity. At the root a holder is a network entity. A container communicates through its first available descendant representative, which can differ from the node chosen by a lower-scope gateway lease. Capability information travels through bottom-up calculations in shared memory. Solid data arrows denote routed sensor and optional aggregate backhaul exchanges on the physical mesh. No membership link automatically creates a physical edge.</a:t>
            </a:r>
          </a:p>
          <a:p xmlns:a="http://schemas.openxmlformats.org/drawingml/2006/main">
            <a:r>
              <a:t/>
            </a:r>
          </a:p>
          <a:p xmlns:a="http://schemas.openxmlformats.org/drawingml/2006/main">
            <a:r>
              <a:t>Implementation evidence: simulation/entities.py; simulation/capability.py; simulation/runner.py: _route_sensor_traffic</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same order used by RoleSimulationModel. Events and depletion affect availability first, followed by a bottom-up capability refresh. ProtocolEngine updates the epoch, checks holder and lease state, and distinguishes an absent or invalid lease from an active one. Missing ownership takes the assignment path. Existing proposed leases renew when due, and then optional migration evaluates utility and hysteresis before the solar gate. A migration transfers the existing lease object after a successful control exchange. An ordinary grant creates a new active lease only when LEASE_GRANT succeeds. The model harvests energy after policy decisions and before sensor traffic, then checks depletion, refreshes capabilities, and records metrics. This common order makes matched policy experiments interpretable.</a:t>
            </a:r>
          </a:p>
          <a:p xmlns:a="http://schemas.openxmlformats.org/drawingml/2006/main">
            <a:r>
              <a:t/>
            </a:r>
          </a:p>
          <a:p xmlns:a="http://schemas.openxmlformats.org/drawingml/2006/main">
            <a:r>
              <a:t>Implementation evidence: simulation/runner.py: step; simulation/protocols.py: step; _assign; _migrate</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computes leaf vectors, then iterates through subnets, networks, and the root rather than calling a recursive function. It has the same bottom-up dependency as a recursive hierarchy traversal. Gateway scoring uses .40 energy, .35 link quality, and .25 initial normalized degree centrality. Anomaly detection and health monitoring use .50 energy and .50 health, while discoverability uses .34 energy, .33 link quality, and .33 health. Failed nodes return zero capability. Parent vectors use normalized nonnegative child weights, uniform by default. Failed children keep their weight in the denominator. Selection evaluates immediate children that are available and reachable, then chooses maximum known capability with a stable string-ID tie break. Do not imply that the role labels execute real anomaly detection or discovery payload algorithms.</a:t>
            </a:r>
          </a:p>
          <a:p xmlns:a="http://schemas.openxmlformats.org/drawingml/2006/main">
            <a:r>
              <a:t/>
            </a:r>
          </a:p>
          <a:p xmlns:a="http://schemas.openxmlformats.org/drawingml/2006/main">
            <a:r>
              <a:t>Implementation evidence: nodes.py: ROLE_WEIGHTS; simulation/capability.py: refresh_capabilities; weighted_aggregate; simulation/protocols.py: _select_for_role</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new lease begins pending and activates after the grant exchange succeeds. Active ownership can renew, migrate, expire, or become invalid. For proposed policy, duration equals minimum plus capability times the lease-duration range, and renewal is checked at .7 of the duration by default. During step processing, an inactive lease, unavailable holder, or epoch mismatch causes _invalidate before _assign. At an epoch boundary the default _advance_epoch invalidates and regrants immediately. With retain_valid_leases_on_epoch, the method instead relabels existing leases with the new epoch. The stored study enables retention. This is local epoch consistency in a single process. There is no implemented receiver-side protocol that rejects delayed stale network messages, and no proof of distributed split-brain safety.</a:t>
            </a:r>
          </a:p>
          <a:p xmlns:a="http://schemas.openxmlformats.org/drawingml/2006/main">
            <a:r>
              <a:t/>
            </a:r>
          </a:p>
          <a:p xmlns:a="http://schemas.openxmlformats.org/drawingml/2006/main">
            <a:r>
              <a:t>Implementation evidence: simulation/leases.py; simulation/protocols.py: step; _advance_epoch; _renew_if_due</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sequence shows a simulated holder failure followed by detection in ProtocolEngine. The configured delay defaults to zero, but is measured from the recorded unavailable time when set. For a container holder, availability is any online descendant, so one failed child need not invalidate the parent holder. Once the delay elapses, the engine invalidates and removes the old lease before selecting a reachable replacement. It sends LEASE_GRANT, constructs the new lease with current epoch, activates it, and records recovery time. If there is no eligible candidate or communication fails, the assignment remains absent for retry on a later step. The solar migration gate does not run in this recovery path. A stale epoch is invalidated by the same in-process check, not by a simulated distributed receiver.</a:t>
            </a:r>
          </a:p>
          <a:p xmlns:a="http://schemas.openxmlformats.org/drawingml/2006/main">
            <a:r>
              <a:t/>
            </a:r>
          </a:p>
          <a:p xmlns:a="http://schemas.openxmlformats.org/drawingml/2006/main">
            <a:r>
              <a:t>Implementation evidence: simulation/protocols.py: step; _invalidate; _assign; simulation/runner.py: holder_unavailable_since</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this extension from core role management. Emergency recovery calls _assign and bypasses the optional gate. For a discretionary change, candidate utility and hysteresis must already pass. The gate then requires a scope control source, a representative for the candidate, and a physical route. It estimates exact modeled control energy for that route. For each available descendant it projects current energy plus H times constant harvest minus observed mean communication use, clamps to capacity, subtracts reserve, and averages projected usable reserves for a container. The difference between candidate and current reserve must strictly exceed migration energy plus safety margin. Default H is 500 and margin is .01. Route failure or insufficient benefit rejects the optional migration. If the gate passes, _migrate still sends the control exchange before updating ownership. This extrapolation is not a solar or traffic forecast.</a:t>
            </a:r>
          </a:p>
          <a:p xmlns:a="http://schemas.openxmlformats.org/drawingml/2006/main">
            <a:r>
              <a:t/>
            </a:r>
          </a:p>
          <a:p xmlns:a="http://schemas.openxmlformats.org/drawingml/2006/main">
            <a:r>
              <a:t>Implementation evidence: simulation/protocols.py: _consider_cost_aware_migration; _solar_migration_is_worthwhile; _projected_reserve_energy; _migrate</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stored design has 30 matched seeds from 42 to 71, four scenarios, four arms, and 20,000 ticks per run: 480 runs. Within each seed and scenario the arms share topology and injected events. Cluster separation is 1.5 communication ranges, distance-energy weight is one, backhaul is enabled, and proposed leases retain holders across epochs. C and D use mean configured harvest .0002 with a seeded per-node multiplier between .5 and 1.5. Arm A uses Lease objects internally with horizon-long duration, but has no adaptive leasing policy, renewal, or discretionary migration. Thus its table entry says fixed holders rather than implying there are no Lease objects in code. C minus B isolates harvesting and D minus C isolates the optional gate. Fresh earlier review validation ran 82 tests with Mesa 3.3.1 and two short simulations. The stored 480-run study was checked, not rerun in full.</a:t>
            </a:r>
          </a:p>
          <a:p xmlns:a="http://schemas.openxmlformats.org/drawingml/2006/main">
            <a:r>
              <a:t/>
            </a:r>
          </a:p>
          <a:p xmlns:a="http://schemas.openxmlformats.org/drawingml/2006/main">
            <a:r>
              <a:t>Implementation evidence: patent-study/run_patent_study.py; simulation/config.py; .presentation_build/tests.txt</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editable charts show normal-scenario means over 30 seeds from the supplied records. CSC is role-state availability, and sensor delivery measures arrival at the subnet gateway. A has CSC .26113 and sensor delivery .15366. B reaches .9999755 and .8338158. C and D both reach one for these metrics in normal. Residual batteries differ because service duration and harvested energy differ. Lifetime shows mean time to first cumulative delivery fraction below .9, restricted to the 20,000-tick horizon. C and D are censored at that horizon, not observed to fail there. Normal B minus A delivery is +68.02 percentage points with paired 95 percent t interval +65.68 to +70.35. The small gate panel shows fewer normal-scenario migrations but slightly more total energy and energy per item. Detailed C/D means and paired intervals are in the appendix. Cross-scenario original plots follow there as well.</a:t>
            </a:r>
          </a:p>
          <a:p xmlns:a="http://schemas.openxmlformats.org/drawingml/2006/main">
            <a:r>
              <a:t/>
            </a:r>
          </a:p>
          <a:p xmlns:a="http://schemas.openxmlformats.org/drawingml/2006/main">
            <a:r>
              <a:t>Implementation evidence: patent-study/results_20000/per_run_metrics.csv; paired_comparison.csv; threshold_crossings.csv</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demonstrates a simulation framework combining recursive capabilities, temporary role leases, epoch handling, and recovery. That combination is the proposed contribution. Scientific novelty and patentability remain hypotheses requiring a separate prior-art search. The hierarchy is predefined, default capability discovery reads global in-memory state, and communication, harvesting, and failures are abstract models. No physical IoT validation, contention, retransmissions, or sensing/CPU energy appears. Epoch validation is in-process, and role availability does not prove that anomaly detection or another task ran. Sensor delivery is only the subnet leg, and only online nodes generate load. The gate reduces migration count in normal but does not show a general energy-efficiency advantage over harvest alone. Next steps are asynchronous messages, real role-task execution, root delivery tracking, calibrated energy, and matched ablations. Pin compatible dependencies: Mesa 3.5.1 breaks model.scenario assignment while Mesa 3.3.1 passed the tested configuration.</a:t>
            </a:r>
          </a:p>
          <a:p xmlns:a="http://schemas.openxmlformats.org/drawingml/2006/main">
            <a:r>
              <a:t/>
            </a:r>
          </a:p>
          <a:p xmlns:a="http://schemas.openxmlformats.org/drawingml/2006/main">
            <a:r>
              <a:t>Implementation evidence: simulation/; requirements.txt; patent-study/results_20000/paired_comparison.csv</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NodeAgent state machine has exactly two states: online and failed. Construction starts online. A scheduled fail event or the coordinator detecting zero energy invokes fail(). Both paths remove node availability and trigger graph invalidation. Scheduled recover events invoke recover(). Only nodes tracked in _energy_depleted_node_ids can rejoin automatically after solar charging reaches minimum_energy_reserve. Solar charging alone does not repair an explicit scheduled failure. Energy and link degradation update attributes rather than introducing extra states. Role ownership lives in ProtocolEngine.assignments, outside this state machine. A node may be online without holding any role, and becoming online does not guarantee a lease or route. Explain this distinction before discussing role selection.</a:t>
            </a:r>
          </a:p>
          <a:p xmlns:a="http://schemas.openxmlformats.org/drawingml/2006/main">
            <a:r>
              <a:t/>
            </a:r>
          </a:p>
          <a:p xmlns:a="http://schemas.openxmlformats.org/drawingml/2006/main">
            <a:r>
              <a:t>Implementation evidence: nodes.py: NODE_STATES; simulation/runner.py: _fail_energy_empty_nodes; _harvest_solar_energy</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initial proposed-policy snapshot from SimulationConfig(seed=42). At scope network_0_subnet_0, immediate child nodes 0 through 9 compete. The control source is physical node 0. The engine filters unavailable or unreachable representatives and ranks known capability. The initial gateway lease holder is node 4. All four roles happen to select node 4 in this subnet, but the code evaluates each role independently and does not require that coincidence. Displayed node scores are sampled just after initialization and include the tiny control-energy effects of initial grants. Container scores were refreshed before those grants. The numbers illustrate the stored assignment, not a new benchmark. A failed grant would leave the role unassigned.</a:t>
            </a:r>
          </a:p>
          <a:p xmlns:a="http://schemas.openxmlformats.org/drawingml/2006/main">
            <a:r>
              <a:t/>
            </a:r>
          </a:p>
          <a:p xmlns:a="http://schemas.openxmlformats.org/drawingml/2006/main">
            <a:r>
              <a:t>Implementation evidence: simulation/entities.py: scope_candidates; simulation/protocols.py: _select_for_role; _assign</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network_0, candidates are the subnet entities network_0_subnet_0 through network_0_subnet_3. They carry aggregated capability vectors, rather than being evaluated as individual nodes. The observed gateway lease selects subnet 3. The model represents that container physically through node 30, its first available descendant. This representative is not necessarily the subnet gateway selected by a different lease. Anomaly detection, health monitoring, and discoverability choose subnet 0 in this snapshot. Stress that the holder ID is a subnet string at this level. The scope representative still sends the abstract grant over the physical mesh.</a:t>
            </a:r>
          </a:p>
          <a:p xmlns:a="http://schemas.openxmlformats.org/drawingml/2006/main">
            <a:r>
              <a:t/>
            </a:r>
          </a:p>
          <a:p xmlns:a="http://schemas.openxmlformats.org/drawingml/2006/main">
            <a:r>
              <a:t>Implementation evidence: simulation/entities.py: capability; representative_node_id; simulation/protocols.py: _assign</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internetwork scope, the candidates are network_0, network_1, and network_2. Their capability vectors aggregate their child subnets. In the seed-42 initial proposed run, network_2 holds all four root roles. Its first available descendant is physical node 70. Gateway scores for networks 1 and 2 are close, so show six decimal places to avoid an apparent rounded tie. The max selection tie-breaker is string ID only when score values tie. The root selects a network entity, not a single node across the entire deployment. There is one root scope, so this contributes four of the total 56 role assignments.</a:t>
            </a:r>
          </a:p>
          <a:p xmlns:a="http://schemas.openxmlformats.org/drawingml/2006/main">
            <a:r>
              <a:t/>
            </a:r>
          </a:p>
          <a:p xmlns:a="http://schemas.openxmlformats.org/drawingml/2006/main">
            <a:r>
              <a:t>Implementation evidence: simulation/entities.py: scope_candidates; simulation/capability.py: refresh_capabilities; simulation/protocols.py</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transitions library prohibits illegal jumps. New leases start pending and activate. Renewal temporarily enters renewing and updates timing before returning active. Migration enters migrating and replaces holder, epoch, and timing in the same lease object. Expiry or invalidation ends availability. Duration in proposed is 10 + capability times 90 by default, so a .8 score gives 82 ticks and renewal becomes due at 57.4 ticks, checked on integer ticks. Epochs advance every 20 ticks. Default behavior regrants assignments, while retention updates existing epoch labels in place. This is an in-process fencing model, not a distributed stale-message rejection protocol.</a:t>
            </a:r>
          </a:p>
          <a:p xmlns:a="http://schemas.openxmlformats.org/drawingml/2006/main">
            <a:r>
              <a:t/>
            </a:r>
          </a:p>
          <a:p xmlns:a="http://schemas.openxmlformats.org/drawingml/2006/main">
            <a:r>
              <a:t>Implementation evidence: simulation/leases.py; simulation/protocols.py: _advance_epoch; _lease_duration</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pseudocode of the implemented proposed-policy step. Epoch rollover occurs before the per-key loop and has a separate configurable retention path. Detection delay can defer handling an unavailable holder. Invalid state, holder failure, or epoch mismatch invalidates and removes the lease, while timed expiry expires and deletes it. If no lease remains, _assign runs and the loop continues, so a freshly assigned lease does not immediately enter optional migration during that same loop iteration. Existing leases renew before discretionary migration. Renewal failure invalidates and can trigger assignment. Optional migration checks cost, hysteresis, and an enabled gate, sends MIGRATE, then updates the same lease object. This is not make-before-break across independent distributed devices.</a:t>
            </a:r>
          </a:p>
          <a:p xmlns:a="http://schemas.openxmlformats.org/drawingml/2006/main">
            <a:r>
              <a:t/>
            </a:r>
          </a:p>
          <a:p xmlns:a="http://schemas.openxmlformats.org/drawingml/2006/main">
            <a:r>
              <a:t>Implementation evidence: simulation/protocols.py: step; _assign; _renew_if_due; _migrate</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 availability is a lease/holder proxy. C and D nearly overlap and the gate does not add a demonstrated availability benefit. The image is the genuine supplied study figure. Curves summarize seeds 42–71 with the stored four-arm and four-scenario configuration. Do not generalize beyond the model or reinterpret normalized ticks as hours.</a:t>
            </a:r>
          </a:p>
          <a:p xmlns:a="http://schemas.openxmlformats.org/drawingml/2006/main">
            <a:r>
              <a:t/>
            </a:r>
          </a:p>
          <a:p xmlns:a="http://schemas.openxmlformats.org/drawingml/2006/main">
            <a:r>
              <a:t>Implementation evidence: patent-study/results_20000/capability_service_continuity.png</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measure sensor-to-subnet delivery. They include generated but unrouted items, but only online nodes generate load. The image is the genuine supplied study figure. Curves summarize seeds 42–71 with the stored four-arm and four-scenario configuration. Do not generalize beyond the model or reinterpret normalized ticks as hours.</a:t>
            </a:r>
          </a:p>
          <a:p xmlns:a="http://schemas.openxmlformats.org/drawingml/2006/main">
            <a:r>
              <a:t/>
            </a:r>
          </a:p>
          <a:p xmlns:a="http://schemas.openxmlformats.org/drawingml/2006/main">
            <a:r>
              <a:t>Implementation evidence: patent-study/results_20000/sensor_delivery.png</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 battery can coexist with service failure. Communication cost and harvested energy must be interpreted together. The image is the genuine supplied study figure. Curves summarize seeds 42–71 with the stored four-arm and four-scenario configuration. Do not generalize beyond the model or reinterpret normalized ticks as hours.</a:t>
            </a:r>
          </a:p>
          <a:p xmlns:a="http://schemas.openxmlformats.org/drawingml/2006/main">
            <a:r>
              <a:t/>
            </a:r>
          </a:p>
          <a:p xmlns:a="http://schemas.openxmlformats.org/drawingml/2006/main">
            <a:r>
              <a:t>Implementation evidence: patent-study/results_20000/residual_battery.png</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Node survival differs from role continuity and sensor delivery. Network lifetime uses the first active fraction below .5. The image is the genuine supplied study figure. Curves summarize seeds 42–71 with the stored four-arm and four-scenario configuration. Do not generalize beyond the model or reinterpret normalized ticks as hours.</a:t>
            </a:r>
          </a:p>
          <a:p xmlns:a="http://schemas.openxmlformats.org/drawingml/2006/main">
            <a:r>
              <a:t/>
            </a:r>
          </a:p>
          <a:p xmlns:a="http://schemas.openxmlformats.org/drawingml/2006/main">
            <a:r>
              <a:t>Implementation evidence: patent-study/results_20000/active_node_fraction.png</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crossing by 20,000 ticks is right-censored. Censored horizons are not observed field failure times. The image is the genuine supplied study figure. Curves summarize seeds 42–71 with the stored four-arm and four-scenario configuration. Do not generalize beyond the model or reinterpret normalized ticks as hours.</a:t>
            </a:r>
          </a:p>
          <a:p xmlns:a="http://schemas.openxmlformats.org/drawingml/2006/main">
            <a:r>
              <a:t/>
            </a:r>
          </a:p>
          <a:p xmlns:a="http://schemas.openxmlformats.org/drawingml/2006/main">
            <a:r>
              <a:t>Implementation evidence: patent-study/results_20000/service_lifetime.png</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displayed normal-scenario mean values come from per_run_metrics.csv. D minus C confidence intervals come from paired_comparison.csv, which computes per-seed paired differences with a t interval. Negative migration difference indicates fewer recorded migrations, but positive energy differences indicate more modeled communication energy. In normal the count reduction interval is fully below zero, and energy per item and total communication energy intervals are above zero. CSC difference is zero. Other scenarios do not establish a consistent gate energy benefit: several energy intervals include zero. This is why migration suppression alone must not be called improved energy efficiency. The reported intervals do not correct for all possible multiple comparisons or establish hardware behavior.</a:t>
            </a:r>
          </a:p>
          <a:p xmlns:a="http://schemas.openxmlformats.org/drawingml/2006/main">
            <a:r>
              <a:t/>
            </a:r>
          </a:p>
          <a:p xmlns:a="http://schemas.openxmlformats.org/drawingml/2006/main">
            <a:r>
              <a:t>Implementation evidence: patent-study/results_20000/per_run_metrics.csv; paired_comparison.csv</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are the active source files and stored experiment records. The original Project.md motivates the design, while FINAL_SPRINT_PLAN.md supersedes older handoff instructions. Library selection is visible through imports: Mesa, transitions, NumPy, Pandas, Matplotlib, and SciPy for the study analyzer. No external prior-art search or patent opinion was performed. The earlier execution passed 82 tests with Mesa 3.3.1, and validated 480 unique run records plus 30 NPZ archives. The current edit changes presentation artifacts only. Existing PDFs remain unchanged by request.</a:t>
            </a:r>
          </a:p>
          <a:p xmlns:a="http://schemas.openxmlformats.org/drawingml/2006/main">
            <a:r>
              <a:t/>
            </a:r>
          </a:p>
          <a:p xmlns:a="http://schemas.openxmlformats.org/drawingml/2006/main">
            <a:r>
              <a:t>Implementation evidence: nodes.py; simulation/; tests/; patent-study/</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simulation/entities.py; simulation/topology.py; simulation/config.py; ProtocolEngine.assignment_keys; nodes.py; simulation/runner.py; nodes.py</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nodes.py; simulation/capability.py; simulation/capability.py; SimulationConfig.subnet_counts; EntityHierarchy.representative_node_id; ProtocolEngine._consider_cost_aware_migration</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calculate_migration_cost; ProtocolEngine._migrate; ProtocolEngine._renew_if_due; _advance_epoch; simulation/protocols.py; simulation/leases.py; NetworkRouter._current_graph; _routes_from</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simulation/runner.py; NetworkRouter.invalidate_graph; NetworkRouter._routes_from; RoleSimulationModel._harvest_solar_energy; ProtocolEngine.step; _solar_migration_is_worthwhile</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MetricsRecorder.record; ProtocolEngine.role_available; RoleSimulationModel._route_sensor_traffic; simulation/runner.py; stored per_run_metrics.csv; simulation/metrics.py; patent-study/analyze_patent_study.py</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patent-study/run_patent_study.py; patent-study/results_20000/paired_comparison.csv; simulation/config.py; simulation/leases.py; Architectural recommendation based on implementation</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08438f9fad4c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053841edab4b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983a9451bb42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fae579b7814c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f84b2865ad47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5295391bb84d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FC35CB-7CFC-4E71-BDE3-27BEC7553E0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41E4C25-D6F5-4906-9459-EE2BC131965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2DE8772-0AA1-4135-BDE7-F64004CF727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E056A0-0064-43BF-AFDD-F4B48B256B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EF2103-EF14-41BF-B8F7-41074F1FBC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5226DE5-C4D9-473E-998C-ECE862A85B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C3819E-150A-42CD-A9C9-64241EA49B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305020E-4F63-450D-ABBD-692E1056972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B64D47-06CE-445F-BBF5-4E3C3D3B2B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1D2E30-2F28-4EDC-B390-8AE64C853A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e17c84a1b3400b" /><Relationship Type="http://schemas.openxmlformats.org/officeDocument/2006/relationships/slideLayout" Target="/ppt/slideLayouts/slideLayout1.xml" Id="R3013994c5fdb4936" /><Relationship Type="http://schemas.openxmlformats.org/officeDocument/2006/relationships/slideLayout" Target="/ppt/slideLayouts/slideLayout2.xml" Id="Rf64ed03b484b4f3a" /><Relationship Type="http://schemas.openxmlformats.org/officeDocument/2006/relationships/slideLayout" Target="/ppt/slideLayouts/slideLayout3.xml" Id="R299a8c56435f4886" /><Relationship Type="http://schemas.openxmlformats.org/officeDocument/2006/relationships/slideLayout" Target="/ppt/slideLayouts/slideLayout4.xml" Id="R78c58a0ed62a47f4" /><Relationship Type="http://schemas.openxmlformats.org/officeDocument/2006/relationships/slideLayout" Target="/ppt/slideLayouts/slideLayout5.xml" Id="R6a9fb029c6564954" /><Relationship Type="http://schemas.openxmlformats.org/officeDocument/2006/relationships/slideLayout" Target="/ppt/slideLayouts/slideLayout6.xml" Id="R10c802d8933f44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13994c5fdb4936"/>
    <p:sldLayoutId xmlns:r="http://schemas.openxmlformats.org/officeDocument/2006/relationships" id="2147483650" r:id="Rf64ed03b484b4f3a"/>
    <p:sldLayoutId xmlns:r="http://schemas.openxmlformats.org/officeDocument/2006/relationships" id="2147483651" r:id="R299a8c56435f4886"/>
    <p:sldLayoutId xmlns:r="http://schemas.openxmlformats.org/officeDocument/2006/relationships" id="2147483652" r:id="R78c58a0ed62a47f4"/>
    <p:sldLayoutId xmlns:r="http://schemas.openxmlformats.org/officeDocument/2006/relationships" id="2147483653" r:id="R6a9fb029c6564954"/>
    <p:sldLayoutId xmlns:r="http://schemas.openxmlformats.org/officeDocument/2006/relationships" id="2147483654" r:id="R10c802d8933f44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ad3f21fa71841aa" /><Relationship Type="http://schemas.openxmlformats.org/officeDocument/2006/relationships/notesSlide" Target="/ppt/notesSlides/notesSlide1.xml" Id="R116f6634c6a54b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02286c034b44cd" /><Relationship Type="http://schemas.openxmlformats.org/officeDocument/2006/relationships/notesSlide" Target="/ppt/notesSlides/notesSlide2.xml" Id="R8e1aa323a6e948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267ae7bb0ca4625" /><Relationship Type="http://schemas.openxmlformats.org/officeDocument/2006/relationships/notesSlide" Target="/ppt/notesSlides/notesSlide3.xml" Id="R3389267f007c43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0778043e7bc42ad" /><Relationship Type="http://schemas.openxmlformats.org/officeDocument/2006/relationships/notesSlide" Target="/ppt/notesSlides/notesSlide4.xml" Id="R25968b1b710247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07c26b4836243c6" /><Relationship Type="http://schemas.openxmlformats.org/officeDocument/2006/relationships/notesSlide" Target="/ppt/notesSlides/notesSlide5.xml" Id="R83790613f33048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1fe4db6fa784544" /><Relationship Type="http://schemas.openxmlformats.org/officeDocument/2006/relationships/notesSlide" Target="/ppt/notesSlides/notesSlide6.xml" Id="R89163f9c85c54b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f3e560cf5e8450e" /><Relationship Type="http://schemas.openxmlformats.org/officeDocument/2006/relationships/notesSlide" Target="/ppt/notesSlides/notesSlide7.xml" Id="Rfbe7b0eaf32c45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1849dea632b4e45" /><Relationship Type="http://schemas.openxmlformats.org/officeDocument/2006/relationships/notesSlide" Target="/ppt/notesSlides/notesSlide8.xml" Id="R01ca35a3321b47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65b5d278d047fa" /><Relationship Type="http://schemas.openxmlformats.org/officeDocument/2006/relationships/notesSlide" Target="/ppt/notesSlides/notesSlide9.xml" Id="R55f7ddedc58b41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10d8bd42d1e4c18" /><Relationship Type="http://schemas.openxmlformats.org/officeDocument/2006/relationships/notesSlide" Target="/ppt/notesSlides/notesSlide10.xml" Id="R380f5b7e969a49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4805a7fa2240c4" /><Relationship Type="http://schemas.openxmlformats.org/officeDocument/2006/relationships/chart" Target="/ppt/slides/charts/chart1.xml" Id="Rbaa22fcf895440d9" /><Relationship Type="http://schemas.openxmlformats.org/officeDocument/2006/relationships/chart" Target="/ppt/slides/charts/chart2.xml" Id="R3a57241c0fc24d63" /><Relationship Type="http://schemas.openxmlformats.org/officeDocument/2006/relationships/chart" Target="/ppt/slides/charts/chart3.xml" Id="Rb6d02ab563284355" /><Relationship Type="http://schemas.openxmlformats.org/officeDocument/2006/relationships/chart" Target="/ppt/slides/charts/chart4.xml" Id="Ra9fc4ef6bc554d3b" /><Relationship Type="http://schemas.openxmlformats.org/officeDocument/2006/relationships/notesSlide" Target="/ppt/notesSlides/notesSlide11.xml" Id="R38867214466c4a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3d4256ce0f74769" /><Relationship Type="http://schemas.openxmlformats.org/officeDocument/2006/relationships/notesSlide" Target="/ppt/notesSlides/notesSlide12.xml" Id="Re5bf8d354a4944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76e49e949a447be" /><Relationship Type="http://schemas.openxmlformats.org/officeDocument/2006/relationships/notesSlide" Target="/ppt/notesSlides/notesSlide13.xml" Id="R51876f43f5c545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d4231e2840e4088" /><Relationship Type="http://schemas.openxmlformats.org/officeDocument/2006/relationships/notesSlide" Target="/ppt/notesSlides/notesSlide14.xml" Id="R85b35b6626a44a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ea130f089104210" /><Relationship Type="http://schemas.openxmlformats.org/officeDocument/2006/relationships/notesSlide" Target="/ppt/notesSlides/notesSlide15.xml" Id="R12c1330e80f047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e54d0465adc4b3d" /><Relationship Type="http://schemas.openxmlformats.org/officeDocument/2006/relationships/notesSlide" Target="/ppt/notesSlides/notesSlide16.xml" Id="Rf871490973514a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62ddf2b0baf4586" /><Relationship Type="http://schemas.openxmlformats.org/officeDocument/2006/relationships/notesSlide" Target="/ppt/notesSlides/notesSlide17.xml" Id="R580e0f1f57e240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6fb2b41c8144e71" /><Relationship Type="http://schemas.openxmlformats.org/officeDocument/2006/relationships/notesSlide" Target="/ppt/notesSlides/notesSlide18.xml" Id="R143e5cfa5fd041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ff20a30314a461a" /><Relationship Type="http://schemas.openxmlformats.org/officeDocument/2006/relationships/image" Target="/ppt/media/image.png" Id="Rcc60d3f0ef574494" /><Relationship Type="http://schemas.openxmlformats.org/officeDocument/2006/relationships/notesSlide" Target="/ppt/notesSlides/notesSlide19.xml" Id="R84c8f48efe69490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74e4819783a42fa" /><Relationship Type="http://schemas.openxmlformats.org/officeDocument/2006/relationships/image" Target="/ppt/media/image2.png" Id="Re7c6656bd8134361" /><Relationship Type="http://schemas.openxmlformats.org/officeDocument/2006/relationships/notesSlide" Target="/ppt/notesSlides/notesSlide20.xml" Id="R28150edfbb5a4b0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0a53928ff704bcb" /><Relationship Type="http://schemas.openxmlformats.org/officeDocument/2006/relationships/image" Target="/ppt/media/image3.png" Id="Ra1ffdb1dd5c14173" /><Relationship Type="http://schemas.openxmlformats.org/officeDocument/2006/relationships/notesSlide" Target="/ppt/notesSlides/notesSlide21.xml" Id="R25749c3df8b14ce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fd00d3414064555" /><Relationship Type="http://schemas.openxmlformats.org/officeDocument/2006/relationships/image" Target="/ppt/media/image4.png" Id="Rbf030f1143084f9c" /><Relationship Type="http://schemas.openxmlformats.org/officeDocument/2006/relationships/notesSlide" Target="/ppt/notesSlides/notesSlide22.xml" Id="R365be8bef0f44a7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0e89058ca1c47aa" /><Relationship Type="http://schemas.openxmlformats.org/officeDocument/2006/relationships/image" Target="/ppt/media/image5.png" Id="R5b5f220da6aa4e88" /><Relationship Type="http://schemas.openxmlformats.org/officeDocument/2006/relationships/notesSlide" Target="/ppt/notesSlides/notesSlide23.xml" Id="Rf51c00e4c1d040e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7898abd882341bf" /><Relationship Type="http://schemas.openxmlformats.org/officeDocument/2006/relationships/notesSlide" Target="/ppt/notesSlides/notesSlide24.xml" Id="R95ef3a280aee4ff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90f6b17052a42ab" /><Relationship Type="http://schemas.openxmlformats.org/officeDocument/2006/relationships/notesSlide" Target="/ppt/notesSlides/notesSlide25.xml" Id="Rb5d13a12f1c441d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cf49c1f25484cb0" /><Relationship Type="http://schemas.openxmlformats.org/officeDocument/2006/relationships/notesSlide" Target="/ppt/notesSlides/notesSlide26.xml" Id="R8f8688bc2594400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c7da08539904491" /><Relationship Type="http://schemas.openxmlformats.org/officeDocument/2006/relationships/notesSlide" Target="/ppt/notesSlides/notesSlide27.xml" Id="R96aca406025e4db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36f88df53894610" /><Relationship Type="http://schemas.openxmlformats.org/officeDocument/2006/relationships/notesSlide" Target="/ppt/notesSlides/notesSlide28.xml" Id="R6494fc7ee055461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ee042f7616846c5" /><Relationship Type="http://schemas.openxmlformats.org/officeDocument/2006/relationships/notesSlide" Target="/ppt/notesSlides/notesSlide29.xml" Id="R0fedc165d8d540e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14627b86ed0494f" /><Relationship Type="http://schemas.openxmlformats.org/officeDocument/2006/relationships/notesSlide" Target="/ppt/notesSlides/notesSlide30.xml" Id="Ra080a3f6bc8e452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244004d8dbe494c" /><Relationship Type="http://schemas.openxmlformats.org/officeDocument/2006/relationships/notesSlide" Target="/ppt/notesSlides/notesSlide31.xml" Id="R972875c63cf4470c"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112B3C"/>
                </a:solidFill>
                <a:latin typeface="Arial"/>
                <a:ea typeface="Arial"/>
                <a:cs typeface="Arial"/>
              </a:rPr>
              <a:t>Role continuity (%)</a:t>
            </a:r>
          </a:p>
        </c:rich>
      </c:tx>
      <c:overlay val="0"/>
      <c:txPr>
        <a:bodyPr xmlns:a="http://schemas.openxmlformats.org/drawingml/2006/main" anchorCtr="1"/>
        <a:lstStyle xmlns:a="http://schemas.openxmlformats.org/drawingml/2006/main"/>
        <a:p xmlns:a="http://schemas.openxmlformats.org/drawingml/2006/main">
          <a:pPr>
            <a:defRPr sz="1725" b="1">
              <a:solidFill>
                <a:srgbClr val="112B3C"/>
              </a:solidFill>
              <a:latin typeface="Arial"/>
              <a:ea typeface="Arial"/>
              <a:cs typeface="Arial"/>
            </a:defRPr>
          </a:pPr>
        </a:p>
      </c:txPr>
    </c:title>
    <c:plotArea>
      <c:barChart>
        <c:barDir val="col"/>
        <c:varyColors val="0"/>
        <c:ser>
          <c:idx val="0"/>
          <c:order val="0"/>
          <c:tx>
            <c:v>Role continuity (%)</c:v>
          </c:tx>
          <c:spPr>
            <a:solidFill xmlns:a="http://schemas.openxmlformats.org/drawingml/2006/main">
              <a:srgbClr val="007F7B"/>
            </a:solidFill>
          </c:spPr>
          <c:invertIfNegative val="0"/>
          <c:dPt>
            <c:idx val="0"/>
            <c:invertIfNegative val="0"/>
            <c:spPr>
              <a:solidFill xmlns:a="http://schemas.openxmlformats.org/drawingml/2006/main">
                <a:srgbClr val="526775"/>
              </a:solidFill>
            </c:spPr>
          </c:dPt>
          <c:dPt>
            <c:idx val="1"/>
            <c:invertIfNegative val="0"/>
            <c:spPr>
              <a:solidFill xmlns:a="http://schemas.openxmlformats.org/drawingml/2006/main">
                <a:srgbClr val="2269A0"/>
              </a:solidFill>
            </c:spPr>
          </c:dPt>
          <c:dPt>
            <c:idx val="2"/>
            <c:invertIfNegative val="0"/>
            <c:spPr>
              <a:solidFill xmlns:a="http://schemas.openxmlformats.org/drawingml/2006/main">
                <a:srgbClr val="007F7B"/>
              </a:solidFill>
            </c:spPr>
          </c:dPt>
          <c:dPt>
            <c:idx val="3"/>
            <c:invertIfNegative val="0"/>
            <c:spPr>
              <a:solidFill xmlns:a="http://schemas.openxmlformats.org/drawingml/2006/main">
                <a:srgbClr val="CC8A30"/>
              </a:solidFill>
            </c:spPr>
          </c:dPt>
          <c:cat>
            <c:strLit>
              <c:ptCount val="4"/>
              <c:pt idx="0">
                <c:v>A</c:v>
              </c:pt>
              <c:pt idx="1">
                <c:v>B</c:v>
              </c:pt>
              <c:pt idx="2">
                <c:v>C</c:v>
              </c:pt>
              <c:pt idx="3">
                <c:v>D</c:v>
              </c:pt>
            </c:strLit>
          </c:cat>
          <c:val>
            <c:numLit>
              <c:formatCode>0.0</c:formatCode>
              <c:ptCount val="4"/>
              <c:pt idx="0">
                <c:v>26.11305357142857</c:v>
              </c:pt>
              <c:pt idx="1">
                <c:v>99.9975505952381</c:v>
              </c:pt>
              <c:pt idx="2">
                <c:v>100</c:v>
              </c:pt>
              <c:pt idx="3">
                <c:v>100</c:v>
              </c:pt>
            </c:numLit>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12B3C"/>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12B3C"/>
                </a:solidFill>
                <a:latin typeface="Arial"/>
                <a:ea typeface="Arial"/>
                <a:cs typeface="Arial"/>
              </a:defRPr>
            </a:pPr>
          </a:p>
        </c:txPr>
        <c:crossAx val="48672768"/>
      </c:catAx>
      <c:valAx>
        <c:axId val="48672768"/>
        <c:scaling>
          <c:orientation val="minMax"/>
          <c:max val="114.99999999999999"/>
          <c:min val="0"/>
        </c:scaling>
        <c:delete val="0"/>
        <c:axPos val="l"/>
        <c:majorGridlines>
          <c:spPr>
            <a:ln xmlns:a="http://schemas.openxmlformats.org/drawingml/2006/main" w="9525">
              <a:solidFill>
                <a:srgbClr val="C9D6DD"/>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775"/>
                </a:solidFill>
                <a:latin typeface="Arial"/>
                <a:ea typeface="Arial"/>
                <a:cs typeface="Arial"/>
              </a:defRPr>
            </a:pPr>
          </a:p>
        </c:txPr>
        <c:crossAx val="48650112"/>
        <c:crossBetween val="between"/>
      </c:valAx>
      <c:spPr>
        <a:solidFill xmlns:a="http://schemas.openxmlformats.org/drawingml/2006/main">
          <a:srgbClr val="F4F6F8"/>
        </a:solidFill>
      </c:spPr>
    </c:plotArea>
    <c:plotVisOnly val="1"/>
  </c:chart>
  <c:spPr>
    <a:solidFill xmlns:a="http://schemas.openxmlformats.org/drawingml/2006/main">
      <a:srgbClr val="F4F6F8"/>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112B3C"/>
                </a:solidFill>
                <a:latin typeface="Arial"/>
                <a:ea typeface="Arial"/>
                <a:cs typeface="Arial"/>
              </a:rPr>
              <a:t>Sensor delivery (%)</a:t>
            </a:r>
          </a:p>
        </c:rich>
      </c:tx>
      <c:overlay val="0"/>
      <c:txPr>
        <a:bodyPr xmlns:a="http://schemas.openxmlformats.org/drawingml/2006/main" anchorCtr="1"/>
        <a:lstStyle xmlns:a="http://schemas.openxmlformats.org/drawingml/2006/main"/>
        <a:p xmlns:a="http://schemas.openxmlformats.org/drawingml/2006/main">
          <a:pPr>
            <a:defRPr sz="1725" b="1">
              <a:solidFill>
                <a:srgbClr val="112B3C"/>
              </a:solidFill>
              <a:latin typeface="Arial"/>
              <a:ea typeface="Arial"/>
              <a:cs typeface="Arial"/>
            </a:defRPr>
          </a:pPr>
        </a:p>
      </c:txPr>
    </c:title>
    <c:plotArea>
      <c:barChart>
        <c:barDir val="col"/>
        <c:varyColors val="0"/>
        <c:ser>
          <c:idx val="0"/>
          <c:order val="0"/>
          <c:tx>
            <c:v>Sensor delivery (%)</c:v>
          </c:tx>
          <c:spPr>
            <a:solidFill xmlns:a="http://schemas.openxmlformats.org/drawingml/2006/main">
              <a:srgbClr val="007F7B"/>
            </a:solidFill>
          </c:spPr>
          <c:invertIfNegative val="0"/>
          <c:dPt>
            <c:idx val="0"/>
            <c:invertIfNegative val="0"/>
            <c:spPr>
              <a:solidFill xmlns:a="http://schemas.openxmlformats.org/drawingml/2006/main">
                <a:srgbClr val="526775"/>
              </a:solidFill>
            </c:spPr>
          </c:dPt>
          <c:dPt>
            <c:idx val="1"/>
            <c:invertIfNegative val="0"/>
            <c:spPr>
              <a:solidFill xmlns:a="http://schemas.openxmlformats.org/drawingml/2006/main">
                <a:srgbClr val="2269A0"/>
              </a:solidFill>
            </c:spPr>
          </c:dPt>
          <c:dPt>
            <c:idx val="2"/>
            <c:invertIfNegative val="0"/>
            <c:spPr>
              <a:solidFill xmlns:a="http://schemas.openxmlformats.org/drawingml/2006/main">
                <a:srgbClr val="007F7B"/>
              </a:solidFill>
            </c:spPr>
          </c:dPt>
          <c:dPt>
            <c:idx val="3"/>
            <c:invertIfNegative val="0"/>
            <c:spPr>
              <a:solidFill xmlns:a="http://schemas.openxmlformats.org/drawingml/2006/main">
                <a:srgbClr val="CC8A30"/>
              </a:solidFill>
            </c:spPr>
          </c:dPt>
          <c:cat>
            <c:strLit>
              <c:ptCount val="4"/>
              <c:pt idx="0">
                <c:v>A</c:v>
              </c:pt>
              <c:pt idx="1">
                <c:v>B</c:v>
              </c:pt>
              <c:pt idx="2">
                <c:v>C</c:v>
              </c:pt>
              <c:pt idx="3">
                <c:v>D</c:v>
              </c:pt>
            </c:strLit>
          </c:cat>
          <c:val>
            <c:numLit>
              <c:formatCode>0.0</c:formatCode>
              <c:ptCount val="4"/>
              <c:pt idx="0">
                <c:v>15.365806942482694</c:v>
              </c:pt>
              <c:pt idx="1">
                <c:v>83.3815778637517</c:v>
              </c:pt>
              <c:pt idx="2">
                <c:v>100</c:v>
              </c:pt>
              <c:pt idx="3">
                <c:v>100</c:v>
              </c:pt>
            </c:numLit>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12B3C"/>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12B3C"/>
                </a:solidFill>
                <a:latin typeface="Arial"/>
                <a:ea typeface="Arial"/>
                <a:cs typeface="Arial"/>
              </a:defRPr>
            </a:pPr>
          </a:p>
        </c:txPr>
        <c:crossAx val="48672768"/>
      </c:catAx>
      <c:valAx>
        <c:axId val="48672768"/>
        <c:scaling>
          <c:orientation val="minMax"/>
          <c:max val="114.99999999999999"/>
          <c:min val="0"/>
        </c:scaling>
        <c:delete val="0"/>
        <c:axPos val="l"/>
        <c:majorGridlines>
          <c:spPr>
            <a:ln xmlns:a="http://schemas.openxmlformats.org/drawingml/2006/main" w="9525">
              <a:solidFill>
                <a:srgbClr val="C9D6DD"/>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775"/>
                </a:solidFill>
                <a:latin typeface="Arial"/>
                <a:ea typeface="Arial"/>
                <a:cs typeface="Arial"/>
              </a:defRPr>
            </a:pPr>
          </a:p>
        </c:txPr>
        <c:crossAx val="48650112"/>
        <c:crossBetween val="between"/>
      </c:valAx>
      <c:spPr>
        <a:solidFill xmlns:a="http://schemas.openxmlformats.org/drawingml/2006/main">
          <a:srgbClr val="F4F6F8"/>
        </a:solidFill>
      </c:spPr>
    </c:plotArea>
    <c:plotVisOnly val="1"/>
  </c:chart>
  <c:spPr>
    <a:solidFill xmlns:a="http://schemas.openxmlformats.org/drawingml/2006/main">
      <a:srgbClr val="F4F6F8"/>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112B3C"/>
                </a:solidFill>
                <a:latin typeface="Arial"/>
                <a:ea typeface="Arial"/>
                <a:cs typeface="Arial"/>
              </a:rPr>
              <a:t>Mean final battery (normalized)</a:t>
            </a:r>
          </a:p>
        </c:rich>
      </c:tx>
      <c:overlay val="0"/>
      <c:txPr>
        <a:bodyPr xmlns:a="http://schemas.openxmlformats.org/drawingml/2006/main" anchorCtr="1"/>
        <a:lstStyle xmlns:a="http://schemas.openxmlformats.org/drawingml/2006/main"/>
        <a:p xmlns:a="http://schemas.openxmlformats.org/drawingml/2006/main">
          <a:pPr>
            <a:defRPr sz="1725" b="1">
              <a:solidFill>
                <a:srgbClr val="112B3C"/>
              </a:solidFill>
              <a:latin typeface="Arial"/>
              <a:ea typeface="Arial"/>
              <a:cs typeface="Arial"/>
            </a:defRPr>
          </a:pPr>
        </a:p>
      </c:txPr>
    </c:title>
    <c:plotArea>
      <c:barChart>
        <c:barDir val="col"/>
        <c:varyColors val="0"/>
        <c:ser>
          <c:idx val="0"/>
          <c:order val="0"/>
          <c:tx>
            <c:v>Mean final battery (normalized)</c:v>
          </c:tx>
          <c:spPr>
            <a:solidFill xmlns:a="http://schemas.openxmlformats.org/drawingml/2006/main">
              <a:srgbClr val="007F7B"/>
            </a:solidFill>
          </c:spPr>
          <c:invertIfNegative val="0"/>
          <c:dPt>
            <c:idx val="0"/>
            <c:invertIfNegative val="0"/>
            <c:spPr>
              <a:solidFill xmlns:a="http://schemas.openxmlformats.org/drawingml/2006/main">
                <a:srgbClr val="526775"/>
              </a:solidFill>
            </c:spPr>
          </c:dPt>
          <c:dPt>
            <c:idx val="1"/>
            <c:invertIfNegative val="0"/>
            <c:spPr>
              <a:solidFill xmlns:a="http://schemas.openxmlformats.org/drawingml/2006/main">
                <a:srgbClr val="2269A0"/>
              </a:solidFill>
            </c:spPr>
          </c:dPt>
          <c:dPt>
            <c:idx val="2"/>
            <c:invertIfNegative val="0"/>
            <c:spPr>
              <a:solidFill xmlns:a="http://schemas.openxmlformats.org/drawingml/2006/main">
                <a:srgbClr val="007F7B"/>
              </a:solidFill>
            </c:spPr>
          </c:dPt>
          <c:dPt>
            <c:idx val="3"/>
            <c:invertIfNegative val="0"/>
            <c:spPr>
              <a:solidFill xmlns:a="http://schemas.openxmlformats.org/drawingml/2006/main">
                <a:srgbClr val="CC8A30"/>
              </a:solidFill>
            </c:spPr>
          </c:dPt>
          <c:cat>
            <c:strLit>
              <c:ptCount val="4"/>
              <c:pt idx="0">
                <c:v>A</c:v>
              </c:pt>
              <c:pt idx="1">
                <c:v>B</c:v>
              </c:pt>
              <c:pt idx="2">
                <c:v>C</c:v>
              </c:pt>
              <c:pt idx="3">
                <c:v>D</c:v>
              </c:pt>
            </c:strLit>
          </c:cat>
          <c:val>
            <c:numLit>
              <c:formatCode>0.000</c:formatCode>
              <c:ptCount val="4"/>
              <c:pt idx="0">
                <c:v>0.4665084710537287</c:v>
              </c:pt>
              <c:pt idx="1">
                <c:v>0.02289319207754942</c:v>
              </c:pt>
              <c:pt idx="2">
                <c:v>0.8216534775412896</c:v>
              </c:pt>
              <c:pt idx="3">
                <c:v>0.8185863940859431</c:v>
              </c:pt>
            </c:numLit>
          </c:val>
        </c:ser>
        <c:dLbls>
          <c:numFmt formatCode="0.000" sourceLinked="0"/>
          <c:txPr>
            <a:bodyPr xmlns:a="http://schemas.openxmlformats.org/drawingml/2006/main" anchorCtr="1"/>
            <a:lstStyle xmlns:a="http://schemas.openxmlformats.org/drawingml/2006/main"/>
            <a:p xmlns:a="http://schemas.openxmlformats.org/drawingml/2006/main">
              <a:pPr>
                <a:defRPr sz="1350">
                  <a:solidFill>
                    <a:srgbClr val="112B3C"/>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12B3C"/>
                </a:solidFill>
                <a:latin typeface="Arial"/>
                <a:ea typeface="Arial"/>
                <a:cs typeface="Arial"/>
              </a:defRPr>
            </a:pPr>
          </a:p>
        </c:txPr>
        <c:crossAx val="48672768"/>
      </c:catAx>
      <c:valAx>
        <c:axId val="48672768"/>
        <c:scaling>
          <c:orientation val="minMax"/>
          <c:max val="1.15"/>
          <c:min val="0"/>
        </c:scaling>
        <c:delete val="0"/>
        <c:axPos val="l"/>
        <c:majorGridlines>
          <c:spPr>
            <a:ln xmlns:a="http://schemas.openxmlformats.org/drawingml/2006/main" w="9525">
              <a:solidFill>
                <a:srgbClr val="C9D6D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775"/>
                </a:solidFill>
                <a:latin typeface="Arial"/>
                <a:ea typeface="Arial"/>
                <a:cs typeface="Arial"/>
              </a:defRPr>
            </a:pPr>
          </a:p>
        </c:txPr>
        <c:crossAx val="48650112"/>
        <c:crossBetween val="between"/>
      </c:valAx>
      <c:spPr>
        <a:solidFill xmlns:a="http://schemas.openxmlformats.org/drawingml/2006/main">
          <a:srgbClr val="F4F6F8"/>
        </a:solidFill>
      </c:spPr>
    </c:plotArea>
    <c:plotVisOnly val="1"/>
  </c:chart>
  <c:spPr>
    <a:solidFill xmlns:a="http://schemas.openxmlformats.org/drawingml/2006/main">
      <a:srgbClr val="F4F6F8"/>
    </a:solidFill>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112B3C"/>
                </a:solidFill>
                <a:latin typeface="Arial"/>
                <a:ea typeface="Arial"/>
                <a:cs typeface="Arial"/>
              </a:rPr>
              <a:t>Delivery 90% lifetime (ticks, restricted)</a:t>
            </a:r>
          </a:p>
        </c:rich>
      </c:tx>
      <c:overlay val="0"/>
      <c:txPr>
        <a:bodyPr xmlns:a="http://schemas.openxmlformats.org/drawingml/2006/main" anchorCtr="1"/>
        <a:lstStyle xmlns:a="http://schemas.openxmlformats.org/drawingml/2006/main"/>
        <a:p xmlns:a="http://schemas.openxmlformats.org/drawingml/2006/main">
          <a:pPr>
            <a:defRPr sz="1725" b="1">
              <a:solidFill>
                <a:srgbClr val="112B3C"/>
              </a:solidFill>
              <a:latin typeface="Arial"/>
              <a:ea typeface="Arial"/>
              <a:cs typeface="Arial"/>
            </a:defRPr>
          </a:pPr>
        </a:p>
      </c:txPr>
    </c:title>
    <c:plotArea>
      <c:barChart>
        <c:barDir val="col"/>
        <c:varyColors val="0"/>
        <c:ser>
          <c:idx val="0"/>
          <c:order val="0"/>
          <c:tx>
            <c:v>Delivery 90% lifetime (ticks, restricted)</c:v>
          </c:tx>
          <c:spPr>
            <a:solidFill xmlns:a="http://schemas.openxmlformats.org/drawingml/2006/main">
              <a:srgbClr val="007F7B"/>
            </a:solidFill>
          </c:spPr>
          <c:invertIfNegative val="0"/>
          <c:dPt>
            <c:idx val="0"/>
            <c:invertIfNegative val="0"/>
            <c:spPr>
              <a:solidFill xmlns:a="http://schemas.openxmlformats.org/drawingml/2006/main">
                <a:srgbClr val="526775"/>
              </a:solidFill>
            </c:spPr>
          </c:dPt>
          <c:dPt>
            <c:idx val="1"/>
            <c:invertIfNegative val="0"/>
            <c:spPr>
              <a:solidFill xmlns:a="http://schemas.openxmlformats.org/drawingml/2006/main">
                <a:srgbClr val="2269A0"/>
              </a:solidFill>
            </c:spPr>
          </c:dPt>
          <c:dPt>
            <c:idx val="2"/>
            <c:invertIfNegative val="0"/>
            <c:spPr>
              <a:solidFill xmlns:a="http://schemas.openxmlformats.org/drawingml/2006/main">
                <a:srgbClr val="007F7B"/>
              </a:solidFill>
            </c:spPr>
          </c:dPt>
          <c:dPt>
            <c:idx val="3"/>
            <c:invertIfNegative val="0"/>
            <c:spPr>
              <a:solidFill xmlns:a="http://schemas.openxmlformats.org/drawingml/2006/main">
                <a:srgbClr val="CC8A30"/>
              </a:solidFill>
            </c:spPr>
          </c:dPt>
          <c:cat>
            <c:strLit>
              <c:ptCount val="4"/>
              <c:pt idx="0">
                <c:v>A</c:v>
              </c:pt>
              <c:pt idx="1">
                <c:v>B</c:v>
              </c:pt>
              <c:pt idx="2">
                <c:v>C</c:v>
              </c:pt>
              <c:pt idx="3">
                <c:v>D</c:v>
              </c:pt>
            </c:strLit>
          </c:cat>
          <c:val>
            <c:numLit>
              <c:formatCode>0</c:formatCode>
              <c:ptCount val="4"/>
              <c:pt idx="0">
                <c:v>2256.5333333333333</c:v>
              </c:pt>
              <c:pt idx="1">
                <c:v>13657.133333333333</c:v>
              </c:pt>
              <c:pt idx="2">
                <c:v>20000</c:v>
              </c:pt>
              <c:pt idx="3">
                <c:v>20000</c:v>
              </c:pt>
            </c:numLit>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112B3C"/>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12B3C"/>
                </a:solidFill>
                <a:latin typeface="Arial"/>
                <a:ea typeface="Arial"/>
                <a:cs typeface="Arial"/>
              </a:defRPr>
            </a:pPr>
          </a:p>
        </c:txPr>
        <c:crossAx val="48672768"/>
      </c:catAx>
      <c:valAx>
        <c:axId val="48672768"/>
        <c:scaling>
          <c:orientation val="minMax"/>
          <c:max val="23000"/>
          <c:min val="0"/>
        </c:scaling>
        <c:delete val="0"/>
        <c:axPos val="l"/>
        <c:majorGridlines>
          <c:spPr>
            <a:ln xmlns:a="http://schemas.openxmlformats.org/drawingml/2006/main" w="9525">
              <a:solidFill>
                <a:srgbClr val="C9D6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775"/>
                </a:solidFill>
                <a:latin typeface="Arial"/>
                <a:ea typeface="Arial"/>
                <a:cs typeface="Arial"/>
              </a:defRPr>
            </a:pPr>
          </a:p>
        </c:txPr>
        <c:crossAx val="48650112"/>
        <c:crossBetween val="between"/>
      </c:valAx>
      <c:spPr>
        <a:solidFill xmlns:a="http://schemas.openxmlformats.org/drawingml/2006/main">
          <a:srgbClr val="F4F6F8"/>
        </a:solidFill>
      </c:spPr>
    </c:plotArea>
    <c:plotVisOnly val="1"/>
  </c:chart>
  <c:spPr>
    <a:solidFill xmlns:a="http://schemas.openxmlformats.org/drawingml/2006/main">
      <a:srgbClr val="F4F6F8"/>
    </a:solidFill>
  </c:spPr>
</c:chartSpace>
</file>

<file path=ppt/slides/slide1.xml><?xml version="1.0" encoding="utf-8"?>
<p:sld xmlns:p="http://schemas.openxmlformats.org/presentationml/2006/main">
  <p:cSld>
    <p:bg>
      <p:bgPr>
        <a:solidFill xmlns:a="http://schemas.openxmlformats.org/drawingml/2006/main">
          <a:srgbClr val="112B3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B1F01F5-D07A-4195-B116-8E4F20BBCC2D}"/>
              </a:ext>
            </a:extLst>
          </p:cNvPr>
          <p:cNvSpPr>
            <a:spLocks xmlns:a="http://schemas.openxmlformats.org/drawingml/2006/main" noGrp="1"/>
          </p:cNvSpPr>
          <p:nvPr/>
        </p:nvSpPr>
        <p:spPr>
          <a:xfrm xmlns:a="http://schemas.openxmlformats.org/drawingml/2006/main">
            <a:off x="685800" y="6858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1">
                <a:solidFill>
                  <a:srgbClr val="66D5C9"/>
                </a:solidFill>
                <a:latin typeface="Arial"/>
                <a:ea typeface="Arial"/>
                <a:cs typeface="Arial"/>
              </a:defRPr>
            </a:defPPr>
          </a:lstStyle>
          <a:p xmlns:a="http://schemas.openxmlformats.org/drawingml/2006/main">
            <a:pPr>
              <a:defRPr sz="1575" b="1">
                <a:solidFill>
                  <a:srgbClr val="66D5C9"/>
                </a:solidFill>
                <a:latin typeface="Arial"/>
                <a:ea typeface="Arial"/>
                <a:cs typeface="Arial"/>
              </a:defRPr>
            </a:pPr>
            <a:r>
              <a:rPr sz="1575" b="1">
                <a:solidFill>
                  <a:srgbClr val="66D5C9"/>
                </a:solidFill>
                <a:latin typeface="Arial"/>
                <a:ea typeface="Arial"/>
                <a:cs typeface="Arial"/>
              </a:rPr>
              <a:t>TECHNICAL PROJECT REVIEW</a:t>
            </a:r>
          </a:p>
        </p:txBody>
      </p:sp>
      <p:sp>
        <p:nvSpPr>
          <p:cNvPr id="2" name="">
            <a:extLst xmlns:a="http://schemas.openxmlformats.org/drawingml/2006/main">
              <a:ext uri="{FF2B5EF4-FFF2-40B4-BE49-F238E27FC236}">
                <a16:creationId xmlns:a16="http://schemas.microsoft.com/office/drawing/2014/main" id="{64F5A56A-9258-4AC2-89D6-8064E1D241F4}"/>
              </a:ext>
            </a:extLst>
          </p:cNvPr>
          <p:cNvSpPr>
            <a:spLocks xmlns:a="http://schemas.openxmlformats.org/drawingml/2006/main" noGrp="1"/>
          </p:cNvSpPr>
          <p:nvPr/>
        </p:nvSpPr>
        <p:spPr>
          <a:xfrm xmlns:a="http://schemas.openxmlformats.org/drawingml/2006/main">
            <a:off x="685800" y="152400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0" b="1">
                <a:solidFill>
                  <a:srgbClr val="FFFFFF"/>
                </a:solidFill>
                <a:latin typeface="Arial"/>
                <a:ea typeface="Arial"/>
                <a:cs typeface="Arial"/>
              </a:defRPr>
            </a:def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Decentralized Role-Leasing</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IoT Protocol</a:t>
            </a:r>
          </a:p>
        </p:txBody>
      </p:sp>
      <p:sp>
        <p:nvSpPr>
          <p:cNvPr id="3" name="">
            <a:extLst xmlns:a="http://schemas.openxmlformats.org/drawingml/2006/main">
              <a:ext uri="{FF2B5EF4-FFF2-40B4-BE49-F238E27FC236}">
                <a16:creationId xmlns:a16="http://schemas.microsoft.com/office/drawing/2014/main" id="{1596E0D4-FD61-4AC7-92D1-58D13060DB1A}"/>
              </a:ext>
            </a:extLst>
          </p:cNvPr>
          <p:cNvSpPr>
            <a:spLocks xmlns:a="http://schemas.openxmlformats.org/drawingml/2006/main" noGrp="1"/>
          </p:cNvSpPr>
          <p:nvPr/>
        </p:nvSpPr>
        <p:spPr>
          <a:xfrm xmlns:a="http://schemas.openxmlformats.org/drawingml/2006/main">
            <a:off x="723900" y="3667125"/>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D9E6EC"/>
                </a:solidFill>
                <a:latin typeface="Arial"/>
                <a:ea typeface="Arial"/>
                <a:cs typeface="Arial"/>
              </a:defRPr>
            </a:defPPr>
          </a:lstStyle>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Capability aggregation, temporary role ownership, and recovery</a:t>
            </a:r>
          </a:p>
          <a:p xmlns:a="http://schemas.openxmlformats.org/drawingml/2006/main">
            <a:r>
              <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Student: [Name]    Registration: [Number]</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Institution: [Institution]    Department: [Department]</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Guide: [Name]</a:t>
            </a:r>
          </a:p>
        </p:txBody>
      </p:sp>
      <p:sp>
        <p:nvSpPr>
          <p:cNvPr id="4" name="">
            <a:extLst xmlns:a="http://schemas.openxmlformats.org/drawingml/2006/main">
              <a:ext uri="{FF2B5EF4-FFF2-40B4-BE49-F238E27FC236}">
                <a16:creationId xmlns:a16="http://schemas.microsoft.com/office/drawing/2014/main" id="{86E8FE0F-7984-4BF2-BD4E-839EE0E805B6}"/>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B8D4DD"/>
                </a:solidFill>
                <a:latin typeface="Arial"/>
                <a:ea typeface="Arial"/>
                <a:cs typeface="Arial"/>
              </a:defRPr>
            </a:defPPr>
          </a:lstStyle>
          <a:p xmlns:a="http://schemas.openxmlformats.org/drawingml/2006/main">
            <a:pPr>
              <a:defRPr sz="1200" b="0">
                <a:solidFill>
                  <a:srgbClr val="B8D4DD"/>
                </a:solidFill>
                <a:latin typeface="Arial"/>
                <a:ea typeface="Arial"/>
                <a:cs typeface="Arial"/>
              </a:defRPr>
            </a:pPr>
            <a:r>
              <a:rPr sz="1200" b="0">
                <a:solidFill>
                  <a:srgbClr val="B8D4DD"/>
                </a:solidFill>
                <a:latin typeface="Arial"/>
                <a:ea typeface="Arial"/>
                <a:cs typeface="Arial"/>
              </a:rPr>
              <a:t>01 / 12</a:t>
            </a:r>
          </a:p>
        </p:txBody>
      </p:sp>
    </p:spTree>
    <p:extLst>
      <p:ext uri="{BB962C8B-B14F-4D97-AF65-F5344CB8AC3E}">
        <p14:creationId xmlns:p14="http://schemas.microsoft.com/office/powerpoint/2010/main" val="1002127907"/>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E6A37165-D5B0-492C-95FC-A37F25D63E44}"/>
              </a:ext>
            </a:extLst>
          </p:cNvPr>
          <p:cNvCxnSpPr>
            <a:stCxn xmlns:a="http://schemas.openxmlformats.org/drawingml/2006/main" id="7" idx="3"/>
            <a:endCxn xmlns:a="http://schemas.openxmlformats.org/drawingml/2006/main" id="11" idx="1"/>
          </p:cNvCxnSpPr>
          <p:nvPr/>
        </p:nvCxnSpPr>
        <p:spPr>
          <a:xfrm xmlns:a="http://schemas.openxmlformats.org/drawingml/2006/main">
            <a:off x="6953250" y="4000500"/>
            <a:ext cx="16192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2ADEABBA-B87F-48C6-BE1A-7325389A738B}"/>
              </a:ext>
            </a:extLst>
          </p:cNvPr>
          <p:cNvCxnSpPr>
            <a:stCxn xmlns:a="http://schemas.openxmlformats.org/drawingml/2006/main" id="6" idx="3"/>
            <a:endCxn xmlns:a="http://schemas.openxmlformats.org/drawingml/2006/main" id="7" idx="1"/>
          </p:cNvCxnSpPr>
          <p:nvPr/>
        </p:nvCxnSpPr>
        <p:spPr>
          <a:xfrm xmlns:a="http://schemas.openxmlformats.org/drawingml/2006/main" flipV="1">
            <a:off x="2305050" y="4000500"/>
            <a:ext cx="1790700" cy="123825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76594FBC-26C5-400B-AFF1-E9F8D5AA6FFF}"/>
              </a:ext>
            </a:extLst>
          </p:cNvPr>
          <p:cNvCxnSpPr>
            <a:stCxn xmlns:a="http://schemas.openxmlformats.org/drawingml/2006/main" id="5" idx="3"/>
            <a:endCxn xmlns:a="http://schemas.openxmlformats.org/drawingml/2006/main" id="7" idx="1"/>
          </p:cNvCxnSpPr>
          <p:nvPr/>
        </p:nvCxnSpPr>
        <p:spPr>
          <a:xfrm xmlns:a="http://schemas.openxmlformats.org/drawingml/2006/main" flipV="1">
            <a:off x="2305050" y="4000500"/>
            <a:ext cx="1790700" cy="47625"/>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BF0601FB-5254-4852-A1FB-C0E3A3F82FEF}"/>
              </a:ext>
            </a:extLst>
          </p:cNvPr>
          <p:cNvCxnSpPr>
            <a:stCxn xmlns:a="http://schemas.openxmlformats.org/drawingml/2006/main" id="4" idx="3"/>
            <a:endCxn xmlns:a="http://schemas.openxmlformats.org/drawingml/2006/main" id="7" idx="1"/>
          </p:cNvCxnSpPr>
          <p:nvPr/>
        </p:nvCxnSpPr>
        <p:spPr>
          <a:xfrm xmlns:a="http://schemas.openxmlformats.org/drawingml/2006/main">
            <a:off x="2305050" y="2857500"/>
            <a:ext cx="1790700" cy="114300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41F1CB8D-3871-454F-8F86-570DB1DC234D}"/>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The fixed-assignment problem</a:t>
            </a:r>
          </a:p>
        </p:txBody>
      </p:sp>
      <p:sp>
        <p:nvSpPr>
          <p:cNvPr id="2" name="">
            <a:extLst xmlns:a="http://schemas.openxmlformats.org/drawingml/2006/main">
              <a:ext uri="{FF2B5EF4-FFF2-40B4-BE49-F238E27FC236}">
                <a16:creationId xmlns:a16="http://schemas.microsoft.com/office/drawing/2014/main" id="{F316C0DF-F00D-419C-9922-9780E6997C46}"/>
              </a:ext>
            </a:extLst>
          </p:cNvPr>
          <p:cNvSpPr>
            <a:spLocks xmlns:a="http://schemas.openxmlformats.org/drawingml/2006/main" noGrp="1"/>
          </p:cNvSpPr>
          <p:nvPr/>
        </p:nvSpPr>
        <p:spPr>
          <a:xfrm xmlns:a="http://schemas.openxmlformats.org/drawingml/2006/main">
            <a:off x="685800" y="15716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Fixed ownership</a:t>
            </a:r>
          </a:p>
        </p:txBody>
      </p:sp>
      <p:sp>
        <p:nvSpPr>
          <p:cNvPr id="3" name="">
            <a:extLst xmlns:a="http://schemas.openxmlformats.org/drawingml/2006/main">
              <a:ext uri="{FF2B5EF4-FFF2-40B4-BE49-F238E27FC236}">
                <a16:creationId xmlns:a16="http://schemas.microsoft.com/office/drawing/2014/main" id="{50CF05DE-8A72-46CE-8B6D-77FAF4836C16}"/>
              </a:ext>
            </a:extLst>
          </p:cNvPr>
          <p:cNvSpPr>
            <a:spLocks xmlns:a="http://schemas.openxmlformats.org/drawingml/2006/main" noGrp="1"/>
          </p:cNvSpPr>
          <p:nvPr/>
        </p:nvSpPr>
        <p:spPr>
          <a:xfrm xmlns:a="http://schemas.openxmlformats.org/drawingml/2006/main">
            <a:off x="6810375" y="15716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Changing physical conditions</a:t>
            </a:r>
          </a:p>
        </p:txBody>
      </p:sp>
      <p:sp>
        <p:nvSpPr>
          <p:cNvPr id="4" name="">
            <a:extLst xmlns:a="http://schemas.openxmlformats.org/drawingml/2006/main">
              <a:ext uri="{FF2B5EF4-FFF2-40B4-BE49-F238E27FC236}">
                <a16:creationId xmlns:a16="http://schemas.microsoft.com/office/drawing/2014/main" id="{C3833D6B-FE73-4005-8B8A-70BC8804FDEE}"/>
              </a:ext>
            </a:extLst>
          </p:cNvPr>
          <p:cNvSpPr>
            <a:spLocks xmlns:a="http://schemas.openxmlformats.org/drawingml/2006/main" noGrp="1"/>
          </p:cNvSpPr>
          <p:nvPr/>
        </p:nvSpPr>
        <p:spPr>
          <a:xfrm xmlns:a="http://schemas.openxmlformats.org/drawingml/2006/main">
            <a:off x="685800" y="2524125"/>
            <a:ext cx="1619250" cy="6667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Sensor 1</a:t>
            </a:r>
          </a:p>
        </p:txBody>
      </p:sp>
      <p:sp>
        <p:nvSpPr>
          <p:cNvPr id="5" name="">
            <a:extLst xmlns:a="http://schemas.openxmlformats.org/drawingml/2006/main">
              <a:ext uri="{FF2B5EF4-FFF2-40B4-BE49-F238E27FC236}">
                <a16:creationId xmlns:a16="http://schemas.microsoft.com/office/drawing/2014/main" id="{93FF9E78-36E6-47F9-8964-E94DC7AC1FD3}"/>
              </a:ext>
            </a:extLst>
          </p:cNvPr>
          <p:cNvSpPr>
            <a:spLocks xmlns:a="http://schemas.openxmlformats.org/drawingml/2006/main" noGrp="1"/>
          </p:cNvSpPr>
          <p:nvPr/>
        </p:nvSpPr>
        <p:spPr>
          <a:xfrm xmlns:a="http://schemas.openxmlformats.org/drawingml/2006/main">
            <a:off x="685800" y="3714750"/>
            <a:ext cx="1619250" cy="6667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Sensor 2</a:t>
            </a:r>
          </a:p>
        </p:txBody>
      </p:sp>
      <p:sp>
        <p:nvSpPr>
          <p:cNvPr id="6" name="">
            <a:extLst xmlns:a="http://schemas.openxmlformats.org/drawingml/2006/main">
              <a:ext uri="{FF2B5EF4-FFF2-40B4-BE49-F238E27FC236}">
                <a16:creationId xmlns:a16="http://schemas.microsoft.com/office/drawing/2014/main" id="{5B8D791C-6353-47CD-B3A8-3812AA09B515}"/>
              </a:ext>
            </a:extLst>
          </p:cNvPr>
          <p:cNvSpPr>
            <a:spLocks xmlns:a="http://schemas.openxmlformats.org/drawingml/2006/main" noGrp="1"/>
          </p:cNvSpPr>
          <p:nvPr/>
        </p:nvSpPr>
        <p:spPr>
          <a:xfrm xmlns:a="http://schemas.openxmlformats.org/drawingml/2006/main">
            <a:off x="685800" y="4905375"/>
            <a:ext cx="1619250" cy="6667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Sensor 3</a:t>
            </a:r>
          </a:p>
        </p:txBody>
      </p:sp>
      <p:sp>
        <p:nvSpPr>
          <p:cNvPr id="7" name="">
            <a:extLst xmlns:a="http://schemas.openxmlformats.org/drawingml/2006/main">
              <a:ext uri="{FF2B5EF4-FFF2-40B4-BE49-F238E27FC236}">
                <a16:creationId xmlns:a16="http://schemas.microsoft.com/office/drawing/2014/main" id="{DCFA6887-D1F1-4604-A154-4956EEF68211}"/>
              </a:ext>
            </a:extLst>
          </p:cNvPr>
          <p:cNvSpPr>
            <a:spLocks xmlns:a="http://schemas.openxmlformats.org/drawingml/2006/main" noGrp="1"/>
          </p:cNvSpPr>
          <p:nvPr/>
        </p:nvSpPr>
        <p:spPr>
          <a:xfrm xmlns:a="http://schemas.openxmlformats.org/drawingml/2006/main">
            <a:off x="4095750" y="3524250"/>
            <a:ext cx="2857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Assigned gateway</a:t>
            </a:r>
          </a:p>
        </p:txBody>
      </p:sp>
      <p:sp>
        <p:nvSpPr>
          <p:cNvPr id="11" name="">
            <a:extLst xmlns:a="http://schemas.openxmlformats.org/drawingml/2006/main">
              <a:ext uri="{FF2B5EF4-FFF2-40B4-BE49-F238E27FC236}">
                <a16:creationId xmlns:a16="http://schemas.microsoft.com/office/drawing/2014/main" id="{3D99058A-0A4B-40DC-8F05-18DA42528E74}"/>
              </a:ext>
            </a:extLst>
          </p:cNvPr>
          <p:cNvSpPr>
            <a:spLocks xmlns:a="http://schemas.openxmlformats.org/drawingml/2006/main" noGrp="1"/>
          </p:cNvSpPr>
          <p:nvPr/>
        </p:nvSpPr>
        <p:spPr>
          <a:xfrm xmlns:a="http://schemas.openxmlformats.org/drawingml/2006/main">
            <a:off x="8572500" y="3524250"/>
            <a:ext cx="2857500" cy="95250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fails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or battery depletes</a:t>
            </a:r>
          </a:p>
        </p:txBody>
      </p:sp>
      <p:sp>
        <p:nvSpPr>
          <p:cNvPr id="13" name="">
            <a:extLst xmlns:a="http://schemas.openxmlformats.org/drawingml/2006/main">
              <a:ext uri="{FF2B5EF4-FFF2-40B4-BE49-F238E27FC236}">
                <a16:creationId xmlns:a16="http://schemas.microsoft.com/office/drawing/2014/main" id="{97B8E237-3C7B-4CBA-88CE-0B751E143B55}"/>
              </a:ext>
            </a:extLst>
          </p:cNvPr>
          <p:cNvSpPr>
            <a:spLocks xmlns:a="http://schemas.openxmlformats.org/drawingml/2006/main" noGrp="1"/>
          </p:cNvSpPr>
          <p:nvPr/>
        </p:nvSpPr>
        <p:spPr>
          <a:xfrm xmlns:a="http://schemas.openxmlformats.org/drawingml/2006/main">
            <a:off x="8096250" y="4762500"/>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The old destination persists</a:t>
            </a:r>
          </a:p>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until the policy can replace it.</a:t>
            </a:r>
          </a:p>
        </p:txBody>
      </p:sp>
      <p:sp>
        <p:nvSpPr>
          <p:cNvPr id="14" name="">
            <a:extLst xmlns:a="http://schemas.openxmlformats.org/drawingml/2006/main">
              <a:ext uri="{FF2B5EF4-FFF2-40B4-BE49-F238E27FC236}">
                <a16:creationId xmlns:a16="http://schemas.microsoft.com/office/drawing/2014/main" id="{56E39ADB-F955-4CF8-AF66-21AE24F3BF53}"/>
              </a:ext>
            </a:extLst>
          </p:cNvPr>
          <p:cNvSpPr>
            <a:spLocks xmlns:a="http://schemas.openxmlformats.org/drawingml/2006/main" noGrp="1"/>
          </p:cNvSpPr>
          <p:nvPr/>
        </p:nvSpPr>
        <p:spPr>
          <a:xfrm xmlns:a="http://schemas.openxmlformats.org/drawingml/2006/main">
            <a:off x="685800" y="58388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7B"/>
                </a:solidFill>
                <a:latin typeface="Arial"/>
                <a:ea typeface="Arial"/>
                <a:cs typeface="Arial"/>
              </a:defRPr>
            </a:defPPr>
          </a:lstStyle>
          <a:p xmlns:a="http://schemas.openxmlformats.org/drawingml/2006/main">
            <a:pPr>
              <a:defRPr sz="1875" b="1">
                <a:solidFill>
                  <a:srgbClr val="007F7B"/>
                </a:solidFill>
                <a:latin typeface="Arial"/>
                <a:ea typeface="Arial"/>
                <a:cs typeface="Arial"/>
              </a:defRPr>
            </a:pPr>
            <a:r>
              <a:rPr sz="1875" b="1">
                <a:solidFill>
                  <a:srgbClr val="007F7B"/>
                </a:solidFill>
                <a:latin typeface="Arial"/>
                <a:ea typeface="Arial"/>
                <a:cs typeface="Arial"/>
              </a:rPr>
              <a:t>A controller dependency can also prevent grants and recovery.</a:t>
            </a:r>
          </a:p>
        </p:txBody>
      </p:sp>
      <p:sp>
        <p:nvSpPr>
          <p:cNvPr id="15" name="">
            <a:extLst xmlns:a="http://schemas.openxmlformats.org/drawingml/2006/main">
              <a:ext uri="{FF2B5EF4-FFF2-40B4-BE49-F238E27FC236}">
                <a16:creationId xmlns:a16="http://schemas.microsoft.com/office/drawing/2014/main" id="{6ED09CE3-FB41-4ACE-B76D-9D46D478C2A2}"/>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02 / 12</a:t>
            </a:r>
          </a:p>
        </p:txBody>
      </p:sp>
      <p:sp>
        <p:nvSpPr>
          <p:cNvPr id="16" name="">
            <a:extLst xmlns:a="http://schemas.openxmlformats.org/drawingml/2006/main">
              <a:ext uri="{FF2B5EF4-FFF2-40B4-BE49-F238E27FC236}">
                <a16:creationId xmlns:a16="http://schemas.microsoft.com/office/drawing/2014/main" id="{528F3711-CCF3-4482-B1FD-D1246495C721}"/>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simulation/runner.py: control_source; simulation/protocols.py: step; _select_for_role</a:t>
            </a:r>
          </a:p>
        </p:txBody>
      </p:sp>
    </p:spTree>
    <p:extLst>
      <p:ext uri="{BB962C8B-B14F-4D97-AF65-F5344CB8AC3E}">
        <p14:creationId xmlns:p14="http://schemas.microsoft.com/office/powerpoint/2010/main" val="1678522518"/>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0D11654E-5B15-47BB-AAB1-BF120F23636A}"/>
              </a:ext>
            </a:extLst>
          </p:cNvPr>
          <p:cNvCxnSpPr>
            <a:stCxn xmlns:a="http://schemas.openxmlformats.org/drawingml/2006/main" id="6" idx="3"/>
            <a:endCxn xmlns:a="http://schemas.openxmlformats.org/drawingml/2006/main" id="7" idx="1"/>
          </p:cNvCxnSpPr>
          <p:nvPr/>
        </p:nvCxnSpPr>
        <p:spPr>
          <a:xfrm xmlns:a="http://schemas.openxmlformats.org/drawingml/2006/main">
            <a:off x="5448300" y="3833813"/>
            <a:ext cx="9334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F89430E3-0850-41CB-9EA4-739F834E2E8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Baseline, proposed contribution, and objectives</a:t>
            </a:r>
          </a:p>
        </p:txBody>
      </p:sp>
      <p:sp>
        <p:nvSpPr>
          <p:cNvPr id="2" name="">
            <a:extLst xmlns:a="http://schemas.openxmlformats.org/drawingml/2006/main">
              <a:ext uri="{FF2B5EF4-FFF2-40B4-BE49-F238E27FC236}">
                <a16:creationId xmlns:a16="http://schemas.microsoft.com/office/drawing/2014/main" id="{F1A65F54-46EA-4E57-8F9D-BB3D379F2CF6}"/>
              </a:ext>
            </a:extLst>
          </p:cNvPr>
          <p:cNvSpPr>
            <a:spLocks xmlns:a="http://schemas.openxmlformats.org/drawingml/2006/main" noGrp="1"/>
          </p:cNvSpPr>
          <p:nvPr/>
        </p:nvSpPr>
        <p:spPr>
          <a:xfrm xmlns:a="http://schemas.openxmlformats.org/drawingml/2006/main">
            <a:off x="685800" y="1524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Shared infrastructure</a:t>
            </a:r>
          </a:p>
        </p:txBody>
      </p:sp>
      <p:sp>
        <p:nvSpPr>
          <p:cNvPr id="3" name="">
            <a:extLst xmlns:a="http://schemas.openxmlformats.org/drawingml/2006/main">
              <a:ext uri="{FF2B5EF4-FFF2-40B4-BE49-F238E27FC236}">
                <a16:creationId xmlns:a16="http://schemas.microsoft.com/office/drawing/2014/main" id="{3C8293C7-D067-4385-8163-00A6FB0082D8}"/>
              </a:ext>
            </a:extLst>
          </p:cNvPr>
          <p:cNvSpPr>
            <a:spLocks xmlns:a="http://schemas.openxmlformats.org/drawingml/2006/main" noGrp="1"/>
          </p:cNvSpPr>
          <p:nvPr/>
        </p:nvSpPr>
        <p:spPr>
          <a:xfrm xmlns:a="http://schemas.openxmlformats.org/drawingml/2006/main">
            <a:off x="685800" y="19335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12B3C"/>
                </a:solidFill>
                <a:latin typeface="Arial"/>
                <a:ea typeface="Arial"/>
                <a:cs typeface="Arial"/>
              </a:defRPr>
            </a:defPPr>
          </a:lstStyle>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Predefined hierarchy, physical mesh, sensor load, and energy counters</a:t>
            </a:r>
          </a:p>
        </p:txBody>
      </p:sp>
      <p:sp>
        <p:nvSpPr>
          <p:cNvPr id="4" name="">
            <a:extLst xmlns:a="http://schemas.openxmlformats.org/drawingml/2006/main">
              <a:ext uri="{FF2B5EF4-FFF2-40B4-BE49-F238E27FC236}">
                <a16:creationId xmlns:a16="http://schemas.microsoft.com/office/drawing/2014/main" id="{F9BD97C3-BC5F-49CF-B68B-C152D3C5F793}"/>
              </a:ext>
            </a:extLst>
          </p:cNvPr>
          <p:cNvSpPr>
            <a:spLocks xmlns:a="http://schemas.openxmlformats.org/drawingml/2006/main" noGrp="1"/>
          </p:cNvSpPr>
          <p:nvPr/>
        </p:nvSpPr>
        <p:spPr>
          <a:xfrm xmlns:a="http://schemas.openxmlformats.org/drawingml/2006/main">
            <a:off x="685800" y="27622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A: fixed hierarchical baseline</a:t>
            </a:r>
          </a:p>
        </p:txBody>
      </p:sp>
      <p:sp>
        <p:nvSpPr>
          <p:cNvPr id="5" name="">
            <a:extLst xmlns:a="http://schemas.openxmlformats.org/drawingml/2006/main">
              <a:ext uri="{FF2B5EF4-FFF2-40B4-BE49-F238E27FC236}">
                <a16:creationId xmlns:a16="http://schemas.microsoft.com/office/drawing/2014/main" id="{D047E60F-4734-4C1D-A980-F9DBC8D5A9FA}"/>
              </a:ext>
            </a:extLst>
          </p:cNvPr>
          <p:cNvSpPr>
            <a:spLocks xmlns:a="http://schemas.openxmlformats.org/drawingml/2006/main" noGrp="1"/>
          </p:cNvSpPr>
          <p:nvPr/>
        </p:nvSpPr>
        <p:spPr>
          <a:xfrm xmlns:a="http://schemas.openxmlformats.org/drawingml/2006/main">
            <a:off x="6381750" y="2762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B–D: proposed coordination</a:t>
            </a:r>
          </a:p>
        </p:txBody>
      </p:sp>
      <p:sp>
        <p:nvSpPr>
          <p:cNvPr id="6" name="">
            <a:extLst xmlns:a="http://schemas.openxmlformats.org/drawingml/2006/main">
              <a:ext uri="{FF2B5EF4-FFF2-40B4-BE49-F238E27FC236}">
                <a16:creationId xmlns:a16="http://schemas.microsoft.com/office/drawing/2014/main" id="{ECD456DC-DD18-4725-80A6-4F3F3C06C2AD}"/>
              </a:ext>
            </a:extLst>
          </p:cNvPr>
          <p:cNvSpPr>
            <a:spLocks xmlns:a="http://schemas.openxmlformats.org/drawingml/2006/main" noGrp="1"/>
          </p:cNvSpPr>
          <p:nvPr/>
        </p:nvSpPr>
        <p:spPr>
          <a:xfrm xmlns:a="http://schemas.openxmlformats.org/drawingml/2006/main">
            <a:off x="685800" y="3333750"/>
            <a:ext cx="4762500" cy="100012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Fixed controller</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Random eligible holder</a:t>
            </a:r>
          </a:p>
        </p:txBody>
      </p:sp>
      <p:sp>
        <p:nvSpPr>
          <p:cNvPr id="7" name="">
            <a:extLst xmlns:a="http://schemas.openxmlformats.org/drawingml/2006/main">
              <a:ext uri="{FF2B5EF4-FFF2-40B4-BE49-F238E27FC236}">
                <a16:creationId xmlns:a16="http://schemas.microsoft.com/office/drawing/2014/main" id="{8BF2FD86-5A0D-403E-8CD0-5D95A361EFA7}"/>
              </a:ext>
            </a:extLst>
          </p:cNvPr>
          <p:cNvSpPr>
            <a:spLocks xmlns:a="http://schemas.openxmlformats.org/drawingml/2006/main" noGrp="1"/>
          </p:cNvSpPr>
          <p:nvPr/>
        </p:nvSpPr>
        <p:spPr>
          <a:xfrm xmlns:a="http://schemas.openxmlformats.org/drawingml/2006/main">
            <a:off x="6381750" y="3333750"/>
            <a:ext cx="5124450" cy="100012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Scope representative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Capability-based temporary holder</a:t>
            </a:r>
          </a:p>
        </p:txBody>
      </p:sp>
      <p:sp>
        <p:nvSpPr>
          <p:cNvPr id="9" name="">
            <a:extLst xmlns:a="http://schemas.openxmlformats.org/drawingml/2006/main">
              <a:ext uri="{FF2B5EF4-FFF2-40B4-BE49-F238E27FC236}">
                <a16:creationId xmlns:a16="http://schemas.microsoft.com/office/drawing/2014/main" id="{2C79F634-6F91-40BD-96DF-2755CDC8BF89}"/>
              </a:ext>
            </a:extLst>
          </p:cNvPr>
          <p:cNvSpPr>
            <a:spLocks xmlns:a="http://schemas.openxmlformats.org/drawingml/2006/main" noGrp="1"/>
          </p:cNvSpPr>
          <p:nvPr/>
        </p:nvSpPr>
        <p:spPr>
          <a:xfrm xmlns:a="http://schemas.openxmlformats.org/drawingml/2006/main">
            <a:off x="685800" y="4619625"/>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Retain until unavailable</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Recover only if controller and route work</a:t>
            </a:r>
          </a:p>
        </p:txBody>
      </p:sp>
      <p:sp>
        <p:nvSpPr>
          <p:cNvPr id="10" name="">
            <a:extLst xmlns:a="http://schemas.openxmlformats.org/drawingml/2006/main">
              <a:ext uri="{FF2B5EF4-FFF2-40B4-BE49-F238E27FC236}">
                <a16:creationId xmlns:a16="http://schemas.microsoft.com/office/drawing/2014/main" id="{DCF542CF-8872-454A-AC47-025314039D80}"/>
              </a:ext>
            </a:extLst>
          </p:cNvPr>
          <p:cNvSpPr>
            <a:spLocks xmlns:a="http://schemas.openxmlformats.org/drawingml/2006/main" noGrp="1"/>
          </p:cNvSpPr>
          <p:nvPr/>
        </p:nvSpPr>
        <p:spPr>
          <a:xfrm xmlns:a="http://schemas.openxmlformats.org/drawingml/2006/main">
            <a:off x="6381750" y="4619625"/>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Aggregate capability, lease roles, recover</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Cost and hysteresis limit optional migration</a:t>
            </a:r>
          </a:p>
        </p:txBody>
      </p:sp>
      <p:sp>
        <p:nvSpPr>
          <p:cNvPr id="11" name="">
            <a:extLst xmlns:a="http://schemas.openxmlformats.org/drawingml/2006/main">
              <a:ext uri="{FF2B5EF4-FFF2-40B4-BE49-F238E27FC236}">
                <a16:creationId xmlns:a16="http://schemas.microsoft.com/office/drawing/2014/main" id="{A11F609F-C81A-496F-AF56-57B285405EBE}"/>
              </a:ext>
            </a:extLst>
          </p:cNvPr>
          <p:cNvSpPr>
            <a:spLocks xmlns:a="http://schemas.openxmlformats.org/drawingml/2006/main" noGrp="1"/>
          </p:cNvSpPr>
          <p:nvPr/>
        </p:nvSpPr>
        <p:spPr>
          <a:xfrm xmlns:a="http://schemas.openxmlformats.org/drawingml/2006/main">
            <a:off x="6858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Objective: maintain role service while accounting for the communication cost of adaptation.</a:t>
            </a:r>
          </a:p>
        </p:txBody>
      </p:sp>
      <p:sp>
        <p:nvSpPr>
          <p:cNvPr id="12" name="">
            <a:extLst xmlns:a="http://schemas.openxmlformats.org/drawingml/2006/main">
              <a:ext uri="{FF2B5EF4-FFF2-40B4-BE49-F238E27FC236}">
                <a16:creationId xmlns:a16="http://schemas.microsoft.com/office/drawing/2014/main" id="{26043D23-B0E3-420D-9A23-5A258F21F6BD}"/>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03 / 12</a:t>
            </a:r>
          </a:p>
        </p:txBody>
      </p:sp>
      <p:sp>
        <p:nvSpPr>
          <p:cNvPr id="13" name="">
            <a:extLst xmlns:a="http://schemas.openxmlformats.org/drawingml/2006/main">
              <a:ext uri="{FF2B5EF4-FFF2-40B4-BE49-F238E27FC236}">
                <a16:creationId xmlns:a16="http://schemas.microsoft.com/office/drawing/2014/main" id="{83F4698A-7846-493F-84BC-05CF49C9669B}"/>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simulation/protocols.py; simulation/runner.py; patent-study/run_patent_study.py</a:t>
            </a:r>
          </a:p>
        </p:txBody>
      </p:sp>
    </p:spTree>
    <p:extLst>
      <p:ext uri="{BB962C8B-B14F-4D97-AF65-F5344CB8AC3E}">
        <p14:creationId xmlns:p14="http://schemas.microsoft.com/office/powerpoint/2010/main" val="1656348793"/>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E97B3F5A-BA01-4C3D-A359-EFDBF559A89A}"/>
              </a:ext>
            </a:extLst>
          </p:cNvPr>
          <p:cNvCxnSpPr>
            <a:stCxn xmlns:a="http://schemas.openxmlformats.org/drawingml/2006/main" id="11" idx="0"/>
            <a:endCxn xmlns:a="http://schemas.openxmlformats.org/drawingml/2006/main" id="8" idx="2"/>
          </p:cNvCxnSpPr>
          <p:nvPr/>
        </p:nvCxnSpPr>
        <p:spPr>
          <a:xfrm xmlns:a="http://schemas.openxmlformats.org/drawingml/2006/main" flipV="1">
            <a:off x="6096000" y="4962525"/>
            <a:ext cx="3124200" cy="466725"/>
          </a:xfrm>
          <a:prstGeom xmlns:a="http://schemas.openxmlformats.org/drawingml/2006/main" prst="bentConnector4">
            <a:avLst>
              <a:gd name="adj1" fmla="val 0"/>
              <a:gd name="adj2" fmla="val 50000"/>
            </a:avLst>
          </a:prstGeom>
          <a:ln xmlns:a="http://schemas.openxmlformats.org/drawingml/2006/main" w="19050">
            <a:solidFill>
              <a:srgbClr val="526775"/>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4817F355-CA5A-4B07-9945-3FFFA9A43D39}"/>
              </a:ext>
            </a:extLst>
          </p:cNvPr>
          <p:cNvCxnSpPr>
            <a:stCxn xmlns:a="http://schemas.openxmlformats.org/drawingml/2006/main" id="11" idx="0"/>
            <a:endCxn xmlns:a="http://schemas.openxmlformats.org/drawingml/2006/main" id="7" idx="2"/>
          </p:cNvCxnSpPr>
          <p:nvPr/>
        </p:nvCxnSpPr>
        <p:spPr>
          <a:xfrm xmlns:a="http://schemas.openxmlformats.org/drawingml/2006/main" flipH="1" flipV="1">
            <a:off x="2971800" y="4962525"/>
            <a:ext cx="3124200" cy="466725"/>
          </a:xfrm>
          <a:prstGeom xmlns:a="http://schemas.openxmlformats.org/drawingml/2006/main" prst="bentConnector4">
            <a:avLst>
              <a:gd name="adj1" fmla="val 0"/>
              <a:gd name="adj2" fmla="val 50000"/>
            </a:avLst>
          </a:prstGeom>
          <a:ln xmlns:a="http://schemas.openxmlformats.org/drawingml/2006/main" w="19050">
            <a:solidFill>
              <a:srgbClr val="526775"/>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3B6CA47C-BBF2-494B-8379-DD58081CCAF4}"/>
              </a:ext>
            </a:extLst>
          </p:cNvPr>
          <p:cNvCxnSpPr>
            <a:stCxn xmlns:a="http://schemas.openxmlformats.org/drawingml/2006/main" id="8" idx="0"/>
            <a:endCxn xmlns:a="http://schemas.openxmlformats.org/drawingml/2006/main" id="4" idx="2"/>
          </p:cNvCxnSpPr>
          <p:nvPr/>
        </p:nvCxnSpPr>
        <p:spPr>
          <a:xfrm xmlns:a="http://schemas.openxmlformats.org/drawingml/2006/main" flipV="1">
            <a:off x="9220200" y="3600450"/>
            <a:ext cx="304800" cy="638175"/>
          </a:xfrm>
          <a:prstGeom xmlns:a="http://schemas.openxmlformats.org/drawingml/2006/main" prst="bentConnector4">
            <a:avLst>
              <a:gd name="adj1" fmla="val 0"/>
              <a:gd name="adj2" fmla="val 50000"/>
            </a:avLst>
          </a:prstGeom>
          <a:ln xmlns:a="http://schemas.openxmlformats.org/drawingml/2006/main" w="19050">
            <a:solidFill>
              <a:srgbClr val="526775"/>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19CD9BDF-039B-4E10-8334-A3EDC61494E6}"/>
              </a:ext>
            </a:extLst>
          </p:cNvPr>
          <p:cNvCxnSpPr>
            <a:stCxn xmlns:a="http://schemas.openxmlformats.org/drawingml/2006/main" id="7" idx="0"/>
            <a:endCxn xmlns:a="http://schemas.openxmlformats.org/drawingml/2006/main" id="3" idx="2"/>
          </p:cNvCxnSpPr>
          <p:nvPr/>
        </p:nvCxnSpPr>
        <p:spPr>
          <a:xfrm xmlns:a="http://schemas.openxmlformats.org/drawingml/2006/main" flipH="1" flipV="1">
            <a:off x="2809875" y="3600450"/>
            <a:ext cx="161925" cy="638175"/>
          </a:xfrm>
          <a:prstGeom xmlns:a="http://schemas.openxmlformats.org/drawingml/2006/main" prst="bentConnector4">
            <a:avLst>
              <a:gd name="adj1" fmla="val 0"/>
              <a:gd name="adj2" fmla="val 50000"/>
            </a:avLst>
          </a:prstGeom>
          <a:ln xmlns:a="http://schemas.openxmlformats.org/drawingml/2006/main" w="19050">
            <a:solidFill>
              <a:srgbClr val="526775"/>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53D5E0FF-AFA1-498B-8740-4F65FBE67D8A}"/>
              </a:ext>
            </a:extLst>
          </p:cNvPr>
          <p:cNvCxnSpPr>
            <a:stCxn xmlns:a="http://schemas.openxmlformats.org/drawingml/2006/main" id="4" idx="0"/>
            <a:endCxn xmlns:a="http://schemas.openxmlformats.org/drawingml/2006/main" id="2" idx="3"/>
          </p:cNvCxnSpPr>
          <p:nvPr/>
        </p:nvCxnSpPr>
        <p:spPr>
          <a:xfrm xmlns:a="http://schemas.openxmlformats.org/drawingml/2006/main" flipH="1" flipV="1">
            <a:off x="8001000" y="1838325"/>
            <a:ext cx="1524000" cy="1019175"/>
          </a:xfrm>
          <a:prstGeom xmlns:a="http://schemas.openxmlformats.org/drawingml/2006/main" prst="bentConnector3">
            <a:avLst>
              <a:gd name="adj1" fmla="val 0"/>
            </a:avLst>
          </a:prstGeom>
          <a:ln xmlns:a="http://schemas.openxmlformats.org/drawingml/2006/main" w="19050">
            <a:solidFill>
              <a:srgbClr val="526775"/>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70A63A39-2503-47E6-A5C1-19CFD21C6AEB}"/>
              </a:ext>
            </a:extLst>
          </p:cNvPr>
          <p:cNvCxnSpPr>
            <a:stCxn xmlns:a="http://schemas.openxmlformats.org/drawingml/2006/main" id="3" idx="0"/>
            <a:endCxn xmlns:a="http://schemas.openxmlformats.org/drawingml/2006/main" id="2" idx="1"/>
          </p:cNvCxnSpPr>
          <p:nvPr/>
        </p:nvCxnSpPr>
        <p:spPr>
          <a:xfrm xmlns:a="http://schemas.openxmlformats.org/drawingml/2006/main" flipV="1">
            <a:off x="2809875" y="1838325"/>
            <a:ext cx="1381125" cy="1019175"/>
          </a:xfrm>
          <a:prstGeom xmlns:a="http://schemas.openxmlformats.org/drawingml/2006/main" prst="bentConnector5">
            <a:avLst>
              <a:gd name="adj1" fmla="val 0"/>
              <a:gd name="adj2" fmla="val 22430"/>
              <a:gd name="adj3" fmla="val 83448"/>
            </a:avLst>
          </a:prstGeom>
          <a:ln xmlns:a="http://schemas.openxmlformats.org/drawingml/2006/main" w="19050">
            <a:solidFill>
              <a:srgbClr val="526775"/>
            </a:solidFill>
            <a:prstDash val="solid"/>
            <a:tailEnd type="triangle" w="med" len="med"/>
          </a:ln>
        </p:spPr>
      </p:cxnSp>
      <p:sp>
        <p:nvSpPr>
          <p:cNvPr id="18" name="">
            <a:extLst xmlns:a="http://schemas.openxmlformats.org/drawingml/2006/main">
              <a:ext uri="{FF2B5EF4-FFF2-40B4-BE49-F238E27FC236}">
                <a16:creationId xmlns:a16="http://schemas.microsoft.com/office/drawing/2014/main" id="{CB584ADC-3C43-4A27-B02D-02E09EC2174C}"/>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System architecture and hierarchy</a:t>
            </a:r>
          </a:p>
        </p:txBody>
      </p:sp>
      <p:sp>
        <p:nvSpPr>
          <p:cNvPr id="2" name="">
            <a:extLst xmlns:a="http://schemas.openxmlformats.org/drawingml/2006/main">
              <a:ext uri="{FF2B5EF4-FFF2-40B4-BE49-F238E27FC236}">
                <a16:creationId xmlns:a16="http://schemas.microsoft.com/office/drawing/2014/main" id="{C49EA638-2D1A-4724-8DBE-53510AB18547}"/>
              </a:ext>
            </a:extLst>
          </p:cNvPr>
          <p:cNvSpPr>
            <a:spLocks xmlns:a="http://schemas.openxmlformats.org/drawingml/2006/main" noGrp="1"/>
          </p:cNvSpPr>
          <p:nvPr/>
        </p:nvSpPr>
        <p:spPr>
          <a:xfrm xmlns:a="http://schemas.openxmlformats.org/drawingml/2006/main">
            <a:off x="4191000" y="1476375"/>
            <a:ext cx="3810000" cy="72390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Root scope: seed 42 example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holder: Network 2</a:t>
            </a:r>
          </a:p>
        </p:txBody>
      </p:sp>
      <p:sp>
        <p:nvSpPr>
          <p:cNvPr id="3" name="">
            <a:extLst xmlns:a="http://schemas.openxmlformats.org/drawingml/2006/main">
              <a:ext uri="{FF2B5EF4-FFF2-40B4-BE49-F238E27FC236}">
                <a16:creationId xmlns:a16="http://schemas.microsoft.com/office/drawing/2014/main" id="{0438814D-86A0-442A-84F2-64B65D651D4F}"/>
              </a:ext>
            </a:extLst>
          </p:cNvPr>
          <p:cNvSpPr>
            <a:spLocks xmlns:a="http://schemas.openxmlformats.org/drawingml/2006/main" noGrp="1"/>
          </p:cNvSpPr>
          <p:nvPr/>
        </p:nvSpPr>
        <p:spPr>
          <a:xfrm xmlns:a="http://schemas.openxmlformats.org/drawingml/2006/main">
            <a:off x="1238250" y="2857500"/>
            <a:ext cx="3143250" cy="7429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 0</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4 subnet candidates</a:t>
            </a:r>
          </a:p>
        </p:txBody>
      </p:sp>
      <p:sp>
        <p:nvSpPr>
          <p:cNvPr id="4" name="">
            <a:extLst xmlns:a="http://schemas.openxmlformats.org/drawingml/2006/main">
              <a:ext uri="{FF2B5EF4-FFF2-40B4-BE49-F238E27FC236}">
                <a16:creationId xmlns:a16="http://schemas.microsoft.com/office/drawing/2014/main" id="{EC67DBFA-2362-4781-8BEC-F6EDB457764F}"/>
              </a:ext>
            </a:extLst>
          </p:cNvPr>
          <p:cNvSpPr>
            <a:spLocks xmlns:a="http://schemas.openxmlformats.org/drawingml/2006/main" noGrp="1"/>
          </p:cNvSpPr>
          <p:nvPr/>
        </p:nvSpPr>
        <p:spPr>
          <a:xfrm xmlns:a="http://schemas.openxmlformats.org/drawingml/2006/main">
            <a:off x="7810500" y="2857500"/>
            <a:ext cx="3429000" cy="7429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Networks 1 and 2</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3 subnet candidates each</a:t>
            </a:r>
          </a:p>
        </p:txBody>
      </p:sp>
      <p:sp>
        <p:nvSpPr>
          <p:cNvPr id="7" name="">
            <a:extLst xmlns:a="http://schemas.openxmlformats.org/drawingml/2006/main">
              <a:ext uri="{FF2B5EF4-FFF2-40B4-BE49-F238E27FC236}">
                <a16:creationId xmlns:a16="http://schemas.microsoft.com/office/drawing/2014/main" id="{418EA6C4-5305-4095-8E6E-90097D677B10}"/>
              </a:ext>
            </a:extLst>
          </p:cNvPr>
          <p:cNvSpPr>
            <a:spLocks xmlns:a="http://schemas.openxmlformats.org/drawingml/2006/main" noGrp="1"/>
          </p:cNvSpPr>
          <p:nvPr/>
        </p:nvSpPr>
        <p:spPr>
          <a:xfrm xmlns:a="http://schemas.openxmlformats.org/drawingml/2006/main">
            <a:off x="685800" y="4238625"/>
            <a:ext cx="4572000" cy="7239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 0: four subnets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Each selects a node gateway</a:t>
            </a:r>
          </a:p>
        </p:txBody>
      </p:sp>
      <p:sp>
        <p:nvSpPr>
          <p:cNvPr id="8" name="">
            <a:extLst xmlns:a="http://schemas.openxmlformats.org/drawingml/2006/main">
              <a:ext uri="{FF2B5EF4-FFF2-40B4-BE49-F238E27FC236}">
                <a16:creationId xmlns:a16="http://schemas.microsoft.com/office/drawing/2014/main" id="{DF096192-5394-40D6-AB10-6006AEC4E61F}"/>
              </a:ext>
            </a:extLst>
          </p:cNvPr>
          <p:cNvSpPr>
            <a:spLocks xmlns:a="http://schemas.openxmlformats.org/drawingml/2006/main" noGrp="1"/>
          </p:cNvSpPr>
          <p:nvPr/>
        </p:nvSpPr>
        <p:spPr>
          <a:xfrm xmlns:a="http://schemas.openxmlformats.org/drawingml/2006/main">
            <a:off x="6934200" y="4238625"/>
            <a:ext cx="4572000" cy="7239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Networks 1 / 2: six subnets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Each selects a node gateway</a:t>
            </a:r>
          </a:p>
        </p:txBody>
      </p:sp>
      <p:sp>
        <p:nvSpPr>
          <p:cNvPr id="11" name="">
            <a:extLst xmlns:a="http://schemas.openxmlformats.org/drawingml/2006/main">
              <a:ext uri="{FF2B5EF4-FFF2-40B4-BE49-F238E27FC236}">
                <a16:creationId xmlns:a16="http://schemas.microsoft.com/office/drawing/2014/main" id="{DE43277F-11B7-4E12-9D5D-983A4EBFF922}"/>
              </a:ext>
            </a:extLst>
          </p:cNvPr>
          <p:cNvSpPr>
            <a:spLocks xmlns:a="http://schemas.openxmlformats.org/drawingml/2006/main" noGrp="1"/>
          </p:cNvSpPr>
          <p:nvPr/>
        </p:nvSpPr>
        <p:spPr>
          <a:xfrm xmlns:a="http://schemas.openxmlformats.org/drawingml/2006/main">
            <a:off x="685800" y="5429250"/>
            <a:ext cx="10820400" cy="60007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100 sensor nodes in a physical multi-hop mesh</a:t>
            </a:r>
          </a:p>
        </p:txBody>
      </p:sp>
      <p:sp>
        <p:nvSpPr>
          <p:cNvPr id="14" name="">
            <a:extLst xmlns:a="http://schemas.openxmlformats.org/drawingml/2006/main">
              <a:ext uri="{FF2B5EF4-FFF2-40B4-BE49-F238E27FC236}">
                <a16:creationId xmlns:a16="http://schemas.microsoft.com/office/drawing/2014/main" id="{2BE9CA6D-7454-470B-9654-2DBC33A758B3}"/>
              </a:ext>
            </a:extLst>
          </p:cNvPr>
          <p:cNvSpPr>
            <a:spLocks xmlns:a="http://schemas.openxmlformats.org/drawingml/2006/main" noGrp="1"/>
          </p:cNvSpPr>
          <p:nvPr/>
        </p:nvSpPr>
        <p:spPr>
          <a:xfrm xmlns:a="http://schemas.openxmlformats.org/drawingml/2006/main">
            <a:off x="4857750" y="2505075"/>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775"/>
                </a:solidFill>
                <a:latin typeface="Arial"/>
                <a:ea typeface="Arial"/>
                <a:cs typeface="Arial"/>
              </a:defRPr>
            </a:defPPr>
          </a:lstStyle>
          <a:p xmlns:a="http://schemas.openxmlformats.org/drawingml/2006/main">
            <a:pPr>
              <a:defRPr sz="1650" b="0">
                <a:solidFill>
                  <a:srgbClr val="526775"/>
                </a:solidFill>
                <a:latin typeface="Arial"/>
                <a:ea typeface="Arial"/>
                <a:cs typeface="Arial"/>
              </a:defRPr>
            </a:pPr>
            <a:r>
              <a:rPr sz="1650" b="0">
                <a:solidFill>
                  <a:srgbClr val="526775"/>
                </a:solidFill>
                <a:latin typeface="Arial"/>
                <a:ea typeface="Arial"/>
                <a:cs typeface="Arial"/>
              </a:rPr>
              <a:t>Bottom-up capability aggregation</a:t>
            </a:r>
          </a:p>
        </p:txBody>
      </p:sp>
      <p:sp>
        <p:nvSpPr>
          <p:cNvPr id="15" name="">
            <a:extLst xmlns:a="http://schemas.openxmlformats.org/drawingml/2006/main">
              <a:ext uri="{FF2B5EF4-FFF2-40B4-BE49-F238E27FC236}">
                <a16:creationId xmlns:a16="http://schemas.microsoft.com/office/drawing/2014/main" id="{54BDB6B7-1C4B-4055-9580-0C015A8ED6F0}"/>
              </a:ext>
            </a:extLst>
          </p:cNvPr>
          <p:cNvSpPr>
            <a:spLocks xmlns:a="http://schemas.openxmlformats.org/drawingml/2006/main" noGrp="1"/>
          </p:cNvSpPr>
          <p:nvPr/>
        </p:nvSpPr>
        <p:spPr>
          <a:xfrm xmlns:a="http://schemas.openxmlformats.org/drawingml/2006/main">
            <a:off x="685800" y="615315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775"/>
                </a:solidFill>
                <a:latin typeface="Arial"/>
                <a:ea typeface="Arial"/>
                <a:cs typeface="Arial"/>
              </a:defRPr>
            </a:defPPr>
          </a:lstStyle>
          <a:p xmlns:a="http://schemas.openxmlformats.org/drawingml/2006/main">
            <a:pPr>
              <a:defRPr sz="1500" b="0">
                <a:solidFill>
                  <a:srgbClr val="526775"/>
                </a:solidFill>
                <a:latin typeface="Arial"/>
                <a:ea typeface="Arial"/>
                <a:cs typeface="Arial"/>
              </a:defRPr>
            </a:pPr>
            <a:r>
              <a:rPr sz="1500" b="0">
                <a:solidFill>
                  <a:srgbClr val="526775"/>
                </a:solidFill>
                <a:latin typeface="Arial"/>
                <a:ea typeface="Arial"/>
                <a:cs typeface="Arial"/>
              </a:rPr>
              <a:t>Messages use physical mesh routes. Optional backhaul follows gateway scopes.</a:t>
            </a:r>
          </a:p>
        </p:txBody>
      </p:sp>
      <p:sp>
        <p:nvSpPr>
          <p:cNvPr id="16" name="">
            <a:extLst xmlns:a="http://schemas.openxmlformats.org/drawingml/2006/main">
              <a:ext uri="{FF2B5EF4-FFF2-40B4-BE49-F238E27FC236}">
                <a16:creationId xmlns:a16="http://schemas.microsoft.com/office/drawing/2014/main" id="{C49A439D-4D45-4CD6-9EC4-847CD67343EA}"/>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04 / 12</a:t>
            </a:r>
          </a:p>
        </p:txBody>
      </p:sp>
      <p:sp>
        <p:nvSpPr>
          <p:cNvPr id="17" name="">
            <a:extLst xmlns:a="http://schemas.openxmlformats.org/drawingml/2006/main">
              <a:ext uri="{FF2B5EF4-FFF2-40B4-BE49-F238E27FC236}">
                <a16:creationId xmlns:a16="http://schemas.microsoft.com/office/drawing/2014/main" id="{A6B57C51-AEC4-46C3-AE90-47B46FEEEE8C}"/>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simulation/entities.py; simulation/capability.py; simulation/runner.py: _route_sensor_traffic</a:t>
            </a:r>
          </a:p>
        </p:txBody>
      </p:sp>
    </p:spTree>
    <p:extLst>
      <p:ext uri="{BB962C8B-B14F-4D97-AF65-F5344CB8AC3E}">
        <p14:creationId xmlns:p14="http://schemas.microsoft.com/office/powerpoint/2010/main" val="1513957304"/>
      </p:ext>
    </p:extLst>
  </p:cSld>
</p:sld>
</file>

<file path=ppt/slides/slide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453E657F-F87E-4157-BC42-04CFD44F2392}"/>
              </a:ext>
            </a:extLst>
          </p:cNvPr>
          <p:cNvCxnSpPr>
            <a:stCxn xmlns:a="http://schemas.openxmlformats.org/drawingml/2006/main" id="6" idx="3"/>
            <a:endCxn xmlns:a="http://schemas.openxmlformats.org/drawingml/2006/main" id="7" idx="1"/>
          </p:cNvCxnSpPr>
          <p:nvPr/>
        </p:nvCxnSpPr>
        <p:spPr>
          <a:xfrm xmlns:a="http://schemas.openxmlformats.org/drawingml/2006/main">
            <a:off x="7524750" y="4476750"/>
            <a:ext cx="11239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1584A3BB-5D7D-4AD9-A1E2-3F7B22CDF472}"/>
              </a:ext>
            </a:extLst>
          </p:cNvPr>
          <p:cNvCxnSpPr>
            <a:stCxn xmlns:a="http://schemas.openxmlformats.org/drawingml/2006/main" id="5" idx="3"/>
            <a:endCxn xmlns:a="http://schemas.openxmlformats.org/drawingml/2006/main" id="6" idx="1"/>
          </p:cNvCxnSpPr>
          <p:nvPr/>
        </p:nvCxnSpPr>
        <p:spPr>
          <a:xfrm xmlns:a="http://schemas.openxmlformats.org/drawingml/2006/main">
            <a:off x="3543300" y="4476750"/>
            <a:ext cx="11239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60F1BBFB-EA2B-43BC-B01B-3D9946511F8A}"/>
              </a:ext>
            </a:extLst>
          </p:cNvPr>
          <p:cNvCxnSpPr>
            <a:stCxn xmlns:a="http://schemas.openxmlformats.org/drawingml/2006/main" id="4" idx="2"/>
            <a:endCxn xmlns:a="http://schemas.openxmlformats.org/drawingml/2006/main" id="5" idx="0"/>
          </p:cNvCxnSpPr>
          <p:nvPr/>
        </p:nvCxnSpPr>
        <p:spPr>
          <a:xfrm xmlns:a="http://schemas.openxmlformats.org/drawingml/2006/main" flipH="1">
            <a:off x="2114550" y="2762250"/>
            <a:ext cx="7962900" cy="1238250"/>
          </a:xfrm>
          <a:prstGeom xmlns:a="http://schemas.openxmlformats.org/drawingml/2006/main" prst="bentConnector4">
            <a:avLst>
              <a:gd name="adj1" fmla="val 0"/>
              <a:gd name="adj2" fmla="val 50000"/>
            </a:avLst>
          </a:prstGeom>
          <a:ln xmlns:a="http://schemas.openxmlformats.org/drawingml/2006/main" w="19050">
            <a:solidFill>
              <a:srgbClr val="526775"/>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F3CA6452-CA6E-49D0-8526-0ABFF7C4AF05}"/>
              </a:ext>
            </a:extLst>
          </p:cNvPr>
          <p:cNvCxnSpPr>
            <a:stCxn xmlns:a="http://schemas.openxmlformats.org/drawingml/2006/main" id="3" idx="3"/>
            <a:endCxn xmlns:a="http://schemas.openxmlformats.org/drawingml/2006/main" id="4" idx="1"/>
          </p:cNvCxnSpPr>
          <p:nvPr/>
        </p:nvCxnSpPr>
        <p:spPr>
          <a:xfrm xmlns:a="http://schemas.openxmlformats.org/drawingml/2006/main">
            <a:off x="7524750" y="2286000"/>
            <a:ext cx="11239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01FE2810-C42B-4741-B4CA-D0AED5B5832B}"/>
              </a:ext>
            </a:extLst>
          </p:cNvPr>
          <p:cNvCxnSpPr>
            <a:stCxn xmlns:a="http://schemas.openxmlformats.org/drawingml/2006/main" id="2" idx="3"/>
            <a:endCxn xmlns:a="http://schemas.openxmlformats.org/drawingml/2006/main" id="3" idx="1"/>
          </p:cNvCxnSpPr>
          <p:nvPr/>
        </p:nvCxnSpPr>
        <p:spPr>
          <a:xfrm xmlns:a="http://schemas.openxmlformats.org/drawingml/2006/main">
            <a:off x="3543300" y="2286000"/>
            <a:ext cx="11239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653F6191-265F-475E-AC18-A86DFFDF031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Core protocol flow</a:t>
            </a:r>
          </a:p>
        </p:txBody>
      </p:sp>
      <p:sp>
        <p:nvSpPr>
          <p:cNvPr id="2" name="">
            <a:extLst xmlns:a="http://schemas.openxmlformats.org/drawingml/2006/main">
              <a:ext uri="{FF2B5EF4-FFF2-40B4-BE49-F238E27FC236}">
                <a16:creationId xmlns:a16="http://schemas.microsoft.com/office/drawing/2014/main" id="{D64E7976-31A2-4CCF-94BB-131B2199FED4}"/>
              </a:ext>
            </a:extLst>
          </p:cNvPr>
          <p:cNvSpPr>
            <a:spLocks xmlns:a="http://schemas.openxmlformats.org/drawingml/2006/main" noGrp="1"/>
          </p:cNvSpPr>
          <p:nvPr/>
        </p:nvSpPr>
        <p:spPr>
          <a:xfrm xmlns:a="http://schemas.openxmlformats.org/drawingml/2006/main">
            <a:off x="685800" y="1809750"/>
            <a:ext cx="2857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Apply events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check depletion</a:t>
            </a:r>
          </a:p>
        </p:txBody>
      </p:sp>
      <p:sp>
        <p:nvSpPr>
          <p:cNvPr id="3" name="">
            <a:extLst xmlns:a="http://schemas.openxmlformats.org/drawingml/2006/main">
              <a:ext uri="{FF2B5EF4-FFF2-40B4-BE49-F238E27FC236}">
                <a16:creationId xmlns:a16="http://schemas.microsoft.com/office/drawing/2014/main" id="{42D66D6A-BBD7-452B-A441-3F01BC53853A}"/>
              </a:ext>
            </a:extLst>
          </p:cNvPr>
          <p:cNvSpPr>
            <a:spLocks xmlns:a="http://schemas.openxmlformats.org/drawingml/2006/main" noGrp="1"/>
          </p:cNvSpPr>
          <p:nvPr/>
        </p:nvSpPr>
        <p:spPr>
          <a:xfrm xmlns:a="http://schemas.openxmlformats.org/drawingml/2006/main">
            <a:off x="4667250" y="1809750"/>
            <a:ext cx="2857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Refresh capability</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leaves to root</a:t>
            </a:r>
          </a:p>
        </p:txBody>
      </p:sp>
      <p:sp>
        <p:nvSpPr>
          <p:cNvPr id="4" name="">
            <a:extLst xmlns:a="http://schemas.openxmlformats.org/drawingml/2006/main">
              <a:ext uri="{FF2B5EF4-FFF2-40B4-BE49-F238E27FC236}">
                <a16:creationId xmlns:a16="http://schemas.microsoft.com/office/drawing/2014/main" id="{552DC14A-081E-44D6-B79F-FB42F83FFA0B}"/>
              </a:ext>
            </a:extLst>
          </p:cNvPr>
          <p:cNvSpPr>
            <a:spLocks xmlns:a="http://schemas.openxmlformats.org/drawingml/2006/main" noGrp="1"/>
          </p:cNvSpPr>
          <p:nvPr/>
        </p:nvSpPr>
        <p:spPr>
          <a:xfrm xmlns:a="http://schemas.openxmlformats.org/drawingml/2006/main">
            <a:off x="8648700" y="1809750"/>
            <a:ext cx="2857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Check epochs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and lease state</a:t>
            </a:r>
          </a:p>
        </p:txBody>
      </p:sp>
      <p:sp>
        <p:nvSpPr>
          <p:cNvPr id="5" name="">
            <a:extLst xmlns:a="http://schemas.openxmlformats.org/drawingml/2006/main">
              <a:ext uri="{FF2B5EF4-FFF2-40B4-BE49-F238E27FC236}">
                <a16:creationId xmlns:a16="http://schemas.microsoft.com/office/drawing/2014/main" id="{6A7352C3-A0CB-4F28-9903-E99632AF09D9}"/>
              </a:ext>
            </a:extLst>
          </p:cNvPr>
          <p:cNvSpPr>
            <a:spLocks xmlns:a="http://schemas.openxmlformats.org/drawingml/2006/main" noGrp="1"/>
          </p:cNvSpPr>
          <p:nvPr/>
        </p:nvSpPr>
        <p:spPr>
          <a:xfrm xmlns:a="http://schemas.openxmlformats.org/drawingml/2006/main">
            <a:off x="685800" y="4000500"/>
            <a:ext cx="2857500" cy="952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Assign missing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Else renew + consider migration</a:t>
            </a:r>
          </a:p>
        </p:txBody>
      </p:sp>
      <p:sp>
        <p:nvSpPr>
          <p:cNvPr id="6" name="">
            <a:extLst xmlns:a="http://schemas.openxmlformats.org/drawingml/2006/main">
              <a:ext uri="{FF2B5EF4-FFF2-40B4-BE49-F238E27FC236}">
                <a16:creationId xmlns:a16="http://schemas.microsoft.com/office/drawing/2014/main" id="{A4FB553B-018F-46A7-BF2D-7DAEAEAEC919}"/>
              </a:ext>
            </a:extLst>
          </p:cNvPr>
          <p:cNvSpPr>
            <a:spLocks xmlns:a="http://schemas.openxmlformats.org/drawingml/2006/main" noGrp="1"/>
          </p:cNvSpPr>
          <p:nvPr/>
        </p:nvSpPr>
        <p:spPr>
          <a:xfrm xmlns:a="http://schemas.openxmlformats.org/drawingml/2006/main">
            <a:off x="4667250" y="4000500"/>
            <a:ext cx="2857500" cy="952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Harvest energy</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route sensor load</a:t>
            </a:r>
          </a:p>
        </p:txBody>
      </p:sp>
      <p:sp>
        <p:nvSpPr>
          <p:cNvPr id="7" name="">
            <a:extLst xmlns:a="http://schemas.openxmlformats.org/drawingml/2006/main">
              <a:ext uri="{FF2B5EF4-FFF2-40B4-BE49-F238E27FC236}">
                <a16:creationId xmlns:a16="http://schemas.microsoft.com/office/drawing/2014/main" id="{9647FE1C-ECE7-4F03-9E81-60E42C7C858E}"/>
              </a:ext>
            </a:extLst>
          </p:cNvPr>
          <p:cNvSpPr>
            <a:spLocks xmlns:a="http://schemas.openxmlformats.org/drawingml/2006/main" noGrp="1"/>
          </p:cNvSpPr>
          <p:nvPr/>
        </p:nvSpPr>
        <p:spPr>
          <a:xfrm xmlns:a="http://schemas.openxmlformats.org/drawingml/2006/main">
            <a:off x="8648700" y="4000500"/>
            <a:ext cx="2857500" cy="952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Check depletion</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refresh + record</a:t>
            </a:r>
          </a:p>
        </p:txBody>
      </p:sp>
      <p:sp>
        <p:nvSpPr>
          <p:cNvPr id="13" name="">
            <a:extLst xmlns:a="http://schemas.openxmlformats.org/drawingml/2006/main">
              <a:ext uri="{FF2B5EF4-FFF2-40B4-BE49-F238E27FC236}">
                <a16:creationId xmlns:a16="http://schemas.microsoft.com/office/drawing/2014/main" id="{E525CC9B-9C3B-40EE-A38C-21D241CC79FB}"/>
              </a:ext>
            </a:extLst>
          </p:cNvPr>
          <p:cNvSpPr>
            <a:spLocks xmlns:a="http://schemas.openxmlformats.org/drawingml/2006/main" noGrp="1"/>
          </p:cNvSpPr>
          <p:nvPr/>
        </p:nvSpPr>
        <p:spPr>
          <a:xfrm xmlns:a="http://schemas.openxmlformats.org/drawingml/2006/main">
            <a:off x="6858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One Mesa coordinator executes this order for every matched protocol variant.</a:t>
            </a:r>
          </a:p>
        </p:txBody>
      </p:sp>
      <p:sp>
        <p:nvSpPr>
          <p:cNvPr id="14" name="">
            <a:extLst xmlns:a="http://schemas.openxmlformats.org/drawingml/2006/main">
              <a:ext uri="{FF2B5EF4-FFF2-40B4-BE49-F238E27FC236}">
                <a16:creationId xmlns:a16="http://schemas.microsoft.com/office/drawing/2014/main" id="{4C98B573-59BA-4268-9A81-3033692EC573}"/>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05 / 12</a:t>
            </a:r>
          </a:p>
        </p:txBody>
      </p:sp>
      <p:sp>
        <p:nvSpPr>
          <p:cNvPr id="15" name="">
            <a:extLst xmlns:a="http://schemas.openxmlformats.org/drawingml/2006/main">
              <a:ext uri="{FF2B5EF4-FFF2-40B4-BE49-F238E27FC236}">
                <a16:creationId xmlns:a16="http://schemas.microsoft.com/office/drawing/2014/main" id="{55D1536D-F146-43D4-989B-C78ABF284A70}"/>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simulation/runner.py: step; simulation/protocols.py: step; _assign; _migrate</a:t>
            </a:r>
          </a:p>
        </p:txBody>
      </p:sp>
    </p:spTree>
    <p:extLst>
      <p:ext uri="{BB962C8B-B14F-4D97-AF65-F5344CB8AC3E}">
        <p14:creationId xmlns:p14="http://schemas.microsoft.com/office/powerpoint/2010/main" val="2079118213"/>
      </p:ext>
    </p:extLst>
  </p:cSld>
</p:sld>
</file>

<file path=ppt/slides/slide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12C6B7EC-68D8-4149-936A-7050E6D31520}"/>
              </a:ext>
            </a:extLst>
          </p:cNvPr>
          <p:cNvCxnSpPr>
            <a:stCxn xmlns:a="http://schemas.openxmlformats.org/drawingml/2006/main" id="4" idx="2"/>
            <a:endCxn xmlns:a="http://schemas.openxmlformats.org/drawingml/2006/main" id="5" idx="0"/>
          </p:cNvCxnSpPr>
          <p:nvPr/>
        </p:nvCxnSpPr>
        <p:spPr>
          <a:xfrm xmlns:a="http://schemas.openxmlformats.org/drawingml/2006/main">
            <a:off x="1924050" y="4714875"/>
            <a:ext cx="0" cy="523875"/>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1B6B104F-49C1-4645-BFA4-156248E867A0}"/>
              </a:ext>
            </a:extLst>
          </p:cNvPr>
          <p:cNvCxnSpPr>
            <a:stCxn xmlns:a="http://schemas.openxmlformats.org/drawingml/2006/main" id="3" idx="2"/>
            <a:endCxn xmlns:a="http://schemas.openxmlformats.org/drawingml/2006/main" id="4" idx="0"/>
          </p:cNvCxnSpPr>
          <p:nvPr/>
        </p:nvCxnSpPr>
        <p:spPr>
          <a:xfrm xmlns:a="http://schemas.openxmlformats.org/drawingml/2006/main">
            <a:off x="1924050" y="3476625"/>
            <a:ext cx="0" cy="619125"/>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C75D8B2E-B28F-47C2-A046-A2E4CE7F3306}"/>
              </a:ext>
            </a:extLst>
          </p:cNvPr>
          <p:cNvCxnSpPr>
            <a:stCxn xmlns:a="http://schemas.openxmlformats.org/drawingml/2006/main" id="2" idx="2"/>
            <a:endCxn xmlns:a="http://schemas.openxmlformats.org/drawingml/2006/main" id="3" idx="0"/>
          </p:cNvCxnSpPr>
          <p:nvPr/>
        </p:nvCxnSpPr>
        <p:spPr>
          <a:xfrm xmlns:a="http://schemas.openxmlformats.org/drawingml/2006/main">
            <a:off x="1924050" y="2238375"/>
            <a:ext cx="0" cy="619125"/>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17478D09-3A6F-489D-9021-08EE391D824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Capability aggregation and role selection</a:t>
            </a:r>
          </a:p>
        </p:txBody>
      </p:sp>
      <p:sp>
        <p:nvSpPr>
          <p:cNvPr id="2" name="">
            <a:extLst xmlns:a="http://schemas.openxmlformats.org/drawingml/2006/main">
              <a:ext uri="{FF2B5EF4-FFF2-40B4-BE49-F238E27FC236}">
                <a16:creationId xmlns:a16="http://schemas.microsoft.com/office/drawing/2014/main" id="{9DB51C7F-8E1C-41BD-A185-1DB3FD89DA4E}"/>
              </a:ext>
            </a:extLst>
          </p:cNvPr>
          <p:cNvSpPr>
            <a:spLocks xmlns:a="http://schemas.openxmlformats.org/drawingml/2006/main" noGrp="1"/>
          </p:cNvSpPr>
          <p:nvPr/>
        </p:nvSpPr>
        <p:spPr>
          <a:xfrm xmlns:a="http://schemas.openxmlformats.org/drawingml/2006/main">
            <a:off x="685800" y="1619250"/>
            <a:ext cx="2476500" cy="619125"/>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Node vectors</a:t>
            </a:r>
          </a:p>
        </p:txBody>
      </p:sp>
      <p:sp>
        <p:nvSpPr>
          <p:cNvPr id="3" name="">
            <a:extLst xmlns:a="http://schemas.openxmlformats.org/drawingml/2006/main">
              <a:ext uri="{FF2B5EF4-FFF2-40B4-BE49-F238E27FC236}">
                <a16:creationId xmlns:a16="http://schemas.microsoft.com/office/drawing/2014/main" id="{3240C540-7927-4938-A17D-FAE3720EB1DC}"/>
              </a:ext>
            </a:extLst>
          </p:cNvPr>
          <p:cNvSpPr>
            <a:spLocks xmlns:a="http://schemas.openxmlformats.org/drawingml/2006/main" noGrp="1"/>
          </p:cNvSpPr>
          <p:nvPr/>
        </p:nvSpPr>
        <p:spPr>
          <a:xfrm xmlns:a="http://schemas.openxmlformats.org/drawingml/2006/main">
            <a:off x="685800" y="2857500"/>
            <a:ext cx="2476500" cy="61912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Subnet vectors</a:t>
            </a:r>
          </a:p>
        </p:txBody>
      </p:sp>
      <p:sp>
        <p:nvSpPr>
          <p:cNvPr id="4" name="">
            <a:extLst xmlns:a="http://schemas.openxmlformats.org/drawingml/2006/main">
              <a:ext uri="{FF2B5EF4-FFF2-40B4-BE49-F238E27FC236}">
                <a16:creationId xmlns:a16="http://schemas.microsoft.com/office/drawing/2014/main" id="{25E1AE41-5D01-4F54-9D63-EC0F0CADDCAC}"/>
              </a:ext>
            </a:extLst>
          </p:cNvPr>
          <p:cNvSpPr>
            <a:spLocks xmlns:a="http://schemas.openxmlformats.org/drawingml/2006/main" noGrp="1"/>
          </p:cNvSpPr>
          <p:nvPr/>
        </p:nvSpPr>
        <p:spPr>
          <a:xfrm xmlns:a="http://schemas.openxmlformats.org/drawingml/2006/main">
            <a:off x="685800" y="4095750"/>
            <a:ext cx="2476500" cy="61912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 vectors</a:t>
            </a:r>
          </a:p>
        </p:txBody>
      </p:sp>
      <p:sp>
        <p:nvSpPr>
          <p:cNvPr id="5" name="">
            <a:extLst xmlns:a="http://schemas.openxmlformats.org/drawingml/2006/main">
              <a:ext uri="{FF2B5EF4-FFF2-40B4-BE49-F238E27FC236}">
                <a16:creationId xmlns:a16="http://schemas.microsoft.com/office/drawing/2014/main" id="{4F250D0B-114D-4735-A823-F8264B6FB325}"/>
              </a:ext>
            </a:extLst>
          </p:cNvPr>
          <p:cNvSpPr>
            <a:spLocks xmlns:a="http://schemas.openxmlformats.org/drawingml/2006/main" noGrp="1"/>
          </p:cNvSpPr>
          <p:nvPr/>
        </p:nvSpPr>
        <p:spPr>
          <a:xfrm xmlns:a="http://schemas.openxmlformats.org/drawingml/2006/main">
            <a:off x="685800" y="5238750"/>
            <a:ext cx="2476500" cy="61912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Root vector</a:t>
            </a:r>
          </a:p>
        </p:txBody>
      </p:sp>
      <p:sp>
        <p:nvSpPr>
          <p:cNvPr id="9" name="">
            <a:extLst xmlns:a="http://schemas.openxmlformats.org/drawingml/2006/main">
              <a:ext uri="{FF2B5EF4-FFF2-40B4-BE49-F238E27FC236}">
                <a16:creationId xmlns:a16="http://schemas.microsoft.com/office/drawing/2014/main" id="{587FDFE1-67DD-4319-B622-482E2B7BDD6E}"/>
              </a:ext>
            </a:extLst>
          </p:cNvPr>
          <p:cNvSpPr>
            <a:spLocks xmlns:a="http://schemas.openxmlformats.org/drawingml/2006/main" noGrp="1"/>
          </p:cNvSpPr>
          <p:nvPr/>
        </p:nvSpPr>
        <p:spPr>
          <a:xfrm xmlns:a="http://schemas.openxmlformats.org/drawingml/2006/main">
            <a:off x="4095750" y="1571625"/>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1  Bottom-up aggregation</a:t>
            </a:r>
          </a:p>
        </p:txBody>
      </p:sp>
      <p:sp>
        <p:nvSpPr>
          <p:cNvPr id="10" name="">
            <a:extLst xmlns:a="http://schemas.openxmlformats.org/drawingml/2006/main">
              <a:ext uri="{FF2B5EF4-FFF2-40B4-BE49-F238E27FC236}">
                <a16:creationId xmlns:a16="http://schemas.microsoft.com/office/drawing/2014/main" id="{767D1B72-9C36-4C72-9443-81E6270BF7F3}"/>
              </a:ext>
            </a:extLst>
          </p:cNvPr>
          <p:cNvSpPr>
            <a:spLocks xmlns:a="http://schemas.openxmlformats.org/drawingml/2006/main" noGrp="1"/>
          </p:cNvSpPr>
          <p:nvPr/>
        </p:nvSpPr>
        <p:spPr>
          <a:xfrm xmlns:a="http://schemas.openxmlformats.org/drawingml/2006/main">
            <a:off x="4095750" y="2000250"/>
            <a:ext cx="7429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leaf[node] = node.capability_vector()</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for parent in subnets, networks, root:</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    parent.vector = weighted_mean(children)</a:t>
            </a:r>
          </a:p>
        </p:txBody>
      </p:sp>
      <p:sp>
        <p:nvSpPr>
          <p:cNvPr id="11" name="">
            <a:extLst xmlns:a="http://schemas.openxmlformats.org/drawingml/2006/main">
              <a:ext uri="{FF2B5EF4-FFF2-40B4-BE49-F238E27FC236}">
                <a16:creationId xmlns:a16="http://schemas.microsoft.com/office/drawing/2014/main" id="{75D0849E-F3CB-4322-8A12-174B295F952A}"/>
              </a:ext>
            </a:extLst>
          </p:cNvPr>
          <p:cNvSpPr>
            <a:spLocks xmlns:a="http://schemas.openxmlformats.org/drawingml/2006/main" noGrp="1"/>
          </p:cNvSpPr>
          <p:nvPr/>
        </p:nvSpPr>
        <p:spPr>
          <a:xfrm xmlns:a="http://schemas.openxmlformats.org/drawingml/2006/main">
            <a:off x="4095750" y="3238500"/>
            <a:ext cx="742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7B"/>
                </a:solidFill>
                <a:latin typeface="Arial"/>
                <a:ea typeface="Arial"/>
                <a:cs typeface="Arial"/>
              </a:defRPr>
            </a:defPPr>
          </a:lstStyle>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C(parent, r) = Σ wᵢ C(childᵢ, r) / Σ wᵢ</a:t>
            </a:r>
          </a:p>
        </p:txBody>
      </p:sp>
      <p:sp>
        <p:nvSpPr>
          <p:cNvPr id="12" name="">
            <a:extLst xmlns:a="http://schemas.openxmlformats.org/drawingml/2006/main">
              <a:ext uri="{FF2B5EF4-FFF2-40B4-BE49-F238E27FC236}">
                <a16:creationId xmlns:a16="http://schemas.microsoft.com/office/drawing/2014/main" id="{F0E28111-52F6-433B-913E-1BAEB171E9B8}"/>
              </a:ext>
            </a:extLst>
          </p:cNvPr>
          <p:cNvSpPr>
            <a:spLocks xmlns:a="http://schemas.openxmlformats.org/drawingml/2006/main" noGrp="1"/>
          </p:cNvSpPr>
          <p:nvPr/>
        </p:nvSpPr>
        <p:spPr>
          <a:xfrm xmlns:a="http://schemas.openxmlformats.org/drawingml/2006/main">
            <a:off x="4095750" y="3952875"/>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2  Initial selection and grant</a:t>
            </a:r>
          </a:p>
        </p:txBody>
      </p:sp>
      <p:sp>
        <p:nvSpPr>
          <p:cNvPr id="13" name="">
            <a:extLst xmlns:a="http://schemas.openxmlformats.org/drawingml/2006/main">
              <a:ext uri="{FF2B5EF4-FFF2-40B4-BE49-F238E27FC236}">
                <a16:creationId xmlns:a16="http://schemas.microsoft.com/office/drawing/2014/main" id="{4C8426B0-8A0F-4A06-BCF7-5ACE375EE8B2}"/>
              </a:ext>
            </a:extLst>
          </p:cNvPr>
          <p:cNvSpPr>
            <a:spLocks xmlns:a="http://schemas.openxmlformats.org/drawingml/2006/main" noGrp="1"/>
          </p:cNvSpPr>
          <p:nvPr/>
        </p:nvSpPr>
        <p:spPr>
          <a:xfrm xmlns:a="http://schemas.openxmlformats.org/drawingml/2006/main">
            <a:off x="4095750" y="4381500"/>
            <a:ext cx="7429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eligible = available + reachable children</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holder = max(known_capability, ID tie-break)</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if LEASE_GRANT succeeds: activate lease</a:t>
            </a:r>
          </a:p>
        </p:txBody>
      </p:sp>
      <p:sp>
        <p:nvSpPr>
          <p:cNvPr id="14" name="">
            <a:extLst xmlns:a="http://schemas.openxmlformats.org/drawingml/2006/main">
              <a:ext uri="{FF2B5EF4-FFF2-40B4-BE49-F238E27FC236}">
                <a16:creationId xmlns:a16="http://schemas.microsoft.com/office/drawing/2014/main" id="{78684535-F29A-4C76-8E07-CEEB449B6F54}"/>
              </a:ext>
            </a:extLst>
          </p:cNvPr>
          <p:cNvSpPr>
            <a:spLocks xmlns:a="http://schemas.openxmlformats.org/drawingml/2006/main" noGrp="1"/>
          </p:cNvSpPr>
          <p:nvPr/>
        </p:nvSpPr>
        <p:spPr>
          <a:xfrm xmlns:a="http://schemas.openxmlformats.org/drawingml/2006/main">
            <a:off x="685800" y="59055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Gateway score = .40 energy + .35 link quality + .25 initial degree centrality.</a:t>
            </a:r>
          </a:p>
        </p:txBody>
      </p:sp>
      <p:sp>
        <p:nvSpPr>
          <p:cNvPr id="15" name="">
            <a:extLst xmlns:a="http://schemas.openxmlformats.org/drawingml/2006/main">
              <a:ext uri="{FF2B5EF4-FFF2-40B4-BE49-F238E27FC236}">
                <a16:creationId xmlns:a16="http://schemas.microsoft.com/office/drawing/2014/main" id="{FC77484A-6DD0-418F-A0B8-2623D8FDB243}"/>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06 / 12</a:t>
            </a:r>
          </a:p>
        </p:txBody>
      </p:sp>
      <p:sp>
        <p:nvSpPr>
          <p:cNvPr id="16" name="">
            <a:extLst xmlns:a="http://schemas.openxmlformats.org/drawingml/2006/main">
              <a:ext uri="{FF2B5EF4-FFF2-40B4-BE49-F238E27FC236}">
                <a16:creationId xmlns:a16="http://schemas.microsoft.com/office/drawing/2014/main" id="{6E939192-4029-4D38-BF5F-A87037B6625E}"/>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nodes.py: ROLE_WEIGHTS; simulation/capability.py: refresh_capabilities; weighted_aggregate; simulation/protocols.py: _select_for_role</a:t>
            </a:r>
          </a:p>
        </p:txBody>
      </p:sp>
    </p:spTree>
    <p:extLst>
      <p:ext uri="{BB962C8B-B14F-4D97-AF65-F5344CB8AC3E}">
        <p14:creationId xmlns:p14="http://schemas.microsoft.com/office/powerpoint/2010/main" val="1205074123"/>
      </p:ext>
    </p:extLst>
  </p:cSld>
</p:sld>
</file>

<file path=ppt/slides/slide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32FB98B9-3F8D-4F3A-8428-0AAF5657E69E}"/>
              </a:ext>
            </a:extLst>
          </p:cNvPr>
          <p:cNvCxnSpPr>
            <a:stCxn xmlns:a="http://schemas.openxmlformats.org/drawingml/2006/main" id="10" idx="1"/>
            <a:endCxn xmlns:a="http://schemas.openxmlformats.org/drawingml/2006/main" id="3" idx="2"/>
          </p:cNvCxnSpPr>
          <p:nvPr/>
        </p:nvCxnSpPr>
        <p:spPr>
          <a:xfrm xmlns:a="http://schemas.openxmlformats.org/drawingml/2006/main" flipH="1" flipV="1">
            <a:off x="5619750" y="2476500"/>
            <a:ext cx="2238375" cy="1643063"/>
          </a:xfrm>
          <a:prstGeom xmlns:a="http://schemas.openxmlformats.org/drawingml/2006/main" prst="bentConnector2">
            <a:avLst/>
          </a:prstGeom>
          <a:ln xmlns:a="http://schemas.openxmlformats.org/drawingml/2006/main" w="19050">
            <a:solidFill>
              <a:srgbClr val="526775"/>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AFA8CC19-070B-4598-BEA3-2E28CE641D44}"/>
              </a:ext>
            </a:extLst>
          </p:cNvPr>
          <p:cNvCxnSpPr>
            <a:stCxn xmlns:a="http://schemas.openxmlformats.org/drawingml/2006/main" id="3" idx="3"/>
            <a:endCxn xmlns:a="http://schemas.openxmlformats.org/drawingml/2006/main" id="10" idx="0"/>
          </p:cNvCxnSpPr>
          <p:nvPr/>
        </p:nvCxnSpPr>
        <p:spPr>
          <a:xfrm xmlns:a="http://schemas.openxmlformats.org/drawingml/2006/main">
            <a:off x="7048500" y="2143125"/>
            <a:ext cx="2619375" cy="1571625"/>
          </a:xfrm>
          <a:prstGeom xmlns:a="http://schemas.openxmlformats.org/drawingml/2006/main" prst="bentConnector4">
            <a:avLst>
              <a:gd name="adj1" fmla="val 8727"/>
              <a:gd name="adj2" fmla="val 85455"/>
            </a:avLst>
          </a:prstGeom>
          <a:ln xmlns:a="http://schemas.openxmlformats.org/drawingml/2006/main" w="19050">
            <a:solidFill>
              <a:srgbClr val="526775"/>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2119DFCD-2B93-4187-8653-8D696DC80674}"/>
              </a:ext>
            </a:extLst>
          </p:cNvPr>
          <p:cNvCxnSpPr>
            <a:stCxn xmlns:a="http://schemas.openxmlformats.org/drawingml/2006/main" id="9" idx="3"/>
            <a:endCxn xmlns:a="http://schemas.openxmlformats.org/drawingml/2006/main" id="3" idx="2"/>
          </p:cNvCxnSpPr>
          <p:nvPr/>
        </p:nvCxnSpPr>
        <p:spPr>
          <a:xfrm xmlns:a="http://schemas.openxmlformats.org/drawingml/2006/main" flipV="1">
            <a:off x="4048125" y="2476500"/>
            <a:ext cx="1571625" cy="1643063"/>
          </a:xfrm>
          <a:prstGeom xmlns:a="http://schemas.openxmlformats.org/drawingml/2006/main" prst="bentConnector2">
            <a:avLst/>
          </a:prstGeom>
          <a:ln xmlns:a="http://schemas.openxmlformats.org/drawingml/2006/main" w="19050">
            <a:solidFill>
              <a:srgbClr val="526775"/>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9631B0BC-C7A2-447A-8B81-2CD0DF045D6F}"/>
              </a:ext>
            </a:extLst>
          </p:cNvPr>
          <p:cNvCxnSpPr>
            <a:stCxn xmlns:a="http://schemas.openxmlformats.org/drawingml/2006/main" id="3" idx="1"/>
            <a:endCxn xmlns:a="http://schemas.openxmlformats.org/drawingml/2006/main" id="9" idx="0"/>
          </p:cNvCxnSpPr>
          <p:nvPr/>
        </p:nvCxnSpPr>
        <p:spPr>
          <a:xfrm xmlns:a="http://schemas.openxmlformats.org/drawingml/2006/main" flipH="1">
            <a:off x="2619375" y="2143125"/>
            <a:ext cx="1571625" cy="1571625"/>
          </a:xfrm>
          <a:prstGeom xmlns:a="http://schemas.openxmlformats.org/drawingml/2006/main" prst="bentConnector4">
            <a:avLst>
              <a:gd name="adj1" fmla="val 14545"/>
              <a:gd name="adj2" fmla="val 85455"/>
            </a:avLst>
          </a:prstGeom>
          <a:ln xmlns:a="http://schemas.openxmlformats.org/drawingml/2006/main" w="19050">
            <a:solidFill>
              <a:srgbClr val="526775"/>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F27267CA-06AF-4BD4-B9BB-4BCCCA4448A1}"/>
              </a:ext>
            </a:extLst>
          </p:cNvPr>
          <p:cNvCxnSpPr>
            <a:stCxn xmlns:a="http://schemas.openxmlformats.org/drawingml/2006/main" id="3" idx="3"/>
            <a:endCxn xmlns:a="http://schemas.openxmlformats.org/drawingml/2006/main" id="4" idx="1"/>
          </p:cNvCxnSpPr>
          <p:nvPr/>
        </p:nvCxnSpPr>
        <p:spPr>
          <a:xfrm xmlns:a="http://schemas.openxmlformats.org/drawingml/2006/main">
            <a:off x="7048500" y="2143125"/>
            <a:ext cx="23812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C583CE94-12EC-4D2B-A8BD-1568ED449BB6}"/>
              </a:ext>
            </a:extLst>
          </p:cNvPr>
          <p:cNvCxnSpPr>
            <a:stCxn xmlns:a="http://schemas.openxmlformats.org/drawingml/2006/main" id="2" idx="3"/>
            <a:endCxn xmlns:a="http://schemas.openxmlformats.org/drawingml/2006/main" id="3" idx="1"/>
          </p:cNvCxnSpPr>
          <p:nvPr/>
        </p:nvCxnSpPr>
        <p:spPr>
          <a:xfrm xmlns:a="http://schemas.openxmlformats.org/drawingml/2006/main">
            <a:off x="2590800" y="2143125"/>
            <a:ext cx="160020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19" name="">
            <a:extLst xmlns:a="http://schemas.openxmlformats.org/drawingml/2006/main">
              <a:ext uri="{FF2B5EF4-FFF2-40B4-BE49-F238E27FC236}">
                <a16:creationId xmlns:a16="http://schemas.microsoft.com/office/drawing/2014/main" id="{F694E174-BA75-4866-80DF-A2BCF94AF90C}"/>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leases and epoch validation</a:t>
            </a:r>
          </a:p>
        </p:txBody>
      </p:sp>
      <p:sp>
        <p:nvSpPr>
          <p:cNvPr id="2" name="">
            <a:extLst xmlns:a="http://schemas.openxmlformats.org/drawingml/2006/main">
              <a:ext uri="{FF2B5EF4-FFF2-40B4-BE49-F238E27FC236}">
                <a16:creationId xmlns:a16="http://schemas.microsoft.com/office/drawing/2014/main" id="{A285887E-5BA1-4FF0-9DBA-92D54F2641F1}"/>
              </a:ext>
            </a:extLst>
          </p:cNvPr>
          <p:cNvSpPr>
            <a:spLocks xmlns:a="http://schemas.openxmlformats.org/drawingml/2006/main" noGrp="1"/>
          </p:cNvSpPr>
          <p:nvPr/>
        </p:nvSpPr>
        <p:spPr>
          <a:xfrm xmlns:a="http://schemas.openxmlformats.org/drawingml/2006/main">
            <a:off x="685800" y="1809750"/>
            <a:ext cx="1905000" cy="6667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PENDING</a:t>
            </a:r>
          </a:p>
        </p:txBody>
      </p:sp>
      <p:sp>
        <p:nvSpPr>
          <p:cNvPr id="3" name="">
            <a:extLst xmlns:a="http://schemas.openxmlformats.org/drawingml/2006/main">
              <a:ext uri="{FF2B5EF4-FFF2-40B4-BE49-F238E27FC236}">
                <a16:creationId xmlns:a16="http://schemas.microsoft.com/office/drawing/2014/main" id="{C2E30143-4EB8-41E1-8AB6-F870CDEFC117}"/>
              </a:ext>
            </a:extLst>
          </p:cNvPr>
          <p:cNvSpPr>
            <a:spLocks xmlns:a="http://schemas.openxmlformats.org/drawingml/2006/main" noGrp="1"/>
          </p:cNvSpPr>
          <p:nvPr/>
        </p:nvSpPr>
        <p:spPr>
          <a:xfrm xmlns:a="http://schemas.openxmlformats.org/drawingml/2006/main">
            <a:off x="4191000" y="1809750"/>
            <a:ext cx="2857500" cy="666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ACTIVE</a:t>
            </a:r>
          </a:p>
        </p:txBody>
      </p:sp>
      <p:sp>
        <p:nvSpPr>
          <p:cNvPr id="4" name="">
            <a:extLst xmlns:a="http://schemas.openxmlformats.org/drawingml/2006/main">
              <a:ext uri="{FF2B5EF4-FFF2-40B4-BE49-F238E27FC236}">
                <a16:creationId xmlns:a16="http://schemas.microsoft.com/office/drawing/2014/main" id="{18AC2C37-02B7-4F25-A1DA-593B85E10A9C}"/>
              </a:ext>
            </a:extLst>
          </p:cNvPr>
          <p:cNvSpPr>
            <a:spLocks xmlns:a="http://schemas.openxmlformats.org/drawingml/2006/main" noGrp="1"/>
          </p:cNvSpPr>
          <p:nvPr/>
        </p:nvSpPr>
        <p:spPr>
          <a:xfrm xmlns:a="http://schemas.openxmlformats.org/drawingml/2006/main">
            <a:off x="9429750" y="1809750"/>
            <a:ext cx="2095500" cy="66675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EXPIRED / INVALID</a:t>
            </a:r>
          </a:p>
        </p:txBody>
      </p:sp>
      <p:sp>
        <p:nvSpPr>
          <p:cNvPr id="7" name="">
            <a:extLst xmlns:a="http://schemas.openxmlformats.org/drawingml/2006/main">
              <a:ext uri="{FF2B5EF4-FFF2-40B4-BE49-F238E27FC236}">
                <a16:creationId xmlns:a16="http://schemas.microsoft.com/office/drawing/2014/main" id="{897C8C0A-D727-4EF6-8C5F-470B8672EAD9}"/>
              </a:ext>
            </a:extLst>
          </p:cNvPr>
          <p:cNvSpPr>
            <a:spLocks xmlns:a="http://schemas.openxmlformats.org/drawingml/2006/main" noGrp="1"/>
          </p:cNvSpPr>
          <p:nvPr/>
        </p:nvSpPr>
        <p:spPr>
          <a:xfrm xmlns:a="http://schemas.openxmlformats.org/drawingml/2006/main">
            <a:off x="2714625" y="146685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grant succeeds</a:t>
            </a:r>
          </a:p>
        </p:txBody>
      </p:sp>
      <p:sp>
        <p:nvSpPr>
          <p:cNvPr id="8" name="">
            <a:extLst xmlns:a="http://schemas.openxmlformats.org/drawingml/2006/main">
              <a:ext uri="{FF2B5EF4-FFF2-40B4-BE49-F238E27FC236}">
                <a16:creationId xmlns:a16="http://schemas.microsoft.com/office/drawing/2014/main" id="{5285ED76-2A63-4EF6-9B90-33CC235D1A4A}"/>
              </a:ext>
            </a:extLst>
          </p:cNvPr>
          <p:cNvSpPr>
            <a:spLocks xmlns:a="http://schemas.openxmlformats.org/drawingml/2006/main" noGrp="1"/>
          </p:cNvSpPr>
          <p:nvPr/>
        </p:nvSpPr>
        <p:spPr>
          <a:xfrm xmlns:a="http://schemas.openxmlformats.org/drawingml/2006/main">
            <a:off x="7210425" y="14668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expiry or invalidation</a:t>
            </a:r>
          </a:p>
        </p:txBody>
      </p:sp>
      <p:sp>
        <p:nvSpPr>
          <p:cNvPr id="9" name="">
            <a:extLst xmlns:a="http://schemas.openxmlformats.org/drawingml/2006/main">
              <a:ext uri="{FF2B5EF4-FFF2-40B4-BE49-F238E27FC236}">
                <a16:creationId xmlns:a16="http://schemas.microsoft.com/office/drawing/2014/main" id="{0AB53506-4299-4599-8C14-FFD31C7E21F8}"/>
              </a:ext>
            </a:extLst>
          </p:cNvPr>
          <p:cNvSpPr>
            <a:spLocks xmlns:a="http://schemas.openxmlformats.org/drawingml/2006/main" noGrp="1"/>
          </p:cNvSpPr>
          <p:nvPr/>
        </p:nvSpPr>
        <p:spPr>
          <a:xfrm xmlns:a="http://schemas.openxmlformats.org/drawingml/2006/main">
            <a:off x="1190625" y="3714750"/>
            <a:ext cx="2857500" cy="809625"/>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RENEWING</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update timing</a:t>
            </a:r>
          </a:p>
        </p:txBody>
      </p:sp>
      <p:sp>
        <p:nvSpPr>
          <p:cNvPr id="10" name="">
            <a:extLst xmlns:a="http://schemas.openxmlformats.org/drawingml/2006/main">
              <a:ext uri="{FF2B5EF4-FFF2-40B4-BE49-F238E27FC236}">
                <a16:creationId xmlns:a16="http://schemas.microsoft.com/office/drawing/2014/main" id="{730C57CF-BFC5-497D-870E-611345325FFB}"/>
              </a:ext>
            </a:extLst>
          </p:cNvPr>
          <p:cNvSpPr>
            <a:spLocks xmlns:a="http://schemas.openxmlformats.org/drawingml/2006/main" noGrp="1"/>
          </p:cNvSpPr>
          <p:nvPr/>
        </p:nvSpPr>
        <p:spPr>
          <a:xfrm xmlns:a="http://schemas.openxmlformats.org/drawingml/2006/main">
            <a:off x="7858125" y="3714750"/>
            <a:ext cx="3619500" cy="809625"/>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MIGRATING</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update holder + timing</a:t>
            </a:r>
          </a:p>
        </p:txBody>
      </p:sp>
      <p:sp>
        <p:nvSpPr>
          <p:cNvPr id="15" name="">
            <a:extLst xmlns:a="http://schemas.openxmlformats.org/drawingml/2006/main">
              <a:ext uri="{FF2B5EF4-FFF2-40B4-BE49-F238E27FC236}">
                <a16:creationId xmlns:a16="http://schemas.microsoft.com/office/drawing/2014/main" id="{B34E0F0C-F917-44D2-9B10-BFF3B6D64A15}"/>
              </a:ext>
            </a:extLst>
          </p:cNvPr>
          <p:cNvSpPr>
            <a:spLocks xmlns:a="http://schemas.openxmlformats.org/drawingml/2006/main" noGrp="1"/>
          </p:cNvSpPr>
          <p:nvPr/>
        </p:nvSpPr>
        <p:spPr>
          <a:xfrm xmlns:a="http://schemas.openxmlformats.org/drawingml/2006/main">
            <a:off x="685800" y="5000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Local epoch validation before replacement</a:t>
            </a:r>
          </a:p>
        </p:txBody>
      </p:sp>
      <p:sp>
        <p:nvSpPr>
          <p:cNvPr id="16" name="">
            <a:extLst xmlns:a="http://schemas.openxmlformats.org/drawingml/2006/main">
              <a:ext uri="{FF2B5EF4-FFF2-40B4-BE49-F238E27FC236}">
                <a16:creationId xmlns:a16="http://schemas.microsoft.com/office/drawing/2014/main" id="{5E344E50-78FB-4FF0-84B2-D5C3DECB8BF2}"/>
              </a:ext>
            </a:extLst>
          </p:cNvPr>
          <p:cNvSpPr>
            <a:spLocks xmlns:a="http://schemas.openxmlformats.org/drawingml/2006/main" noGrp="1"/>
          </p:cNvSpPr>
          <p:nvPr/>
        </p:nvSpPr>
        <p:spPr>
          <a:xfrm xmlns:a="http://schemas.openxmlformats.org/drawingml/2006/main">
            <a:off x="685800" y="54292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epoch mismatch / unavailable holder: invalidate old lease, then attempt new grant</a:t>
            </a:r>
          </a:p>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Epoch rollover: regrant by default, or relabel existing leases when retention is on</a:t>
            </a:r>
          </a:p>
        </p:txBody>
      </p:sp>
      <p:sp>
        <p:nvSpPr>
          <p:cNvPr id="17" name="">
            <a:extLst xmlns:a="http://schemas.openxmlformats.org/drawingml/2006/main">
              <a:ext uri="{FF2B5EF4-FFF2-40B4-BE49-F238E27FC236}">
                <a16:creationId xmlns:a16="http://schemas.microsoft.com/office/drawing/2014/main" id="{CBE27F0F-9633-4AB4-A5F6-99B078F77474}"/>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07 / 12</a:t>
            </a:r>
          </a:p>
        </p:txBody>
      </p:sp>
      <p:sp>
        <p:nvSpPr>
          <p:cNvPr id="18" name="">
            <a:extLst xmlns:a="http://schemas.openxmlformats.org/drawingml/2006/main">
              <a:ext uri="{FF2B5EF4-FFF2-40B4-BE49-F238E27FC236}">
                <a16:creationId xmlns:a16="http://schemas.microsoft.com/office/drawing/2014/main" id="{C3736B71-8AEC-4FD6-BC23-9FE6EEDC8159}"/>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simulation/leases.py; simulation/protocols.py: step; _advance_epoch; _renew_if_due</a:t>
            </a:r>
          </a:p>
        </p:txBody>
      </p:sp>
    </p:spTree>
    <p:extLst>
      <p:ext uri="{BB962C8B-B14F-4D97-AF65-F5344CB8AC3E}">
        <p14:creationId xmlns:p14="http://schemas.microsoft.com/office/powerpoint/2010/main" val="261459815"/>
      </p:ext>
    </p:extLst>
  </p:cSld>
</p:sld>
</file>

<file path=ppt/slides/slide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B071F92F-9F54-4745-A9DC-EC3BE9510CB9}"/>
              </a:ext>
            </a:extLst>
          </p:cNvPr>
          <p:cNvCxnSpPr>
            <a:stCxn xmlns:a="http://schemas.openxmlformats.org/drawingml/2006/main" id="10" idx="2"/>
            <a:endCxn xmlns:a="http://schemas.openxmlformats.org/drawingml/2006/main" id="12" idx="3"/>
          </p:cNvCxnSpPr>
          <p:nvPr/>
        </p:nvCxnSpPr>
        <p:spPr>
          <a:xfrm xmlns:a="http://schemas.openxmlformats.org/drawingml/2006/main" flipH="1">
            <a:off x="6715125" y="4762500"/>
            <a:ext cx="2952750" cy="714375"/>
          </a:xfrm>
          <a:prstGeom xmlns:a="http://schemas.openxmlformats.org/drawingml/2006/main" prst="bentConnector5">
            <a:avLst>
              <a:gd name="adj1" fmla="val 0"/>
              <a:gd name="adj2" fmla="val 32000"/>
              <a:gd name="adj3" fmla="val 92258"/>
            </a:avLst>
          </a:prstGeom>
          <a:ln xmlns:a="http://schemas.openxmlformats.org/drawingml/2006/main" w="19050">
            <a:solidFill>
              <a:srgbClr val="526775"/>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F254DA36-5422-440E-8086-D824ECB9CCF0}"/>
              </a:ext>
            </a:extLst>
          </p:cNvPr>
          <p:cNvCxnSpPr>
            <a:stCxn xmlns:a="http://schemas.openxmlformats.org/drawingml/2006/main" id="8" idx="3"/>
            <a:endCxn xmlns:a="http://schemas.openxmlformats.org/drawingml/2006/main" id="10" idx="1"/>
          </p:cNvCxnSpPr>
          <p:nvPr/>
        </p:nvCxnSpPr>
        <p:spPr>
          <a:xfrm xmlns:a="http://schemas.openxmlformats.org/drawingml/2006/main">
            <a:off x="6715125" y="4381500"/>
            <a:ext cx="114300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EAAB877D-C044-43C1-B37D-6BA26F9C6A22}"/>
              </a:ext>
            </a:extLst>
          </p:cNvPr>
          <p:cNvCxnSpPr>
            <a:stCxn xmlns:a="http://schemas.openxmlformats.org/drawingml/2006/main" id="6" idx="2"/>
            <a:endCxn xmlns:a="http://schemas.openxmlformats.org/drawingml/2006/main" id="8" idx="0"/>
          </p:cNvCxnSpPr>
          <p:nvPr/>
        </p:nvCxnSpPr>
        <p:spPr>
          <a:xfrm xmlns:a="http://schemas.openxmlformats.org/drawingml/2006/main">
            <a:off x="5286375" y="3381375"/>
            <a:ext cx="0" cy="619125"/>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6B5EB23B-C76E-48E2-8AFF-7B1428832999}"/>
              </a:ext>
            </a:extLst>
          </p:cNvPr>
          <p:cNvCxnSpPr>
            <a:stCxn xmlns:a="http://schemas.openxmlformats.org/drawingml/2006/main" id="5" idx="3"/>
            <a:endCxn xmlns:a="http://schemas.openxmlformats.org/drawingml/2006/main" id="6" idx="1"/>
          </p:cNvCxnSpPr>
          <p:nvPr/>
        </p:nvCxnSpPr>
        <p:spPr>
          <a:xfrm xmlns:a="http://schemas.openxmlformats.org/drawingml/2006/main">
            <a:off x="2971800" y="3048000"/>
            <a:ext cx="885825"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93F0CB3C-6604-4A3D-AC8C-9C2A53E0B35E}"/>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Failure detection and recovery sequence</a:t>
            </a:r>
          </a:p>
        </p:txBody>
      </p:sp>
      <p:sp>
        <p:nvSpPr>
          <p:cNvPr id="2" name="">
            <a:extLst xmlns:a="http://schemas.openxmlformats.org/drawingml/2006/main">
              <a:ext uri="{FF2B5EF4-FFF2-40B4-BE49-F238E27FC236}">
                <a16:creationId xmlns:a16="http://schemas.microsoft.com/office/drawing/2014/main" id="{8594282F-E463-450E-A24E-743B03FD7D03}"/>
              </a:ext>
            </a:extLst>
          </p:cNvPr>
          <p:cNvSpPr>
            <a:spLocks xmlns:a="http://schemas.openxmlformats.org/drawingml/2006/main" noGrp="1"/>
          </p:cNvSpPr>
          <p:nvPr/>
        </p:nvSpPr>
        <p:spPr>
          <a:xfrm xmlns:a="http://schemas.openxmlformats.org/drawingml/2006/main">
            <a:off x="685800" y="1571625"/>
            <a:ext cx="2286000" cy="57150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Old holder</a:t>
            </a:r>
          </a:p>
        </p:txBody>
      </p:sp>
      <p:sp>
        <p:nvSpPr>
          <p:cNvPr id="3" name="">
            <a:extLst xmlns:a="http://schemas.openxmlformats.org/drawingml/2006/main">
              <a:ext uri="{FF2B5EF4-FFF2-40B4-BE49-F238E27FC236}">
                <a16:creationId xmlns:a16="http://schemas.microsoft.com/office/drawing/2014/main" id="{8955FF21-A93F-4DF2-B078-9B8AC36977BB}"/>
              </a:ext>
            </a:extLst>
          </p:cNvPr>
          <p:cNvSpPr>
            <a:spLocks xmlns:a="http://schemas.openxmlformats.org/drawingml/2006/main" noGrp="1"/>
          </p:cNvSpPr>
          <p:nvPr/>
        </p:nvSpPr>
        <p:spPr>
          <a:xfrm xmlns:a="http://schemas.openxmlformats.org/drawingml/2006/main">
            <a:off x="3857625" y="1571625"/>
            <a:ext cx="2857500" cy="571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ProtocolEngine</a:t>
            </a:r>
          </a:p>
        </p:txBody>
      </p:sp>
      <p:sp>
        <p:nvSpPr>
          <p:cNvPr id="4" name="">
            <a:extLst xmlns:a="http://schemas.openxmlformats.org/drawingml/2006/main">
              <a:ext uri="{FF2B5EF4-FFF2-40B4-BE49-F238E27FC236}">
                <a16:creationId xmlns:a16="http://schemas.microsoft.com/office/drawing/2014/main" id="{C425C913-C9CE-4C4D-BD9E-3C0C3F0B0BA4}"/>
              </a:ext>
            </a:extLst>
          </p:cNvPr>
          <p:cNvSpPr>
            <a:spLocks xmlns:a="http://schemas.openxmlformats.org/drawingml/2006/main" noGrp="1"/>
          </p:cNvSpPr>
          <p:nvPr/>
        </p:nvSpPr>
        <p:spPr>
          <a:xfrm xmlns:a="http://schemas.openxmlformats.org/drawingml/2006/main">
            <a:off x="7858125" y="1571625"/>
            <a:ext cx="3619500" cy="571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Replacement holder</a:t>
            </a:r>
          </a:p>
        </p:txBody>
      </p:sp>
      <p:sp>
        <p:nvSpPr>
          <p:cNvPr id="5" name="">
            <a:extLst xmlns:a="http://schemas.openxmlformats.org/drawingml/2006/main">
              <a:ext uri="{FF2B5EF4-FFF2-40B4-BE49-F238E27FC236}">
                <a16:creationId xmlns:a16="http://schemas.microsoft.com/office/drawing/2014/main" id="{B2570DCD-8D92-4DC6-8F88-01A873535C73}"/>
              </a:ext>
            </a:extLst>
          </p:cNvPr>
          <p:cNvSpPr>
            <a:spLocks xmlns:a="http://schemas.openxmlformats.org/drawingml/2006/main" noGrp="1"/>
          </p:cNvSpPr>
          <p:nvPr/>
        </p:nvSpPr>
        <p:spPr>
          <a:xfrm xmlns:a="http://schemas.openxmlformats.org/drawingml/2006/main">
            <a:off x="685800" y="2714625"/>
            <a:ext cx="2286000" cy="66675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fail()</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availability false</a:t>
            </a:r>
          </a:p>
        </p:txBody>
      </p:sp>
      <p:sp>
        <p:nvSpPr>
          <p:cNvPr id="6" name="">
            <a:extLst xmlns:a="http://schemas.openxmlformats.org/drawingml/2006/main">
              <a:ext uri="{FF2B5EF4-FFF2-40B4-BE49-F238E27FC236}">
                <a16:creationId xmlns:a16="http://schemas.microsoft.com/office/drawing/2014/main" id="{C839DF3C-02E2-401D-BC79-2181823D1E70}"/>
              </a:ext>
            </a:extLst>
          </p:cNvPr>
          <p:cNvSpPr>
            <a:spLocks xmlns:a="http://schemas.openxmlformats.org/drawingml/2006/main" noGrp="1"/>
          </p:cNvSpPr>
          <p:nvPr/>
        </p:nvSpPr>
        <p:spPr>
          <a:xfrm xmlns:a="http://schemas.openxmlformats.org/drawingml/2006/main">
            <a:off x="3857625" y="2714625"/>
            <a:ext cx="2857500" cy="6667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Detect + wait delay</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Invalidate old lease</a:t>
            </a:r>
          </a:p>
        </p:txBody>
      </p:sp>
      <p:sp>
        <p:nvSpPr>
          <p:cNvPr id="8" name="">
            <a:extLst xmlns:a="http://schemas.openxmlformats.org/drawingml/2006/main">
              <a:ext uri="{FF2B5EF4-FFF2-40B4-BE49-F238E27FC236}">
                <a16:creationId xmlns:a16="http://schemas.microsoft.com/office/drawing/2014/main" id="{5CC8D673-4B71-4DE2-B322-00B1D9A386A3}"/>
              </a:ext>
            </a:extLst>
          </p:cNvPr>
          <p:cNvSpPr>
            <a:spLocks xmlns:a="http://schemas.openxmlformats.org/drawingml/2006/main" noGrp="1"/>
          </p:cNvSpPr>
          <p:nvPr/>
        </p:nvSpPr>
        <p:spPr>
          <a:xfrm xmlns:a="http://schemas.openxmlformats.org/drawingml/2006/main">
            <a:off x="3857625" y="4000500"/>
            <a:ext cx="2857500" cy="7620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Select reachable child</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Send LEASE_GRANT</a:t>
            </a:r>
          </a:p>
        </p:txBody>
      </p:sp>
      <p:sp>
        <p:nvSpPr>
          <p:cNvPr id="10" name="">
            <a:extLst xmlns:a="http://schemas.openxmlformats.org/drawingml/2006/main">
              <a:ext uri="{FF2B5EF4-FFF2-40B4-BE49-F238E27FC236}">
                <a16:creationId xmlns:a16="http://schemas.microsoft.com/office/drawing/2014/main" id="{766BAAB7-C74E-4D5B-B56F-362035152CAE}"/>
              </a:ext>
            </a:extLst>
          </p:cNvPr>
          <p:cNvSpPr>
            <a:spLocks xmlns:a="http://schemas.openxmlformats.org/drawingml/2006/main" noGrp="1"/>
          </p:cNvSpPr>
          <p:nvPr/>
        </p:nvSpPr>
        <p:spPr>
          <a:xfrm xmlns:a="http://schemas.openxmlformats.org/drawingml/2006/main">
            <a:off x="7858125" y="4000500"/>
            <a:ext cx="3619500" cy="7620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Current-epoch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Activate on grant success</a:t>
            </a:r>
          </a:p>
        </p:txBody>
      </p:sp>
      <p:sp>
        <p:nvSpPr>
          <p:cNvPr id="12" name="">
            <a:extLst xmlns:a="http://schemas.openxmlformats.org/drawingml/2006/main">
              <a:ext uri="{FF2B5EF4-FFF2-40B4-BE49-F238E27FC236}">
                <a16:creationId xmlns:a16="http://schemas.microsoft.com/office/drawing/2014/main" id="{0AC44510-5030-4EC3-8EF2-D3050BC980C2}"/>
              </a:ext>
            </a:extLst>
          </p:cNvPr>
          <p:cNvSpPr>
            <a:spLocks xmlns:a="http://schemas.openxmlformats.org/drawingml/2006/main" noGrp="1"/>
          </p:cNvSpPr>
          <p:nvPr/>
        </p:nvSpPr>
        <p:spPr>
          <a:xfrm xmlns:a="http://schemas.openxmlformats.org/drawingml/2006/main">
            <a:off x="3857625" y="5191125"/>
            <a:ext cx="2857500" cy="571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Record recovery time</a:t>
            </a:r>
          </a:p>
        </p:txBody>
      </p:sp>
      <p:sp>
        <p:nvSpPr>
          <p:cNvPr id="14" name="">
            <a:extLst xmlns:a="http://schemas.openxmlformats.org/drawingml/2006/main">
              <a:ext uri="{FF2B5EF4-FFF2-40B4-BE49-F238E27FC236}">
                <a16:creationId xmlns:a16="http://schemas.microsoft.com/office/drawing/2014/main" id="{B42D78C0-5707-4151-8AA0-FF8D4C2D34B1}"/>
              </a:ext>
            </a:extLst>
          </p:cNvPr>
          <p:cNvSpPr>
            <a:spLocks xmlns:a="http://schemas.openxmlformats.org/drawingml/2006/main" noGrp="1"/>
          </p:cNvSpPr>
          <p:nvPr/>
        </p:nvSpPr>
        <p:spPr>
          <a:xfrm xmlns:a="http://schemas.openxmlformats.org/drawingml/2006/main">
            <a:off x="685800" y="59055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No replacement or failed grant: keep the role unassigned and retry. Emergency recovery bypasses the gate.</a:t>
            </a:r>
          </a:p>
        </p:txBody>
      </p:sp>
      <p:sp>
        <p:nvSpPr>
          <p:cNvPr id="15" name="">
            <a:extLst xmlns:a="http://schemas.openxmlformats.org/drawingml/2006/main">
              <a:ext uri="{FF2B5EF4-FFF2-40B4-BE49-F238E27FC236}">
                <a16:creationId xmlns:a16="http://schemas.microsoft.com/office/drawing/2014/main" id="{1E2015D9-674B-4864-977A-62ED8F4FEDA6}"/>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08 / 12</a:t>
            </a:r>
          </a:p>
        </p:txBody>
      </p:sp>
      <p:sp>
        <p:nvSpPr>
          <p:cNvPr id="16" name="">
            <a:extLst xmlns:a="http://schemas.openxmlformats.org/drawingml/2006/main">
              <a:ext uri="{FF2B5EF4-FFF2-40B4-BE49-F238E27FC236}">
                <a16:creationId xmlns:a16="http://schemas.microsoft.com/office/drawing/2014/main" id="{31E6AD15-71F6-4C39-99A8-947622E9C3ED}"/>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simulation/protocols.py: step; _invalidate; _assign; simulation/runner.py: holder_unavailable_since</a:t>
            </a:r>
          </a:p>
        </p:txBody>
      </p:sp>
    </p:spTree>
    <p:extLst>
      <p:ext uri="{BB962C8B-B14F-4D97-AF65-F5344CB8AC3E}">
        <p14:creationId xmlns:p14="http://schemas.microsoft.com/office/powerpoint/2010/main" val="458319525"/>
      </p:ext>
    </p:extLst>
  </p:cSld>
</p:sld>
</file>

<file path=ppt/slides/slide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5F13A136-8B12-488B-A8A6-D5A74DCE9154}"/>
              </a:ext>
            </a:extLst>
          </p:cNvPr>
          <p:cNvCxnSpPr>
            <a:stCxn xmlns:a="http://schemas.openxmlformats.org/drawingml/2006/main" id="13" idx="2"/>
            <a:endCxn xmlns:a="http://schemas.openxmlformats.org/drawingml/2006/main" id="15" idx="0"/>
          </p:cNvCxnSpPr>
          <p:nvPr/>
        </p:nvCxnSpPr>
        <p:spPr>
          <a:xfrm xmlns:a="http://schemas.openxmlformats.org/drawingml/2006/main" flipH="1">
            <a:off x="6096000" y="4714875"/>
            <a:ext cx="238125" cy="476250"/>
          </a:xfrm>
          <a:prstGeom xmlns:a="http://schemas.openxmlformats.org/drawingml/2006/main" prst="bentConnector4">
            <a:avLst>
              <a:gd name="adj1" fmla="val 0"/>
              <a:gd name="adj2" fmla="val 50000"/>
            </a:avLst>
          </a:prstGeom>
          <a:ln xmlns:a="http://schemas.openxmlformats.org/drawingml/2006/main" w="19050">
            <a:solidFill>
              <a:srgbClr val="526775"/>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383FC62F-7F39-4D3E-95C9-BA677814DA19}"/>
              </a:ext>
            </a:extLst>
          </p:cNvPr>
          <p:cNvCxnSpPr>
            <a:stCxn xmlns:a="http://schemas.openxmlformats.org/drawingml/2006/main" id="8" idx="2"/>
            <a:endCxn xmlns:a="http://schemas.openxmlformats.org/drawingml/2006/main" id="13" idx="0"/>
          </p:cNvCxnSpPr>
          <p:nvPr/>
        </p:nvCxnSpPr>
        <p:spPr>
          <a:xfrm xmlns:a="http://schemas.openxmlformats.org/drawingml/2006/main">
            <a:off x="6000750" y="3429000"/>
            <a:ext cx="333375" cy="57150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6DD9D90B-712D-4CB3-A1C9-219E16108750}"/>
              </a:ext>
            </a:extLst>
          </p:cNvPr>
          <p:cNvCxnSpPr>
            <a:stCxn xmlns:a="http://schemas.openxmlformats.org/drawingml/2006/main" id="8" idx="3"/>
            <a:endCxn xmlns:a="http://schemas.openxmlformats.org/drawingml/2006/main" id="9" idx="1"/>
          </p:cNvCxnSpPr>
          <p:nvPr/>
        </p:nvCxnSpPr>
        <p:spPr>
          <a:xfrm xmlns:a="http://schemas.openxmlformats.org/drawingml/2006/main">
            <a:off x="7429500" y="3071813"/>
            <a:ext cx="12382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9451A753-536B-437D-B15B-8ADB4108E819}"/>
              </a:ext>
            </a:extLst>
          </p:cNvPr>
          <p:cNvCxnSpPr>
            <a:stCxn xmlns:a="http://schemas.openxmlformats.org/drawingml/2006/main" id="6" idx="3"/>
            <a:endCxn xmlns:a="http://schemas.openxmlformats.org/drawingml/2006/main" id="8" idx="1"/>
          </p:cNvCxnSpPr>
          <p:nvPr/>
        </p:nvCxnSpPr>
        <p:spPr>
          <a:xfrm xmlns:a="http://schemas.openxmlformats.org/drawingml/2006/main">
            <a:off x="3543300" y="3071813"/>
            <a:ext cx="102870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36B2BF04-8403-436A-ACA2-6711A7751D7B}"/>
              </a:ext>
            </a:extLst>
          </p:cNvPr>
          <p:cNvCxnSpPr>
            <a:stCxn xmlns:a="http://schemas.openxmlformats.org/drawingml/2006/main" id="2" idx="2"/>
            <a:endCxn xmlns:a="http://schemas.openxmlformats.org/drawingml/2006/main" id="6" idx="0"/>
          </p:cNvCxnSpPr>
          <p:nvPr/>
        </p:nvCxnSpPr>
        <p:spPr>
          <a:xfrm xmlns:a="http://schemas.openxmlformats.org/drawingml/2006/main">
            <a:off x="2114550" y="2143125"/>
            <a:ext cx="0" cy="57150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4" name="">
            <a:extLst xmlns:a="http://schemas.openxmlformats.org/drawingml/2006/main">
              <a:ext uri="{FF2B5EF4-FFF2-40B4-BE49-F238E27FC236}">
                <a16:creationId xmlns:a16="http://schemas.microsoft.com/office/drawing/2014/main" id="{B1E0AB38-9148-48EB-992F-D367EE9B9059}"/>
              </a:ext>
            </a:extLst>
          </p:cNvPr>
          <p:cNvCxnSpPr>
            <a:stCxn xmlns:a="http://schemas.openxmlformats.org/drawingml/2006/main" id="2" idx="3"/>
            <a:endCxn xmlns:a="http://schemas.openxmlformats.org/drawingml/2006/main" id="3" idx="1"/>
          </p:cNvCxnSpPr>
          <p:nvPr/>
        </p:nvCxnSpPr>
        <p:spPr>
          <a:xfrm xmlns:a="http://schemas.openxmlformats.org/drawingml/2006/main">
            <a:off x="3543300" y="1833563"/>
            <a:ext cx="4791075"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21" name="">
            <a:extLst xmlns:a="http://schemas.openxmlformats.org/drawingml/2006/main">
              <a:ext uri="{FF2B5EF4-FFF2-40B4-BE49-F238E27FC236}">
                <a16:creationId xmlns:a16="http://schemas.microsoft.com/office/drawing/2014/main" id="{E817D296-4B8B-4EEE-9A2E-150F1F79011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Optional energy-aware migration gate</a:t>
            </a:r>
          </a:p>
        </p:txBody>
      </p:sp>
      <p:sp>
        <p:nvSpPr>
          <p:cNvPr id="2" name="">
            <a:extLst xmlns:a="http://schemas.openxmlformats.org/drawingml/2006/main">
              <a:ext uri="{FF2B5EF4-FFF2-40B4-BE49-F238E27FC236}">
                <a16:creationId xmlns:a16="http://schemas.microsoft.com/office/drawing/2014/main" id="{4C6E5ED9-D090-4D1A-9DA3-0B906A3ED8A7}"/>
              </a:ext>
            </a:extLst>
          </p:cNvPr>
          <p:cNvSpPr>
            <a:spLocks xmlns:a="http://schemas.openxmlformats.org/drawingml/2006/main" noGrp="1"/>
          </p:cNvSpPr>
          <p:nvPr/>
        </p:nvSpPr>
        <p:spPr>
          <a:xfrm xmlns:a="http://schemas.openxmlformats.org/drawingml/2006/main">
            <a:off x="685800" y="1524000"/>
            <a:ext cx="2857500" cy="61912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Emergency recovery?</a:t>
            </a:r>
          </a:p>
        </p:txBody>
      </p:sp>
      <p:sp>
        <p:nvSpPr>
          <p:cNvPr id="3" name="">
            <a:extLst xmlns:a="http://schemas.openxmlformats.org/drawingml/2006/main">
              <a:ext uri="{FF2B5EF4-FFF2-40B4-BE49-F238E27FC236}">
                <a16:creationId xmlns:a16="http://schemas.microsoft.com/office/drawing/2014/main" id="{B5DC03A7-D9A5-4AF0-BE47-E382D8A977C2}"/>
              </a:ext>
            </a:extLst>
          </p:cNvPr>
          <p:cNvSpPr>
            <a:spLocks xmlns:a="http://schemas.openxmlformats.org/drawingml/2006/main" noGrp="1"/>
          </p:cNvSpPr>
          <p:nvPr/>
        </p:nvSpPr>
        <p:spPr>
          <a:xfrm xmlns:a="http://schemas.openxmlformats.org/drawingml/2006/main">
            <a:off x="8334375" y="1524000"/>
            <a:ext cx="3171825" cy="619125"/>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Yes: bypass gate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Use recovery assignment</a:t>
            </a:r>
          </a:p>
        </p:txBody>
      </p:sp>
      <p:sp>
        <p:nvSpPr>
          <p:cNvPr id="5" name="">
            <a:extLst xmlns:a="http://schemas.openxmlformats.org/drawingml/2006/main">
              <a:ext uri="{FF2B5EF4-FFF2-40B4-BE49-F238E27FC236}">
                <a16:creationId xmlns:a16="http://schemas.microsoft.com/office/drawing/2014/main" id="{BA68B719-B176-4185-9B0E-72DE8AEBDAC7}"/>
              </a:ext>
            </a:extLst>
          </p:cNvPr>
          <p:cNvSpPr>
            <a:spLocks xmlns:a="http://schemas.openxmlformats.org/drawingml/2006/main" noGrp="1"/>
          </p:cNvSpPr>
          <p:nvPr/>
        </p:nvSpPr>
        <p:spPr>
          <a:xfrm xmlns:a="http://schemas.openxmlformats.org/drawingml/2006/main">
            <a:off x="5619750" y="1438275"/>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yes</a:t>
            </a:r>
          </a:p>
        </p:txBody>
      </p:sp>
      <p:sp>
        <p:nvSpPr>
          <p:cNvPr id="6" name="">
            <a:extLst xmlns:a="http://schemas.openxmlformats.org/drawingml/2006/main">
              <a:ext uri="{FF2B5EF4-FFF2-40B4-BE49-F238E27FC236}">
                <a16:creationId xmlns:a16="http://schemas.microsoft.com/office/drawing/2014/main" id="{40DEC31C-D38A-4068-89EE-154D757B6AED}"/>
              </a:ext>
            </a:extLst>
          </p:cNvPr>
          <p:cNvSpPr>
            <a:spLocks xmlns:a="http://schemas.openxmlformats.org/drawingml/2006/main" noGrp="1"/>
          </p:cNvSpPr>
          <p:nvPr/>
        </p:nvSpPr>
        <p:spPr>
          <a:xfrm xmlns:a="http://schemas.openxmlformats.org/drawingml/2006/main">
            <a:off x="685800" y="2714625"/>
            <a:ext cx="2857500" cy="71437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No: utility + hysteresis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must already pass</a:t>
            </a:r>
          </a:p>
        </p:txBody>
      </p:sp>
      <p:sp>
        <p:nvSpPr>
          <p:cNvPr id="8" name="">
            <a:extLst xmlns:a="http://schemas.openxmlformats.org/drawingml/2006/main">
              <a:ext uri="{FF2B5EF4-FFF2-40B4-BE49-F238E27FC236}">
                <a16:creationId xmlns:a16="http://schemas.microsoft.com/office/drawing/2014/main" id="{08DF418A-AC6D-438D-B64C-A95D0EB8DCAE}"/>
              </a:ext>
            </a:extLst>
          </p:cNvPr>
          <p:cNvSpPr>
            <a:spLocks xmlns:a="http://schemas.openxmlformats.org/drawingml/2006/main" noGrp="1"/>
          </p:cNvSpPr>
          <p:nvPr/>
        </p:nvSpPr>
        <p:spPr>
          <a:xfrm xmlns:a="http://schemas.openxmlformats.org/drawingml/2006/main">
            <a:off x="4572000" y="2714625"/>
            <a:ext cx="2857500" cy="71437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Migration route exists?</a:t>
            </a:r>
          </a:p>
        </p:txBody>
      </p:sp>
      <p:sp>
        <p:nvSpPr>
          <p:cNvPr id="9" name="">
            <a:extLst xmlns:a="http://schemas.openxmlformats.org/drawingml/2006/main">
              <a:ext uri="{FF2B5EF4-FFF2-40B4-BE49-F238E27FC236}">
                <a16:creationId xmlns:a16="http://schemas.microsoft.com/office/drawing/2014/main" id="{B8B558FE-0D01-4267-95FC-C354B5AF4F69}"/>
              </a:ext>
            </a:extLst>
          </p:cNvPr>
          <p:cNvSpPr>
            <a:spLocks xmlns:a="http://schemas.openxmlformats.org/drawingml/2006/main" noGrp="1"/>
          </p:cNvSpPr>
          <p:nvPr/>
        </p:nvSpPr>
        <p:spPr>
          <a:xfrm xmlns:a="http://schemas.openxmlformats.org/drawingml/2006/main">
            <a:off x="8667750" y="2714625"/>
            <a:ext cx="2838450" cy="71437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No: reject optional move</a:t>
            </a:r>
          </a:p>
        </p:txBody>
      </p:sp>
      <p:sp>
        <p:nvSpPr>
          <p:cNvPr id="12" name="">
            <a:extLst xmlns:a="http://schemas.openxmlformats.org/drawingml/2006/main">
              <a:ext uri="{FF2B5EF4-FFF2-40B4-BE49-F238E27FC236}">
                <a16:creationId xmlns:a16="http://schemas.microsoft.com/office/drawing/2014/main" id="{66A31F70-B93A-4890-A107-9BB0376A23D4}"/>
              </a:ext>
            </a:extLst>
          </p:cNvPr>
          <p:cNvSpPr>
            <a:spLocks xmlns:a="http://schemas.openxmlformats.org/drawingml/2006/main" noGrp="1"/>
          </p:cNvSpPr>
          <p:nvPr/>
        </p:nvSpPr>
        <p:spPr>
          <a:xfrm xmlns:a="http://schemas.openxmlformats.org/drawingml/2006/main">
            <a:off x="7658100" y="2619375"/>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no</a:t>
            </a:r>
          </a:p>
        </p:txBody>
      </p:sp>
      <p:sp>
        <p:nvSpPr>
          <p:cNvPr id="13" name="">
            <a:extLst xmlns:a="http://schemas.openxmlformats.org/drawingml/2006/main">
              <a:ext uri="{FF2B5EF4-FFF2-40B4-BE49-F238E27FC236}">
                <a16:creationId xmlns:a16="http://schemas.microsoft.com/office/drawing/2014/main" id="{148CD441-03B5-46F2-89D6-275B0C6D26CA}"/>
              </a:ext>
            </a:extLst>
          </p:cNvPr>
          <p:cNvSpPr>
            <a:spLocks xmlns:a="http://schemas.openxmlformats.org/drawingml/2006/main" noGrp="1"/>
          </p:cNvSpPr>
          <p:nvPr/>
        </p:nvSpPr>
        <p:spPr>
          <a:xfrm xmlns:a="http://schemas.openxmlformats.org/drawingml/2006/main">
            <a:off x="4572000" y="4000500"/>
            <a:ext cx="3524250" cy="714375"/>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Yes: estimate route energy</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and projected reserve benefit</a:t>
            </a:r>
          </a:p>
        </p:txBody>
      </p:sp>
      <p:sp>
        <p:nvSpPr>
          <p:cNvPr id="15" name="">
            <a:extLst xmlns:a="http://schemas.openxmlformats.org/drawingml/2006/main">
              <a:ext uri="{FF2B5EF4-FFF2-40B4-BE49-F238E27FC236}">
                <a16:creationId xmlns:a16="http://schemas.microsoft.com/office/drawing/2014/main" id="{0D4BD37D-9189-4052-9184-B492B82A3BA2}"/>
              </a:ext>
            </a:extLst>
          </p:cNvPr>
          <p:cNvSpPr>
            <a:spLocks xmlns:a="http://schemas.openxmlformats.org/drawingml/2006/main" noGrp="1"/>
          </p:cNvSpPr>
          <p:nvPr/>
        </p:nvSpPr>
        <p:spPr>
          <a:xfrm xmlns:a="http://schemas.openxmlformats.org/drawingml/2006/main">
            <a:off x="685800" y="5191125"/>
            <a:ext cx="10820400" cy="8572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Benefit &gt; route energy + margin?</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Yes: send MIGRATE, then update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No: retain current holder</a:t>
            </a:r>
          </a:p>
        </p:txBody>
      </p:sp>
      <p:sp>
        <p:nvSpPr>
          <p:cNvPr id="17" name="">
            <a:extLst xmlns:a="http://schemas.openxmlformats.org/drawingml/2006/main">
              <a:ext uri="{FF2B5EF4-FFF2-40B4-BE49-F238E27FC236}">
                <a16:creationId xmlns:a16="http://schemas.microsoft.com/office/drawing/2014/main" id="{5407E527-78F3-4A07-9ECF-C2CB052F3602}"/>
              </a:ext>
            </a:extLst>
          </p:cNvPr>
          <p:cNvSpPr>
            <a:spLocks xmlns:a="http://schemas.openxmlformats.org/drawingml/2006/main" noGrp="1"/>
          </p:cNvSpPr>
          <p:nvPr/>
        </p:nvSpPr>
        <p:spPr>
          <a:xfrm xmlns:a="http://schemas.openxmlformats.org/drawingml/2006/main">
            <a:off x="685800" y="3714750"/>
            <a:ext cx="371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112B3C"/>
                </a:solidFill>
                <a:latin typeface="Arial"/>
                <a:ea typeface="Arial"/>
                <a:cs typeface="Arial"/>
              </a:defRPr>
            </a:defPPr>
          </a:lstStyle>
          <a:p xmlns:a="http://schemas.openxmlformats.org/drawingml/2006/main">
            <a:pPr>
              <a:defRPr sz="1575" b="0">
                <a:solidFill>
                  <a:srgbClr val="112B3C"/>
                </a:solidFill>
                <a:latin typeface="Arial"/>
                <a:ea typeface="Arial"/>
                <a:cs typeface="Arial"/>
              </a:defRPr>
            </a:pPr>
            <a:r>
              <a:rPr sz="1575" b="0">
                <a:solidFill>
                  <a:srgbClr val="112B3C"/>
                </a:solidFill>
                <a:latin typeface="Arial"/>
                <a:ea typeface="Arial"/>
                <a:cs typeface="Arial"/>
              </a:rPr>
              <a:t>Eproj = clamp(E + H(h − c),</a:t>
            </a:r>
          </a:p>
          <a:p xmlns:a="http://schemas.openxmlformats.org/drawingml/2006/main">
            <a:pPr>
              <a:defRPr sz="1575" b="0">
                <a:solidFill>
                  <a:srgbClr val="112B3C"/>
                </a:solidFill>
                <a:latin typeface="Arial"/>
                <a:ea typeface="Arial"/>
                <a:cs typeface="Arial"/>
              </a:defRPr>
            </a:pPr>
            <a:r>
              <a:rPr sz="1575" b="0">
                <a:solidFill>
                  <a:srgbClr val="112B3C"/>
                </a:solidFill>
                <a:latin typeface="Arial"/>
                <a:ea typeface="Arial"/>
                <a:cs typeface="Arial"/>
              </a:rPr>
              <a:t>                       0, capacity)</a:t>
            </a:r>
          </a:p>
          <a:p xmlns:a="http://schemas.openxmlformats.org/drawingml/2006/main">
            <a:pPr>
              <a:defRPr sz="1575" b="0">
                <a:solidFill>
                  <a:srgbClr val="112B3C"/>
                </a:solidFill>
                <a:latin typeface="Arial"/>
                <a:ea typeface="Arial"/>
                <a:cs typeface="Arial"/>
              </a:defRPr>
            </a:pPr>
            <a:r>
              <a:rPr sz="1575" b="0">
                <a:solidFill>
                  <a:srgbClr val="112B3C"/>
                </a:solidFill>
                <a:latin typeface="Arial"/>
                <a:ea typeface="Arial"/>
                <a:cs typeface="Arial"/>
              </a:rPr>
              <a:t>Usable = max(0, Eproj − reserve)</a:t>
            </a:r>
          </a:p>
        </p:txBody>
      </p:sp>
      <p:sp>
        <p:nvSpPr>
          <p:cNvPr id="18" name="">
            <a:extLst xmlns:a="http://schemas.openxmlformats.org/drawingml/2006/main">
              <a:ext uri="{FF2B5EF4-FFF2-40B4-BE49-F238E27FC236}">
                <a16:creationId xmlns:a16="http://schemas.microsoft.com/office/drawing/2014/main" id="{3815D4B4-1CB2-48D7-9AC5-B0B542F2F30A}"/>
              </a:ext>
            </a:extLst>
          </p:cNvPr>
          <p:cNvSpPr>
            <a:spLocks xmlns:a="http://schemas.openxmlformats.org/drawingml/2006/main" noGrp="1"/>
          </p:cNvSpPr>
          <p:nvPr/>
        </p:nvSpPr>
        <p:spPr>
          <a:xfrm xmlns:a="http://schemas.openxmlformats.org/drawingml/2006/main">
            <a:off x="685800" y="466725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26775"/>
                </a:solidFill>
                <a:latin typeface="Arial"/>
                <a:ea typeface="Arial"/>
                <a:cs typeface="Arial"/>
              </a:defRPr>
            </a:defPPr>
          </a:lstStyle>
          <a:p xmlns:a="http://schemas.openxmlformats.org/drawingml/2006/main">
            <a:pPr>
              <a:defRPr sz="1425" b="0">
                <a:solidFill>
                  <a:srgbClr val="526775"/>
                </a:solidFill>
                <a:latin typeface="Arial"/>
                <a:ea typeface="Arial"/>
                <a:cs typeface="Arial"/>
              </a:defRPr>
            </a:pPr>
            <a:r>
              <a:rPr sz="1425" b="0">
                <a:solidFill>
                  <a:srgbClr val="526775"/>
                </a:solidFill>
                <a:latin typeface="Arial"/>
                <a:ea typeface="Arial"/>
                <a:cs typeface="Arial"/>
              </a:rPr>
              <a:t>h: harvest per tick, c: observed mean use</a:t>
            </a:r>
          </a:p>
          <a:p xmlns:a="http://schemas.openxmlformats.org/drawingml/2006/main">
            <a:pPr>
              <a:defRPr sz="1425" b="0">
                <a:solidFill>
                  <a:srgbClr val="526775"/>
                </a:solidFill>
                <a:latin typeface="Arial"/>
                <a:ea typeface="Arial"/>
                <a:cs typeface="Arial"/>
              </a:defRPr>
            </a:pPr>
            <a:r>
              <a:rPr sz="1425" b="0">
                <a:solidFill>
                  <a:srgbClr val="526775"/>
                </a:solidFill>
                <a:latin typeface="Arial"/>
                <a:ea typeface="Arial"/>
                <a:cs typeface="Arial"/>
              </a:rPr>
              <a:t>H: projection horizon</a:t>
            </a:r>
          </a:p>
        </p:txBody>
      </p:sp>
      <p:sp>
        <p:nvSpPr>
          <p:cNvPr id="19" name="">
            <a:extLst xmlns:a="http://schemas.openxmlformats.org/drawingml/2006/main">
              <a:ext uri="{FF2B5EF4-FFF2-40B4-BE49-F238E27FC236}">
                <a16:creationId xmlns:a16="http://schemas.microsoft.com/office/drawing/2014/main" id="{1F9C648D-37B2-4A69-B358-41D3DC2A4A77}"/>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09 / 12</a:t>
            </a:r>
          </a:p>
        </p:txBody>
      </p:sp>
      <p:sp>
        <p:nvSpPr>
          <p:cNvPr id="20" name="">
            <a:extLst xmlns:a="http://schemas.openxmlformats.org/drawingml/2006/main">
              <a:ext uri="{FF2B5EF4-FFF2-40B4-BE49-F238E27FC236}">
                <a16:creationId xmlns:a16="http://schemas.microsoft.com/office/drawing/2014/main" id="{D38ADDC4-B8C4-422D-A031-C81D877D57FB}"/>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simulation/protocols.py: _consider_cost_aware_migration; _solar_migration_is_worthwhile; _projected_reserve_energy; _migrate</a:t>
            </a:r>
          </a:p>
        </p:txBody>
      </p:sp>
    </p:spTree>
    <p:extLst>
      <p:ext uri="{BB962C8B-B14F-4D97-AF65-F5344CB8AC3E}">
        <p14:creationId xmlns:p14="http://schemas.microsoft.com/office/powerpoint/2010/main" val="280340744"/>
      </p:ext>
    </p:extLst>
  </p:cSld>
</p:sld>
</file>

<file path=ppt/slides/slide1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43DEB1-107E-4086-95E5-FED56906278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Reproducible four-arm simulation</a:t>
            </a:r>
          </a:p>
        </p:txBody>
      </p:sp>
      <p:sp>
        <p:nvSpPr>
          <p:cNvPr id="2" name="">
            <a:extLst xmlns:a="http://schemas.openxmlformats.org/drawingml/2006/main">
              <a:ext uri="{FF2B5EF4-FFF2-40B4-BE49-F238E27FC236}">
                <a16:creationId xmlns:a16="http://schemas.microsoft.com/office/drawing/2014/main" id="{9AFB7A7A-B4FF-4216-86CC-F823F8212C17}"/>
              </a:ext>
            </a:extLst>
          </p:cNvPr>
          <p:cNvSpPr>
            <a:spLocks xmlns:a="http://schemas.openxmlformats.org/drawingml/2006/main" noGrp="1"/>
          </p:cNvSpPr>
          <p:nvPr/>
        </p:nvSpPr>
        <p:spPr>
          <a:xfrm xmlns:a="http://schemas.openxmlformats.org/drawingml/2006/main">
            <a:off x="685800" y="14763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30 matched seeds × 4 scenarios × 4 arms × 20,000 ticks = 480 runs</a:t>
            </a:r>
          </a:p>
        </p:txBody>
      </p:sp>
      <p:graphicFrame>
        <p:nvGraphicFramePr>
          <p:cNvPr id="3" name="">
            <a:extLst xmlns:a="http://schemas.openxmlformats.org/drawingml/2006/main">
              <a:ext uri="{FF2B5EF4-FFF2-40B4-BE49-F238E27FC236}">
                <a16:creationId xmlns:a16="http://schemas.microsoft.com/office/drawing/2014/main" id="{CC516EE2-EA12-4B24-B5A0-07ACFE3239E2}"/>
              </a:ext>
            </a:extLst>
          </p:cNvPr>
          <p:cNvGraphicFramePr/>
          <p:nvPr/>
        </p:nvGraphicFramePr>
        <p:xfrm>
          <a:off xmlns:a="http://schemas.openxmlformats.org/drawingml/2006/main" x="609600" y="2133600"/>
          <a:ext xmlns:a="http://schemas.openxmlformats.org/drawingml/2006/main" cx="10972800" cy="2952750"/>
        </p:xfrm>
        <a:graphic xmlns:a="http://schemas.openxmlformats.org/drawingml/2006/main">
          <a:graphicData uri="http://schemas.openxmlformats.org/drawingml/2006/table">
            <a:tbl>
              <a:tblPr/>
              <a:tblGrid>
                <a:gridCol w="857250"/>
                <a:gridCol w="2571750"/>
                <a:gridCol w="2286000"/>
                <a:gridCol w="952500"/>
                <a:gridCol w="4305300"/>
              </a:tblGrid>
              <a:tr h="590550">
                <a:tc>
                  <a:txBody>
                    <a:bodyPr lIns="85725" tIns="85725" rIns="85725" bIns="85725"/>
                    <a:lstStyle/>
                    <a:p>
                      <a:r>
                        <a:rPr sz="1725" b="1">
                          <a:solidFill>
                            <a:srgbClr val="FFFFFF"/>
                          </a:solidFill>
                          <a:latin typeface="Arial"/>
                          <a:ea typeface="Arial"/>
                          <a:cs typeface="Arial"/>
                        </a:rPr>
                        <a:t>Arm</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Role policy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Harvest</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Gate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Contrast</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590550">
                <a:tc>
                  <a:txBody>
                    <a:bodyPr lIns="85725" tIns="85725" rIns="85725" bIns="85725"/>
                    <a:lstStyle/>
                    <a:p>
                      <a:r>
                        <a:rPr sz="1725" b="0">
                          <a:solidFill>
                            <a:srgbClr val="112B3C"/>
                          </a:solidFill>
                          <a:latin typeface="Arial"/>
                          <a:ea typeface="Arial"/>
                          <a:cs typeface="Arial"/>
                        </a:rPr>
                        <a:t>A</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Fixed hierarchy</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None</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Baseline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90550">
                <a:tc>
                  <a:txBody>
                    <a:bodyPr lIns="85725" tIns="85725" rIns="85725" bIns="85725"/>
                    <a:lstStyle/>
                    <a:p>
                      <a:r>
                        <a:rPr sz="1725" b="0">
                          <a:solidFill>
                            <a:srgbClr val="112B3C"/>
                          </a:solidFill>
                          <a:latin typeface="Arial"/>
                          <a:ea typeface="Arial"/>
                          <a:cs typeface="Arial"/>
                        </a:rPr>
                        <a:t>B</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Proposed leases</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None</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B − A: bundled policy</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90550">
                <a:tc>
                  <a:txBody>
                    <a:bodyPr lIns="85725" tIns="85725" rIns="85725" bIns="85725"/>
                    <a:lstStyle/>
                    <a:p>
                      <a:r>
                        <a:rPr sz="1725" b="0">
                          <a:solidFill>
                            <a:srgbClr val="112B3C"/>
                          </a:solidFill>
                          <a:latin typeface="Arial"/>
                          <a:ea typeface="Arial"/>
                          <a:cs typeface="Arial"/>
                        </a:rPr>
                        <a:t>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Proposed leases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.0002 × node factor</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C − B: harvest</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90550">
                <a:tc>
                  <a:txBody>
                    <a:bodyPr lIns="85725" tIns="85725" rIns="85725" bIns="85725"/>
                    <a:lstStyle/>
                    <a:p>
                      <a:r>
                        <a:rPr sz="1725" b="0">
                          <a:solidFill>
                            <a:srgbClr val="112B3C"/>
                          </a:solidFill>
                          <a:latin typeface="Arial"/>
                          <a:ea typeface="Arial"/>
                          <a:cs typeface="Arial"/>
                        </a:rPr>
                        <a:t>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Proposed leases</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.0002 × node factor</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D − C: gate</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4" name="">
            <a:extLst xmlns:a="http://schemas.openxmlformats.org/drawingml/2006/main">
              <a:ext uri="{FF2B5EF4-FFF2-40B4-BE49-F238E27FC236}">
                <a16:creationId xmlns:a16="http://schemas.microsoft.com/office/drawing/2014/main" id="{7031969A-300B-4906-BD30-27799110776D}"/>
              </a:ext>
            </a:extLst>
          </p:cNvPr>
          <p:cNvSpPr>
            <a:spLocks xmlns:a="http://schemas.openxmlformats.org/drawingml/2006/main" noGrp="1"/>
          </p:cNvSpPr>
          <p:nvPr/>
        </p:nvSpPr>
        <p:spPr>
          <a:xfrm xmlns:a="http://schemas.openxmlformats.org/drawingml/2006/main">
            <a:off x="685800" y="5391150"/>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All arms share the seeded topology and event schedule. Cluster gap 1.5 ranges,</a:t>
            </a:r>
          </a:p>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distance-energy weight 1, backhaul on. Proposed arms retain leases across epochs.</a:t>
            </a:r>
          </a:p>
        </p:txBody>
      </p:sp>
      <p:sp>
        <p:nvSpPr>
          <p:cNvPr id="5" name="">
            <a:extLst xmlns:a="http://schemas.openxmlformats.org/drawingml/2006/main">
              <a:ext uri="{FF2B5EF4-FFF2-40B4-BE49-F238E27FC236}">
                <a16:creationId xmlns:a16="http://schemas.microsoft.com/office/drawing/2014/main" id="{9619E3AD-72F2-40D7-824A-81835FF0AC9B}"/>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10 / 12</a:t>
            </a:r>
          </a:p>
        </p:txBody>
      </p:sp>
      <p:sp>
        <p:nvSpPr>
          <p:cNvPr id="6" name="">
            <a:extLst xmlns:a="http://schemas.openxmlformats.org/drawingml/2006/main">
              <a:ext uri="{FF2B5EF4-FFF2-40B4-BE49-F238E27FC236}">
                <a16:creationId xmlns:a16="http://schemas.microsoft.com/office/drawing/2014/main" id="{792DC40B-BEDD-46E6-A38A-2CB8D8655EF8}"/>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patent-study/run_patent_study.py; simulation/config.py; .presentation_build/tests.txt</a:t>
            </a:r>
          </a:p>
        </p:txBody>
      </p:sp>
    </p:spTree>
    <p:extLst>
      <p:ext uri="{BB962C8B-B14F-4D97-AF65-F5344CB8AC3E}">
        <p14:creationId xmlns:p14="http://schemas.microsoft.com/office/powerpoint/2010/main" val="1744328407"/>
      </p:ext>
    </p:extLst>
  </p:cSld>
</p:sld>
</file>

<file path=ppt/slides/slide1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D6DF56-06E4-4129-9293-9D713BC4D6F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Results: service, delivery, energy, and lifetime</a:t>
            </a:r>
          </a:p>
        </p:txBody>
      </p:sp>
      <p:sp>
        <p:nvSpPr>
          <p:cNvPr id="2" name="">
            <a:extLst xmlns:a="http://schemas.openxmlformats.org/drawingml/2006/main">
              <a:ext uri="{FF2B5EF4-FFF2-40B4-BE49-F238E27FC236}">
                <a16:creationId xmlns:a16="http://schemas.microsoft.com/office/drawing/2014/main" id="{AAB50277-BCBD-4224-AD7E-74A76761E880}"/>
              </a:ext>
            </a:extLst>
          </p:cNvPr>
          <p:cNvSpPr>
            <a:spLocks xmlns:a="http://schemas.openxmlformats.org/drawingml/2006/main" noGrp="1"/>
          </p:cNvSpPr>
          <p:nvPr/>
        </p:nvSpPr>
        <p:spPr>
          <a:xfrm xmlns:a="http://schemas.openxmlformats.org/drawingml/2006/main">
            <a:off x="685800" y="12001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775"/>
                </a:solidFill>
                <a:latin typeface="Arial"/>
                <a:ea typeface="Arial"/>
                <a:cs typeface="Arial"/>
              </a:defRPr>
            </a:defPPr>
          </a:lstStyle>
          <a:p xmlns:a="http://schemas.openxmlformats.org/drawingml/2006/main">
            <a:pPr>
              <a:defRPr sz="1650" b="0">
                <a:solidFill>
                  <a:srgbClr val="526775"/>
                </a:solidFill>
                <a:latin typeface="Arial"/>
                <a:ea typeface="Arial"/>
                <a:cs typeface="Arial"/>
              </a:defRPr>
            </a:pPr>
            <a:r>
              <a:rPr sz="1650" b="0">
                <a:solidFill>
                  <a:srgbClr val="526775"/>
                </a:solidFill>
                <a:latin typeface="Arial"/>
                <a:ea typeface="Arial"/>
                <a:cs typeface="Arial"/>
              </a:rPr>
              <a:t>Normal B − A delivery: +68.02 percentage points (95% paired CI +65.68 to +70.35)</a:t>
            </a:r>
          </a:p>
        </p:txBody>
      </p:sp>
      <p:graphicFrame>
        <p:nvGraphicFramePr>
          <p:cNvPr id="3" name="Chart">
            <a:extLst xmlns:a="http://schemas.openxmlformats.org/drawingml/2006/main">
              <a:ext uri="{FF2B5EF4-FFF2-40B4-BE49-F238E27FC236}">
                <a16:creationId xmlns:a16="http://schemas.microsoft.com/office/drawing/2014/main" id="{D1E5B186-2316-49C8-B923-693702C25D2E}"/>
              </a:ext>
            </a:extLst>
          </p:cNvPr>
          <p:cNvGraphicFramePr/>
          <p:nvPr/>
        </p:nvGraphicFramePr>
        <p:xfrm>
          <a:off xmlns:a="http://schemas.openxmlformats.org/drawingml/2006/main" x="609600" y="1514475"/>
          <a:ext xmlns:a="http://schemas.openxmlformats.org/drawingml/2006/main" cx="5257800" cy="1847850"/>
        </p:xfrm>
        <a:graphic xmlns:a="http://schemas.openxmlformats.org/drawingml/2006/main">
          <a:graphicData uri="http://schemas.openxmlformats.org/drawingml/2006/chart">
            <c:chart xmlns:r="http://schemas.openxmlformats.org/officeDocument/2006/relationships" xmlns:c="http://schemas.openxmlformats.org/drawingml/2006/chart" r:id="Rbaa22fcf895440d9"/>
          </a:graphicData>
        </a:graphic>
      </p:graphicFrame>
      <p:graphicFrame>
        <p:nvGraphicFramePr>
          <p:cNvPr id="4" name="Chart">
            <a:extLst xmlns:a="http://schemas.openxmlformats.org/drawingml/2006/main">
              <a:ext uri="{FF2B5EF4-FFF2-40B4-BE49-F238E27FC236}">
                <a16:creationId xmlns:a16="http://schemas.microsoft.com/office/drawing/2014/main" id="{9747ABDA-B938-4E86-A202-215FC05A947C}"/>
              </a:ext>
            </a:extLst>
          </p:cNvPr>
          <p:cNvGraphicFramePr/>
          <p:nvPr/>
        </p:nvGraphicFramePr>
        <p:xfrm>
          <a:off xmlns:a="http://schemas.openxmlformats.org/drawingml/2006/main" x="6324600" y="1514475"/>
          <a:ext xmlns:a="http://schemas.openxmlformats.org/drawingml/2006/main" cx="5257800" cy="1847850"/>
        </p:xfrm>
        <a:graphic xmlns:a="http://schemas.openxmlformats.org/drawingml/2006/main">
          <a:graphicData uri="http://schemas.openxmlformats.org/drawingml/2006/chart">
            <c:chart xmlns:r="http://schemas.openxmlformats.org/officeDocument/2006/relationships" xmlns:c="http://schemas.openxmlformats.org/drawingml/2006/chart" r:id="R3a57241c0fc24d63"/>
          </a:graphicData>
        </a:graphic>
      </p:graphicFrame>
      <p:graphicFrame>
        <p:nvGraphicFramePr>
          <p:cNvPr id="5" name="Chart">
            <a:extLst xmlns:a="http://schemas.openxmlformats.org/drawingml/2006/main">
              <a:ext uri="{FF2B5EF4-FFF2-40B4-BE49-F238E27FC236}">
                <a16:creationId xmlns:a16="http://schemas.microsoft.com/office/drawing/2014/main" id="{0DACD3DF-A32A-4E8F-95E4-FC6C690A9B3A}"/>
              </a:ext>
            </a:extLst>
          </p:cNvPr>
          <p:cNvGraphicFramePr/>
          <p:nvPr/>
        </p:nvGraphicFramePr>
        <p:xfrm>
          <a:off xmlns:a="http://schemas.openxmlformats.org/drawingml/2006/main" x="609600" y="3457575"/>
          <a:ext xmlns:a="http://schemas.openxmlformats.org/drawingml/2006/main" cx="5257800" cy="1847850"/>
        </p:xfrm>
        <a:graphic xmlns:a="http://schemas.openxmlformats.org/drawingml/2006/main">
          <a:graphicData uri="http://schemas.openxmlformats.org/drawingml/2006/chart">
            <c:chart xmlns:r="http://schemas.openxmlformats.org/officeDocument/2006/relationships" xmlns:c="http://schemas.openxmlformats.org/drawingml/2006/chart" r:id="Rb6d02ab563284355"/>
          </a:graphicData>
        </a:graphic>
      </p:graphicFrame>
      <p:graphicFrame>
        <p:nvGraphicFramePr>
          <p:cNvPr id="6" name="Chart">
            <a:extLst xmlns:a="http://schemas.openxmlformats.org/drawingml/2006/main">
              <a:ext uri="{FF2B5EF4-FFF2-40B4-BE49-F238E27FC236}">
                <a16:creationId xmlns:a16="http://schemas.microsoft.com/office/drawing/2014/main" id="{A90A67C9-169F-406B-BF1E-1DF00A01C6A2}"/>
              </a:ext>
            </a:extLst>
          </p:cNvPr>
          <p:cNvGraphicFramePr/>
          <p:nvPr/>
        </p:nvGraphicFramePr>
        <p:xfrm>
          <a:off xmlns:a="http://schemas.openxmlformats.org/drawingml/2006/main" x="6324600" y="3457575"/>
          <a:ext xmlns:a="http://schemas.openxmlformats.org/drawingml/2006/main" cx="5257800" cy="1847850"/>
        </p:xfrm>
        <a:graphic xmlns:a="http://schemas.openxmlformats.org/drawingml/2006/main">
          <a:graphicData uri="http://schemas.openxmlformats.org/drawingml/2006/chart">
            <c:chart xmlns:r="http://schemas.openxmlformats.org/officeDocument/2006/relationships" xmlns:c="http://schemas.openxmlformats.org/drawingml/2006/chart" r:id="Ra9fc4ef6bc554d3b"/>
          </a:graphicData>
        </a:graphic>
      </p:graphicFrame>
      <p:sp>
        <p:nvSpPr>
          <p:cNvPr id="7" name="">
            <a:extLst xmlns:a="http://schemas.openxmlformats.org/drawingml/2006/main">
              <a:ext uri="{FF2B5EF4-FFF2-40B4-BE49-F238E27FC236}">
                <a16:creationId xmlns:a16="http://schemas.microsoft.com/office/drawing/2014/main" id="{DC712400-BD6B-4BDF-929F-CBA5A9F38755}"/>
              </a:ext>
            </a:extLst>
          </p:cNvPr>
          <p:cNvSpPr>
            <a:spLocks xmlns:a="http://schemas.openxmlformats.org/drawingml/2006/main" noGrp="1"/>
          </p:cNvSpPr>
          <p:nvPr/>
        </p:nvSpPr>
        <p:spPr>
          <a:xfrm xmlns:a="http://schemas.openxmlformats.org/drawingml/2006/main">
            <a:off x="685800" y="53721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Normal scenario, mean of 30 seeds. C / D lifetime values are right-censored at 20,000.</a:t>
            </a:r>
          </a:p>
        </p:txBody>
      </p:sp>
      <p:sp>
        <p:nvSpPr>
          <p:cNvPr id="8" name="">
            <a:extLst xmlns:a="http://schemas.openxmlformats.org/drawingml/2006/main">
              <a:ext uri="{FF2B5EF4-FFF2-40B4-BE49-F238E27FC236}">
                <a16:creationId xmlns:a16="http://schemas.microsoft.com/office/drawing/2014/main" id="{BA6C3708-DDA7-4D7B-8ADB-0E308D934C54}"/>
              </a:ext>
            </a:extLst>
          </p:cNvPr>
          <p:cNvSpPr>
            <a:spLocks xmlns:a="http://schemas.openxmlformats.org/drawingml/2006/main" noGrp="1"/>
          </p:cNvSpPr>
          <p:nvPr/>
        </p:nvSpPr>
        <p:spPr>
          <a:xfrm xmlns:a="http://schemas.openxmlformats.org/drawingml/2006/main">
            <a:off x="685800" y="57531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07F7B"/>
                </a:solidFill>
                <a:latin typeface="Arial"/>
                <a:ea typeface="Arial"/>
                <a:cs typeface="Arial"/>
              </a:defRPr>
            </a:defPPr>
          </a:lstStyle>
          <a:p xmlns:a="http://schemas.openxmlformats.org/drawingml/2006/main">
            <a:pPr>
              <a:defRPr sz="1725" b="1">
                <a:solidFill>
                  <a:srgbClr val="007F7B"/>
                </a:solidFill>
                <a:latin typeface="Arial"/>
                <a:ea typeface="Arial"/>
                <a:cs typeface="Arial"/>
              </a:defRPr>
            </a:pPr>
            <a:r>
              <a:rPr sz="1725" b="1">
                <a:solidFill>
                  <a:srgbClr val="007F7B"/>
                </a:solidFill>
                <a:latin typeface="Arial"/>
                <a:ea typeface="Arial"/>
                <a:cs typeface="Arial"/>
              </a:rPr>
              <a:t>Gate D − C: migrations −26.23   ·   energy/item +0.446 × 10⁻⁶</a:t>
            </a:r>
          </a:p>
          <a:p xmlns:a="http://schemas.openxmlformats.org/drawingml/2006/main">
            <a:pPr>
              <a:defRPr sz="1725" b="1">
                <a:solidFill>
                  <a:srgbClr val="007F7B"/>
                </a:solidFill>
                <a:latin typeface="Arial"/>
                <a:ea typeface="Arial"/>
                <a:cs typeface="Arial"/>
              </a:defRPr>
            </a:pPr>
            <a:r>
              <a:rPr sz="1725" b="1">
                <a:solidFill>
                  <a:srgbClr val="007F7B"/>
                </a:solidFill>
                <a:latin typeface="Arial"/>
                <a:ea typeface="Arial"/>
                <a:cs typeface="Arial"/>
              </a:rPr>
              <a:t>Total communication energy +0.730   ·   CSC change 0.000</a:t>
            </a:r>
          </a:p>
        </p:txBody>
      </p:sp>
      <p:sp>
        <p:nvSpPr>
          <p:cNvPr id="9" name="">
            <a:extLst xmlns:a="http://schemas.openxmlformats.org/drawingml/2006/main">
              <a:ext uri="{FF2B5EF4-FFF2-40B4-BE49-F238E27FC236}">
                <a16:creationId xmlns:a16="http://schemas.microsoft.com/office/drawing/2014/main" id="{69D8D264-72E5-4D7D-A73E-B1A1D4E4A517}"/>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11 / 12</a:t>
            </a:r>
          </a:p>
        </p:txBody>
      </p:sp>
      <p:sp>
        <p:nvSpPr>
          <p:cNvPr id="10" name="">
            <a:extLst xmlns:a="http://schemas.openxmlformats.org/drawingml/2006/main">
              <a:ext uri="{FF2B5EF4-FFF2-40B4-BE49-F238E27FC236}">
                <a16:creationId xmlns:a16="http://schemas.microsoft.com/office/drawing/2014/main" id="{76D97FA0-093A-4561-863C-DD5A14AAD90C}"/>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patent-study/results_20000/per_run_metrics.csv; paired_comparison.csv; threshold_crossings.csv</a:t>
            </a:r>
          </a:p>
        </p:txBody>
      </p:sp>
    </p:spTree>
    <p:extLst>
      <p:ext uri="{BB962C8B-B14F-4D97-AF65-F5344CB8AC3E}">
        <p14:creationId xmlns:p14="http://schemas.microsoft.com/office/powerpoint/2010/main" val="1125942120"/>
      </p:ext>
    </p:extLst>
  </p:cSld>
</p:sld>
</file>

<file path=ppt/slides/slide1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6715C7-4B26-446E-A151-81A2B31AB908}"/>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Limitations, novelty hypothesis, and conclusion</a:t>
            </a:r>
          </a:p>
        </p:txBody>
      </p:sp>
      <p:sp>
        <p:nvSpPr>
          <p:cNvPr id="2" name="">
            <a:extLst xmlns:a="http://schemas.openxmlformats.org/drawingml/2006/main">
              <a:ext uri="{FF2B5EF4-FFF2-40B4-BE49-F238E27FC236}">
                <a16:creationId xmlns:a16="http://schemas.microsoft.com/office/drawing/2014/main" id="{AFD49858-AC5B-4895-9C73-A733D05525A6}"/>
              </a:ext>
            </a:extLst>
          </p:cNvPr>
          <p:cNvSpPr>
            <a:spLocks xmlns:a="http://schemas.openxmlformats.org/drawingml/2006/main" noGrp="1"/>
          </p:cNvSpPr>
          <p:nvPr/>
        </p:nvSpPr>
        <p:spPr>
          <a:xfrm xmlns:a="http://schemas.openxmlformats.org/drawingml/2006/main">
            <a:off x="685800" y="1571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What the implementation demonstrates</a:t>
            </a:r>
          </a:p>
        </p:txBody>
      </p:sp>
      <p:sp>
        <p:nvSpPr>
          <p:cNvPr id="3" name="">
            <a:extLst xmlns:a="http://schemas.openxmlformats.org/drawingml/2006/main">
              <a:ext uri="{FF2B5EF4-FFF2-40B4-BE49-F238E27FC236}">
                <a16:creationId xmlns:a16="http://schemas.microsoft.com/office/drawing/2014/main" id="{CFE871B8-1F4D-48D5-A709-7F48DA1626B9}"/>
              </a:ext>
            </a:extLst>
          </p:cNvPr>
          <p:cNvSpPr>
            <a:spLocks xmlns:a="http://schemas.openxmlformats.org/drawingml/2006/main" noGrp="1"/>
          </p:cNvSpPr>
          <p:nvPr/>
        </p:nvSpPr>
        <p:spPr>
          <a:xfrm xmlns:a="http://schemas.openxmlformats.org/drawingml/2006/main">
            <a:off x="685800" y="20097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12B3C"/>
                </a:solidFill>
                <a:latin typeface="Arial"/>
                <a:ea typeface="Arial"/>
                <a:cs typeface="Arial"/>
              </a:defRPr>
            </a:defPPr>
          </a:lstStyle>
          <a:p xmlns:a="http://schemas.openxmlformats.org/drawingml/2006/main">
            <a:pPr>
              <a:defRPr sz="2325" b="0">
                <a:solidFill>
                  <a:srgbClr val="112B3C"/>
                </a:solidFill>
                <a:latin typeface="Arial"/>
                <a:ea typeface="Arial"/>
                <a:cs typeface="Arial"/>
              </a:defRPr>
            </a:pPr>
            <a:r>
              <a:rPr sz="2325" b="0">
                <a:solidFill>
                  <a:srgbClr val="112B3C"/>
                </a:solidFill>
                <a:latin typeface="Arial"/>
                <a:ea typeface="Arial"/>
                <a:cs typeface="Arial"/>
              </a:rPr>
              <a:t>Recursive capability + temporary leases + epoch handling + simulated recovery</a:t>
            </a:r>
          </a:p>
        </p:txBody>
      </p:sp>
      <p:sp>
        <p:nvSpPr>
          <p:cNvPr id="4" name="">
            <a:extLst xmlns:a="http://schemas.openxmlformats.org/drawingml/2006/main">
              <a:ext uri="{FF2B5EF4-FFF2-40B4-BE49-F238E27FC236}">
                <a16:creationId xmlns:a16="http://schemas.microsoft.com/office/drawing/2014/main" id="{5F9865AD-161F-4802-9724-0D6506CF0F30}"/>
              </a:ext>
            </a:extLst>
          </p:cNvPr>
          <p:cNvSpPr>
            <a:spLocks xmlns:a="http://schemas.openxmlformats.org/drawingml/2006/main" noGrp="1"/>
          </p:cNvSpPr>
          <p:nvPr/>
        </p:nvSpPr>
        <p:spPr>
          <a:xfrm xmlns:a="http://schemas.openxmlformats.org/drawingml/2006/main">
            <a:off x="685800" y="29051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What the experiments establish</a:t>
            </a:r>
          </a:p>
        </p:txBody>
      </p:sp>
      <p:sp>
        <p:nvSpPr>
          <p:cNvPr id="5" name="">
            <a:extLst xmlns:a="http://schemas.openxmlformats.org/drawingml/2006/main">
              <a:ext uri="{FF2B5EF4-FFF2-40B4-BE49-F238E27FC236}">
                <a16:creationId xmlns:a16="http://schemas.microsoft.com/office/drawing/2014/main" id="{550F7363-3C77-4D1B-903B-9D3DC688453D}"/>
              </a:ext>
            </a:extLst>
          </p:cNvPr>
          <p:cNvSpPr>
            <a:spLocks xmlns:a="http://schemas.openxmlformats.org/drawingml/2006/main" noGrp="1"/>
          </p:cNvSpPr>
          <p:nvPr/>
        </p:nvSpPr>
        <p:spPr>
          <a:xfrm xmlns:a="http://schemas.openxmlformats.org/drawingml/2006/main">
            <a:off x="685800" y="3343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Harvest sustains service in this configuration. The optional gate reduces some</a:t>
            </a:r>
          </a:p>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migrations, while its energy-efficiency advantage remains unproven.</a:t>
            </a:r>
          </a:p>
        </p:txBody>
      </p:sp>
      <p:sp>
        <p:nvSpPr>
          <p:cNvPr id="6" name="">
            <a:extLst xmlns:a="http://schemas.openxmlformats.org/drawingml/2006/main">
              <a:ext uri="{FF2B5EF4-FFF2-40B4-BE49-F238E27FC236}">
                <a16:creationId xmlns:a16="http://schemas.microsoft.com/office/drawing/2014/main" id="{2CD7617F-6653-4AD4-8FF2-165A31035F58}"/>
              </a:ext>
            </a:extLst>
          </p:cNvPr>
          <p:cNvSpPr>
            <a:spLocks xmlns:a="http://schemas.openxmlformats.org/drawingml/2006/main" noGrp="1"/>
          </p:cNvSpPr>
          <p:nvPr/>
        </p:nvSpPr>
        <p:spPr>
          <a:xfrm xmlns:a="http://schemas.openxmlformats.org/drawingml/2006/main">
            <a:off x="685800" y="45053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Limits and next steps</a:t>
            </a:r>
          </a:p>
        </p:txBody>
      </p:sp>
      <p:sp>
        <p:nvSpPr>
          <p:cNvPr id="7" name="">
            <a:extLst xmlns:a="http://schemas.openxmlformats.org/drawingml/2006/main">
              <a:ext uri="{FF2B5EF4-FFF2-40B4-BE49-F238E27FC236}">
                <a16:creationId xmlns:a16="http://schemas.microsoft.com/office/drawing/2014/main" id="{7305F799-78C3-4B04-A988-B2CD1ABC346C}"/>
              </a:ext>
            </a:extLst>
          </p:cNvPr>
          <p:cNvSpPr>
            <a:spLocks xmlns:a="http://schemas.openxmlformats.org/drawingml/2006/main" noGrp="1"/>
          </p:cNvSpPr>
          <p:nvPr/>
        </p:nvSpPr>
        <p:spPr>
          <a:xfrm xmlns:a="http://schemas.openxmlformats.org/drawingml/2006/main">
            <a:off x="685800" y="49530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Predefined hierarchy, global in-memory discovery, abstract radio / energy, no hardware validation.</a:t>
            </a:r>
          </a:p>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Add asynchronous messages, real role services, root delivery, and calibrated energy.</a:t>
            </a:r>
          </a:p>
        </p:txBody>
      </p:sp>
      <p:sp>
        <p:nvSpPr>
          <p:cNvPr id="8" name="">
            <a:extLst xmlns:a="http://schemas.openxmlformats.org/drawingml/2006/main">
              <a:ext uri="{FF2B5EF4-FFF2-40B4-BE49-F238E27FC236}">
                <a16:creationId xmlns:a16="http://schemas.microsoft.com/office/drawing/2014/main" id="{1217145F-481B-4EC3-81E0-654EDD101207}"/>
              </a:ext>
            </a:extLst>
          </p:cNvPr>
          <p:cNvSpPr>
            <a:spLocks xmlns:a="http://schemas.openxmlformats.org/drawingml/2006/main" noGrp="1"/>
          </p:cNvSpPr>
          <p:nvPr/>
        </p:nvSpPr>
        <p:spPr>
          <a:xfrm xmlns:a="http://schemas.openxmlformats.org/drawingml/2006/main">
            <a:off x="685800" y="59055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Novelty and patentability remain hypotheses requiring prior-art verification.</a:t>
            </a:r>
          </a:p>
        </p:txBody>
      </p:sp>
      <p:sp>
        <p:nvSpPr>
          <p:cNvPr id="9" name="">
            <a:extLst xmlns:a="http://schemas.openxmlformats.org/drawingml/2006/main">
              <a:ext uri="{FF2B5EF4-FFF2-40B4-BE49-F238E27FC236}">
                <a16:creationId xmlns:a16="http://schemas.microsoft.com/office/drawing/2014/main" id="{D0A931AB-F353-429F-AAC5-B45FCB7A54D1}"/>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12 / 12</a:t>
            </a:r>
          </a:p>
        </p:txBody>
      </p:sp>
      <p:sp>
        <p:nvSpPr>
          <p:cNvPr id="10" name="">
            <a:extLst xmlns:a="http://schemas.openxmlformats.org/drawingml/2006/main">
              <a:ext uri="{FF2B5EF4-FFF2-40B4-BE49-F238E27FC236}">
                <a16:creationId xmlns:a16="http://schemas.microsoft.com/office/drawing/2014/main" id="{629998FB-72DF-4961-8F29-E50AA8855B2D}"/>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 requirements.txt; patent-study/results_20000/paired_comparison.csv</a:t>
            </a:r>
          </a:p>
        </p:txBody>
      </p:sp>
    </p:spTree>
    <p:extLst>
      <p:ext uri="{BB962C8B-B14F-4D97-AF65-F5344CB8AC3E}">
        <p14:creationId xmlns:p14="http://schemas.microsoft.com/office/powerpoint/2010/main" val="2138233014"/>
      </p:ext>
    </p:extLst>
  </p:cSld>
</p:sld>
</file>

<file path=ppt/slides/slide1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A1E99632-6184-4D4E-AA50-B4378486CF63}"/>
              </a:ext>
            </a:extLst>
          </p:cNvPr>
          <p:cNvCxnSpPr>
            <a:stCxn xmlns:a="http://schemas.openxmlformats.org/drawingml/2006/main" id="9" idx="1"/>
            <a:endCxn xmlns:a="http://schemas.openxmlformats.org/drawingml/2006/main" id="3" idx="2"/>
          </p:cNvCxnSpPr>
          <p:nvPr/>
        </p:nvCxnSpPr>
        <p:spPr>
          <a:xfrm xmlns:a="http://schemas.openxmlformats.org/drawingml/2006/main" flipH="1" flipV="1">
            <a:off x="2733675" y="4248150"/>
            <a:ext cx="1190625" cy="1019175"/>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0AB7EE93-FB7C-4145-A84A-93BE22139AE1}"/>
              </a:ext>
            </a:extLst>
          </p:cNvPr>
          <p:cNvCxnSpPr>
            <a:stCxn xmlns:a="http://schemas.openxmlformats.org/drawingml/2006/main" id="4" idx="2"/>
            <a:endCxn xmlns:a="http://schemas.openxmlformats.org/drawingml/2006/main" id="9" idx="3"/>
          </p:cNvCxnSpPr>
          <p:nvPr/>
        </p:nvCxnSpPr>
        <p:spPr>
          <a:xfrm xmlns:a="http://schemas.openxmlformats.org/drawingml/2006/main" flipH="1">
            <a:off x="8305800" y="4248150"/>
            <a:ext cx="1095375" cy="1019175"/>
          </a:xfrm>
          <a:prstGeom xmlns:a="http://schemas.openxmlformats.org/drawingml/2006/main" prst="bentConnector5">
            <a:avLst>
              <a:gd name="adj1" fmla="val 0"/>
              <a:gd name="adj2" fmla="val 22430"/>
              <a:gd name="adj3" fmla="val 79130"/>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54DB37CB-7066-4EEC-A334-33FEFE67EADD}"/>
              </a:ext>
            </a:extLst>
          </p:cNvPr>
          <p:cNvCxnSpPr>
            <a:stCxn xmlns:a="http://schemas.openxmlformats.org/drawingml/2006/main" id="3" idx="3"/>
            <a:endCxn xmlns:a="http://schemas.openxmlformats.org/drawingml/2006/main" id="4" idx="1"/>
          </p:cNvCxnSpPr>
          <p:nvPr/>
        </p:nvCxnSpPr>
        <p:spPr>
          <a:xfrm xmlns:a="http://schemas.openxmlformats.org/drawingml/2006/main">
            <a:off x="4781550" y="3743325"/>
            <a:ext cx="25717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61BA1E19-90BB-4A00-AFC4-4912CDA13B86}"/>
              </a:ext>
            </a:extLst>
          </p:cNvPr>
          <p:cNvCxnSpPr>
            <a:stCxn xmlns:a="http://schemas.openxmlformats.org/drawingml/2006/main" id="2" idx="2"/>
            <a:endCxn xmlns:a="http://schemas.openxmlformats.org/drawingml/2006/main" id="3" idx="0"/>
          </p:cNvCxnSpPr>
          <p:nvPr/>
        </p:nvCxnSpPr>
        <p:spPr>
          <a:xfrm xmlns:a="http://schemas.openxmlformats.org/drawingml/2006/main">
            <a:off x="2733675" y="2362200"/>
            <a:ext cx="0" cy="87630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5" name="">
            <a:extLst xmlns:a="http://schemas.openxmlformats.org/drawingml/2006/main">
              <a:ext uri="{FF2B5EF4-FFF2-40B4-BE49-F238E27FC236}">
                <a16:creationId xmlns:a16="http://schemas.microsoft.com/office/drawing/2014/main" id="{925A78C0-52BC-4AE2-8772-95218DCB08D9}"/>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Node lifecycle: online, failure, and recovery</a:t>
            </a:r>
          </a:p>
        </p:txBody>
      </p:sp>
      <p:sp>
        <p:nvSpPr>
          <p:cNvPr id="2" name="">
            <a:extLst xmlns:a="http://schemas.openxmlformats.org/drawingml/2006/main">
              <a:ext uri="{FF2B5EF4-FFF2-40B4-BE49-F238E27FC236}">
                <a16:creationId xmlns:a16="http://schemas.microsoft.com/office/drawing/2014/main" id="{FE5607E3-686F-4EC5-8C7F-93916A0321E0}"/>
              </a:ext>
            </a:extLst>
          </p:cNvPr>
          <p:cNvSpPr>
            <a:spLocks xmlns:a="http://schemas.openxmlformats.org/drawingml/2006/main" noGrp="1"/>
          </p:cNvSpPr>
          <p:nvPr/>
        </p:nvSpPr>
        <p:spPr>
          <a:xfrm xmlns:a="http://schemas.openxmlformats.org/drawingml/2006/main">
            <a:off x="1304925" y="1714500"/>
            <a:ext cx="2857500" cy="6477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Create NodeAgent</a:t>
            </a:r>
          </a:p>
        </p:txBody>
      </p:sp>
      <p:sp>
        <p:nvSpPr>
          <p:cNvPr id="3" name="">
            <a:extLst xmlns:a="http://schemas.openxmlformats.org/drawingml/2006/main">
              <a:ext uri="{FF2B5EF4-FFF2-40B4-BE49-F238E27FC236}">
                <a16:creationId xmlns:a16="http://schemas.microsoft.com/office/drawing/2014/main" id="{75491DDE-4B04-4B75-B970-BFCF4C5B2281}"/>
              </a:ext>
            </a:extLst>
          </p:cNvPr>
          <p:cNvSpPr>
            <a:spLocks xmlns:a="http://schemas.openxmlformats.org/drawingml/2006/main" noGrp="1"/>
          </p:cNvSpPr>
          <p:nvPr/>
        </p:nvSpPr>
        <p:spPr>
          <a:xfrm xmlns:a="http://schemas.openxmlformats.org/drawingml/2006/main">
            <a:off x="685800" y="3238500"/>
            <a:ext cx="4095750" cy="10096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ONLINE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for scoring and traffic</a:t>
            </a:r>
          </a:p>
        </p:txBody>
      </p:sp>
      <p:sp>
        <p:nvSpPr>
          <p:cNvPr id="4" name="">
            <a:extLst xmlns:a="http://schemas.openxmlformats.org/drawingml/2006/main">
              <a:ext uri="{FF2B5EF4-FFF2-40B4-BE49-F238E27FC236}">
                <a16:creationId xmlns:a16="http://schemas.microsoft.com/office/drawing/2014/main" id="{4A34D19F-34F2-4047-BF1F-810EC7A54522}"/>
              </a:ext>
            </a:extLst>
          </p:cNvPr>
          <p:cNvSpPr>
            <a:spLocks xmlns:a="http://schemas.openxmlformats.org/drawingml/2006/main" noGrp="1"/>
          </p:cNvSpPr>
          <p:nvPr/>
        </p:nvSpPr>
        <p:spPr>
          <a:xfrm xmlns:a="http://schemas.openxmlformats.org/drawingml/2006/main">
            <a:off x="7353300" y="3238500"/>
            <a:ext cx="4095750" cy="100965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FAILED</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Unavailable, capability = 0</a:t>
            </a:r>
          </a:p>
        </p:txBody>
      </p:sp>
      <p:sp>
        <p:nvSpPr>
          <p:cNvPr id="6" name="">
            <a:extLst xmlns:a="http://schemas.openxmlformats.org/drawingml/2006/main">
              <a:ext uri="{FF2B5EF4-FFF2-40B4-BE49-F238E27FC236}">
                <a16:creationId xmlns:a16="http://schemas.microsoft.com/office/drawing/2014/main" id="{03D2412F-D07D-46AC-9297-688F0CDFDA31}"/>
              </a:ext>
            </a:extLst>
          </p:cNvPr>
          <p:cNvSpPr>
            <a:spLocks xmlns:a="http://schemas.openxmlformats.org/drawingml/2006/main" noGrp="1"/>
          </p:cNvSpPr>
          <p:nvPr/>
        </p:nvSpPr>
        <p:spPr>
          <a:xfrm xmlns:a="http://schemas.openxmlformats.org/drawingml/2006/main">
            <a:off x="781050" y="26193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initial="online"</a:t>
            </a:r>
          </a:p>
        </p:txBody>
      </p:sp>
      <p:sp>
        <p:nvSpPr>
          <p:cNvPr id="8" name="">
            <a:extLst xmlns:a="http://schemas.openxmlformats.org/drawingml/2006/main">
              <a:ext uri="{FF2B5EF4-FFF2-40B4-BE49-F238E27FC236}">
                <a16:creationId xmlns:a16="http://schemas.microsoft.com/office/drawing/2014/main" id="{D1AD006C-5F9B-45CB-B480-B9521341A2DE}"/>
              </a:ext>
            </a:extLst>
          </p:cNvPr>
          <p:cNvSpPr>
            <a:spLocks xmlns:a="http://schemas.openxmlformats.org/drawingml/2006/main" noGrp="1"/>
          </p:cNvSpPr>
          <p:nvPr/>
        </p:nvSpPr>
        <p:spPr>
          <a:xfrm xmlns:a="http://schemas.openxmlformats.org/drawingml/2006/main">
            <a:off x="4857750" y="30003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fail() / energy reaches zero</a:t>
            </a:r>
          </a:p>
        </p:txBody>
      </p:sp>
      <p:sp>
        <p:nvSpPr>
          <p:cNvPr id="9" name="">
            <a:extLst xmlns:a="http://schemas.openxmlformats.org/drawingml/2006/main">
              <a:ext uri="{FF2B5EF4-FFF2-40B4-BE49-F238E27FC236}">
                <a16:creationId xmlns:a16="http://schemas.microsoft.com/office/drawing/2014/main" id="{B8E162AD-ECCF-4F89-ADB2-43AE4C75EB69}"/>
              </a:ext>
            </a:extLst>
          </p:cNvPr>
          <p:cNvSpPr>
            <a:spLocks xmlns:a="http://schemas.openxmlformats.org/drawingml/2006/main" noGrp="1"/>
          </p:cNvSpPr>
          <p:nvPr/>
        </p:nvSpPr>
        <p:spPr>
          <a:xfrm xmlns:a="http://schemas.openxmlformats.org/drawingml/2006/main">
            <a:off x="3924300" y="4857750"/>
            <a:ext cx="4381500" cy="8191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recover() event</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or depleted-node recharge to reserve</a:t>
            </a:r>
          </a:p>
        </p:txBody>
      </p:sp>
      <p:sp>
        <p:nvSpPr>
          <p:cNvPr id="12" name="">
            <a:extLst xmlns:a="http://schemas.openxmlformats.org/drawingml/2006/main">
              <a:ext uri="{FF2B5EF4-FFF2-40B4-BE49-F238E27FC236}">
                <a16:creationId xmlns:a16="http://schemas.microsoft.com/office/drawing/2014/main" id="{86C71B45-E7A6-41B8-8D20-5453F9BF3E6D}"/>
              </a:ext>
            </a:extLst>
          </p:cNvPr>
          <p:cNvSpPr>
            <a:spLocks xmlns:a="http://schemas.openxmlformats.org/drawingml/2006/main" noGrp="1"/>
          </p:cNvSpPr>
          <p:nvPr/>
        </p:nvSpPr>
        <p:spPr>
          <a:xfrm xmlns:a="http://schemas.openxmlformats.org/drawingml/2006/main">
            <a:off x="685800" y="5905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Role ownership is separate. An online node can hold zero, one, or several role leases.</a:t>
            </a:r>
          </a:p>
        </p:txBody>
      </p:sp>
      <p:sp>
        <p:nvSpPr>
          <p:cNvPr id="13" name="">
            <a:extLst xmlns:a="http://schemas.openxmlformats.org/drawingml/2006/main">
              <a:ext uri="{FF2B5EF4-FFF2-40B4-BE49-F238E27FC236}">
                <a16:creationId xmlns:a16="http://schemas.microsoft.com/office/drawing/2014/main" id="{DDA91FDB-C2A3-4163-98EE-3686F09021EA}"/>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13 / appendix</a:t>
            </a:r>
          </a:p>
        </p:txBody>
      </p:sp>
      <p:sp>
        <p:nvSpPr>
          <p:cNvPr id="14" name="">
            <a:extLst xmlns:a="http://schemas.openxmlformats.org/drawingml/2006/main">
              <a:ext uri="{FF2B5EF4-FFF2-40B4-BE49-F238E27FC236}">
                <a16:creationId xmlns:a16="http://schemas.microsoft.com/office/drawing/2014/main" id="{A7FC3968-C7C2-47E2-97E7-3E526F777913}"/>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nodes.py: NODE_STATES; simulation/runner.py: _fail_energy_empty_nodes; _harvest_solar_energy</a:t>
            </a:r>
          </a:p>
        </p:txBody>
      </p:sp>
    </p:spTree>
    <p:extLst>
      <p:ext uri="{BB962C8B-B14F-4D97-AF65-F5344CB8AC3E}">
        <p14:creationId xmlns:p14="http://schemas.microsoft.com/office/powerpoint/2010/main" val="327187295"/>
      </p:ext>
    </p:extLst>
  </p:cSld>
</p:sld>
</file>

<file path=ppt/slides/slide1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D6243FAC-FE2D-4E7F-BA53-AFC166890280}"/>
              </a:ext>
            </a:extLst>
          </p:cNvPr>
          <p:cNvCxnSpPr>
            <a:stCxn xmlns:a="http://schemas.openxmlformats.org/drawingml/2006/main" id="14" idx="3"/>
            <a:endCxn xmlns:a="http://schemas.openxmlformats.org/drawingml/2006/main" id="15" idx="1"/>
          </p:cNvCxnSpPr>
          <p:nvPr/>
        </p:nvCxnSpPr>
        <p:spPr>
          <a:xfrm xmlns:a="http://schemas.openxmlformats.org/drawingml/2006/main">
            <a:off x="5448300" y="4295775"/>
            <a:ext cx="15811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25" name="">
            <a:extLst xmlns:a="http://schemas.openxmlformats.org/drawingml/2006/main">
              <a:ext uri="{FF2B5EF4-FFF2-40B4-BE49-F238E27FC236}">
                <a16:creationId xmlns:a16="http://schemas.microsoft.com/office/drawing/2014/main" id="{32E040C7-D468-40FF-BFFA-1434006B6E92}"/>
              </a:ext>
            </a:extLst>
          </p:cNvPr>
          <p:cNvCxnSpPr>
            <a:stCxn xmlns:a="http://schemas.openxmlformats.org/drawingml/2006/main" id="13" idx="2"/>
            <a:endCxn xmlns:a="http://schemas.openxmlformats.org/drawingml/2006/main" id="14" idx="0"/>
          </p:cNvCxnSpPr>
          <p:nvPr/>
        </p:nvCxnSpPr>
        <p:spPr>
          <a:xfrm xmlns:a="http://schemas.openxmlformats.org/drawingml/2006/main" flipH="1">
            <a:off x="3067050" y="3200400"/>
            <a:ext cx="794099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4" name="">
            <a:extLst xmlns:a="http://schemas.openxmlformats.org/drawingml/2006/main">
              <a:ext uri="{FF2B5EF4-FFF2-40B4-BE49-F238E27FC236}">
                <a16:creationId xmlns:a16="http://schemas.microsoft.com/office/drawing/2014/main" id="{504A1FA2-971D-4778-8815-DCAACE360BA4}"/>
              </a:ext>
            </a:extLst>
          </p:cNvPr>
          <p:cNvCxnSpPr>
            <a:stCxn xmlns:a="http://schemas.openxmlformats.org/drawingml/2006/main" id="12" idx="2"/>
            <a:endCxn xmlns:a="http://schemas.openxmlformats.org/drawingml/2006/main" id="14" idx="0"/>
          </p:cNvCxnSpPr>
          <p:nvPr/>
        </p:nvCxnSpPr>
        <p:spPr>
          <a:xfrm xmlns:a="http://schemas.openxmlformats.org/drawingml/2006/main" flipH="1">
            <a:off x="3067050" y="3200400"/>
            <a:ext cx="684942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3" name="">
            <a:extLst xmlns:a="http://schemas.openxmlformats.org/drawingml/2006/main">
              <a:ext uri="{FF2B5EF4-FFF2-40B4-BE49-F238E27FC236}">
                <a16:creationId xmlns:a16="http://schemas.microsoft.com/office/drawing/2014/main" id="{B7D9F340-F8E1-459D-8210-C76D9281D0A8}"/>
              </a:ext>
            </a:extLst>
          </p:cNvPr>
          <p:cNvCxnSpPr>
            <a:stCxn xmlns:a="http://schemas.openxmlformats.org/drawingml/2006/main" id="11" idx="2"/>
            <a:endCxn xmlns:a="http://schemas.openxmlformats.org/drawingml/2006/main" id="14" idx="0"/>
          </p:cNvCxnSpPr>
          <p:nvPr/>
        </p:nvCxnSpPr>
        <p:spPr>
          <a:xfrm xmlns:a="http://schemas.openxmlformats.org/drawingml/2006/main" flipH="1">
            <a:off x="3067050" y="3200400"/>
            <a:ext cx="575786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2" name="">
            <a:extLst xmlns:a="http://schemas.openxmlformats.org/drawingml/2006/main">
              <a:ext uri="{FF2B5EF4-FFF2-40B4-BE49-F238E27FC236}">
                <a16:creationId xmlns:a16="http://schemas.microsoft.com/office/drawing/2014/main" id="{F0BD88DF-C218-4E0B-B112-2312D6D8FA09}"/>
              </a:ext>
            </a:extLst>
          </p:cNvPr>
          <p:cNvCxnSpPr>
            <a:stCxn xmlns:a="http://schemas.openxmlformats.org/drawingml/2006/main" id="10" idx="2"/>
            <a:endCxn xmlns:a="http://schemas.openxmlformats.org/drawingml/2006/main" id="14" idx="0"/>
          </p:cNvCxnSpPr>
          <p:nvPr/>
        </p:nvCxnSpPr>
        <p:spPr>
          <a:xfrm xmlns:a="http://schemas.openxmlformats.org/drawingml/2006/main" flipH="1">
            <a:off x="3067050" y="3200400"/>
            <a:ext cx="466629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1" name="">
            <a:extLst xmlns:a="http://schemas.openxmlformats.org/drawingml/2006/main">
              <a:ext uri="{FF2B5EF4-FFF2-40B4-BE49-F238E27FC236}">
                <a16:creationId xmlns:a16="http://schemas.microsoft.com/office/drawing/2014/main" id="{06FC2C78-B126-4A5A-8AF1-3F30C621DD0F}"/>
              </a:ext>
            </a:extLst>
          </p:cNvPr>
          <p:cNvCxnSpPr>
            <a:stCxn xmlns:a="http://schemas.openxmlformats.org/drawingml/2006/main" id="9" idx="2"/>
            <a:endCxn xmlns:a="http://schemas.openxmlformats.org/drawingml/2006/main" id="14" idx="0"/>
          </p:cNvCxnSpPr>
          <p:nvPr/>
        </p:nvCxnSpPr>
        <p:spPr>
          <a:xfrm xmlns:a="http://schemas.openxmlformats.org/drawingml/2006/main" flipH="1">
            <a:off x="3067050" y="3200400"/>
            <a:ext cx="3574732"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0" name="">
            <a:extLst xmlns:a="http://schemas.openxmlformats.org/drawingml/2006/main">
              <a:ext uri="{FF2B5EF4-FFF2-40B4-BE49-F238E27FC236}">
                <a16:creationId xmlns:a16="http://schemas.microsoft.com/office/drawing/2014/main" id="{78186546-A6CB-4BF5-A5E4-64301D0B0A9A}"/>
              </a:ext>
            </a:extLst>
          </p:cNvPr>
          <p:cNvCxnSpPr>
            <a:stCxn xmlns:a="http://schemas.openxmlformats.org/drawingml/2006/main" id="8" idx="2"/>
            <a:endCxn xmlns:a="http://schemas.openxmlformats.org/drawingml/2006/main" id="14" idx="0"/>
          </p:cNvCxnSpPr>
          <p:nvPr/>
        </p:nvCxnSpPr>
        <p:spPr>
          <a:xfrm xmlns:a="http://schemas.openxmlformats.org/drawingml/2006/main" flipH="1">
            <a:off x="3067050" y="3200400"/>
            <a:ext cx="2483167"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9" name="">
            <a:extLst xmlns:a="http://schemas.openxmlformats.org/drawingml/2006/main">
              <a:ext uri="{FF2B5EF4-FFF2-40B4-BE49-F238E27FC236}">
                <a16:creationId xmlns:a16="http://schemas.microsoft.com/office/drawing/2014/main" id="{9E93CF57-BCF8-4BC9-B4A9-D2744C9AC03D}"/>
              </a:ext>
            </a:extLst>
          </p:cNvPr>
          <p:cNvCxnSpPr>
            <a:stCxn xmlns:a="http://schemas.openxmlformats.org/drawingml/2006/main" id="7" idx="2"/>
            <a:endCxn xmlns:a="http://schemas.openxmlformats.org/drawingml/2006/main" id="14" idx="0"/>
          </p:cNvCxnSpPr>
          <p:nvPr/>
        </p:nvCxnSpPr>
        <p:spPr>
          <a:xfrm xmlns:a="http://schemas.openxmlformats.org/drawingml/2006/main" flipH="1">
            <a:off x="3067050" y="3200400"/>
            <a:ext cx="139160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8" name="">
            <a:extLst xmlns:a="http://schemas.openxmlformats.org/drawingml/2006/main">
              <a:ext uri="{FF2B5EF4-FFF2-40B4-BE49-F238E27FC236}">
                <a16:creationId xmlns:a16="http://schemas.microsoft.com/office/drawing/2014/main" id="{06A43C71-DA4B-44EE-9C03-6E6C6189D628}"/>
              </a:ext>
            </a:extLst>
          </p:cNvPr>
          <p:cNvCxnSpPr>
            <a:stCxn xmlns:a="http://schemas.openxmlformats.org/drawingml/2006/main" id="6" idx="2"/>
            <a:endCxn xmlns:a="http://schemas.openxmlformats.org/drawingml/2006/main" id="14" idx="0"/>
          </p:cNvCxnSpPr>
          <p:nvPr/>
        </p:nvCxnSpPr>
        <p:spPr>
          <a:xfrm xmlns:a="http://schemas.openxmlformats.org/drawingml/2006/main" flipH="1">
            <a:off x="3067050" y="3200400"/>
            <a:ext cx="30003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7" name="">
            <a:extLst xmlns:a="http://schemas.openxmlformats.org/drawingml/2006/main">
              <a:ext uri="{FF2B5EF4-FFF2-40B4-BE49-F238E27FC236}">
                <a16:creationId xmlns:a16="http://schemas.microsoft.com/office/drawing/2014/main" id="{36AF735A-DA7C-4CAA-9A83-43C1C22A57E9}"/>
              </a:ext>
            </a:extLst>
          </p:cNvPr>
          <p:cNvCxnSpPr>
            <a:stCxn xmlns:a="http://schemas.openxmlformats.org/drawingml/2006/main" id="5" idx="2"/>
            <a:endCxn xmlns:a="http://schemas.openxmlformats.org/drawingml/2006/main" id="14" idx="0"/>
          </p:cNvCxnSpPr>
          <p:nvPr/>
        </p:nvCxnSpPr>
        <p:spPr>
          <a:xfrm xmlns:a="http://schemas.openxmlformats.org/drawingml/2006/main">
            <a:off x="2275523" y="3200400"/>
            <a:ext cx="79152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6" name="">
            <a:extLst xmlns:a="http://schemas.openxmlformats.org/drawingml/2006/main">
              <a:ext uri="{FF2B5EF4-FFF2-40B4-BE49-F238E27FC236}">
                <a16:creationId xmlns:a16="http://schemas.microsoft.com/office/drawing/2014/main" id="{75660E14-C174-4C0B-B6FC-9F46C5FC80D7}"/>
              </a:ext>
            </a:extLst>
          </p:cNvPr>
          <p:cNvCxnSpPr>
            <a:stCxn xmlns:a="http://schemas.openxmlformats.org/drawingml/2006/main" id="4" idx="2"/>
            <a:endCxn xmlns:a="http://schemas.openxmlformats.org/drawingml/2006/main" id="14" idx="0"/>
          </p:cNvCxnSpPr>
          <p:nvPr/>
        </p:nvCxnSpPr>
        <p:spPr>
          <a:xfrm xmlns:a="http://schemas.openxmlformats.org/drawingml/2006/main">
            <a:off x="1183958" y="3200400"/>
            <a:ext cx="188309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32" name="">
            <a:extLst xmlns:a="http://schemas.openxmlformats.org/drawingml/2006/main">
              <a:ext uri="{FF2B5EF4-FFF2-40B4-BE49-F238E27FC236}">
                <a16:creationId xmlns:a16="http://schemas.microsoft.com/office/drawing/2014/main" id="{898055D1-A946-4647-9471-E60F3E058D6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assignment at the subnet level</a:t>
            </a:r>
          </a:p>
        </p:txBody>
      </p:sp>
      <p:sp>
        <p:nvSpPr>
          <p:cNvPr id="2" name="">
            <a:extLst xmlns:a="http://schemas.openxmlformats.org/drawingml/2006/main">
              <a:ext uri="{FF2B5EF4-FFF2-40B4-BE49-F238E27FC236}">
                <a16:creationId xmlns:a16="http://schemas.microsoft.com/office/drawing/2014/main" id="{1372182F-9E9A-47DF-9256-F6F8E2DEA8A4}"/>
              </a:ext>
            </a:extLst>
          </p:cNvPr>
          <p:cNvSpPr>
            <a:spLocks xmlns:a="http://schemas.openxmlformats.org/drawingml/2006/main" noGrp="1"/>
          </p:cNvSpPr>
          <p:nvPr/>
        </p:nvSpPr>
        <p:spPr>
          <a:xfrm xmlns:a="http://schemas.openxmlformats.org/drawingml/2006/main">
            <a:off x="685800" y="14954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SCOPE: network_0_subnet_0</a:t>
            </a:r>
          </a:p>
        </p:txBody>
      </p:sp>
      <p:sp>
        <p:nvSpPr>
          <p:cNvPr id="3" name="">
            <a:extLst xmlns:a="http://schemas.openxmlformats.org/drawingml/2006/main">
              <a:ext uri="{FF2B5EF4-FFF2-40B4-BE49-F238E27FC236}">
                <a16:creationId xmlns:a16="http://schemas.microsoft.com/office/drawing/2014/main" id="{7589C90D-2C9B-44DE-B8F5-4F0BEFCC4B14}"/>
              </a:ext>
            </a:extLst>
          </p:cNvPr>
          <p:cNvSpPr>
            <a:spLocks xmlns:a="http://schemas.openxmlformats.org/drawingml/2006/main" noGrp="1"/>
          </p:cNvSpPr>
          <p:nvPr/>
        </p:nvSpPr>
        <p:spPr>
          <a:xfrm xmlns:a="http://schemas.openxmlformats.org/drawingml/2006/main">
            <a:off x="685800" y="18383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Seed 42, proposed policy, initial assignments</a:t>
            </a:r>
          </a:p>
        </p:txBody>
      </p:sp>
      <p:sp>
        <p:nvSpPr>
          <p:cNvPr id="4" name="">
            <a:extLst xmlns:a="http://schemas.openxmlformats.org/drawingml/2006/main">
              <a:ext uri="{FF2B5EF4-FFF2-40B4-BE49-F238E27FC236}">
                <a16:creationId xmlns:a16="http://schemas.microsoft.com/office/drawing/2014/main" id="{3475706B-B7F5-4225-8CD3-E7E5FCE3C077}"/>
              </a:ext>
            </a:extLst>
          </p:cNvPr>
          <p:cNvSpPr>
            <a:spLocks xmlns:a="http://schemas.openxmlformats.org/drawingml/2006/main" noGrp="1"/>
          </p:cNvSpPr>
          <p:nvPr/>
        </p:nvSpPr>
        <p:spPr>
          <a:xfrm xmlns:a="http://schemas.openxmlformats.org/drawingml/2006/main">
            <a:off x="68580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0</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0.739898</a:t>
            </a:r>
          </a:p>
        </p:txBody>
      </p:sp>
      <p:sp>
        <p:nvSpPr>
          <p:cNvPr id="5" name="">
            <a:extLst xmlns:a="http://schemas.openxmlformats.org/drawingml/2006/main">
              <a:ext uri="{FF2B5EF4-FFF2-40B4-BE49-F238E27FC236}">
                <a16:creationId xmlns:a16="http://schemas.microsoft.com/office/drawing/2014/main" id="{3EC77FB5-AA46-47DF-91B9-56E9C43CAABB}"/>
              </a:ext>
            </a:extLst>
          </p:cNvPr>
          <p:cNvSpPr>
            <a:spLocks xmlns:a="http://schemas.openxmlformats.org/drawingml/2006/main" noGrp="1"/>
          </p:cNvSpPr>
          <p:nvPr/>
        </p:nvSpPr>
        <p:spPr>
          <a:xfrm xmlns:a="http://schemas.openxmlformats.org/drawingml/2006/main">
            <a:off x="177736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1</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0.805483</a:t>
            </a:r>
          </a:p>
        </p:txBody>
      </p:sp>
      <p:sp>
        <p:nvSpPr>
          <p:cNvPr id="6" name="">
            <a:extLst xmlns:a="http://schemas.openxmlformats.org/drawingml/2006/main">
              <a:ext uri="{FF2B5EF4-FFF2-40B4-BE49-F238E27FC236}">
                <a16:creationId xmlns:a16="http://schemas.microsoft.com/office/drawing/2014/main" id="{3947B8A5-AAC1-4A47-A0A0-787D718A1D35}"/>
              </a:ext>
            </a:extLst>
          </p:cNvPr>
          <p:cNvSpPr>
            <a:spLocks xmlns:a="http://schemas.openxmlformats.org/drawingml/2006/main" noGrp="1"/>
          </p:cNvSpPr>
          <p:nvPr/>
        </p:nvSpPr>
        <p:spPr>
          <a:xfrm xmlns:a="http://schemas.openxmlformats.org/drawingml/2006/main">
            <a:off x="286893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2</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0.832320</a:t>
            </a:r>
          </a:p>
        </p:txBody>
      </p:sp>
      <p:sp>
        <p:nvSpPr>
          <p:cNvPr id="7" name="">
            <a:extLst xmlns:a="http://schemas.openxmlformats.org/drawingml/2006/main">
              <a:ext uri="{FF2B5EF4-FFF2-40B4-BE49-F238E27FC236}">
                <a16:creationId xmlns:a16="http://schemas.microsoft.com/office/drawing/2014/main" id="{2A53E483-84DB-4AB7-B075-024887A3765D}"/>
              </a:ext>
            </a:extLst>
          </p:cNvPr>
          <p:cNvSpPr>
            <a:spLocks xmlns:a="http://schemas.openxmlformats.org/drawingml/2006/main" noGrp="1"/>
          </p:cNvSpPr>
          <p:nvPr/>
        </p:nvSpPr>
        <p:spPr>
          <a:xfrm xmlns:a="http://schemas.openxmlformats.org/drawingml/2006/main">
            <a:off x="396049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3</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0.749120</a:t>
            </a:r>
          </a:p>
        </p:txBody>
      </p:sp>
      <p:sp>
        <p:nvSpPr>
          <p:cNvPr id="8" name="">
            <a:extLst xmlns:a="http://schemas.openxmlformats.org/drawingml/2006/main">
              <a:ext uri="{FF2B5EF4-FFF2-40B4-BE49-F238E27FC236}">
                <a16:creationId xmlns:a16="http://schemas.microsoft.com/office/drawing/2014/main" id="{9A57EBE4-4F4D-4555-8209-C47807429940}"/>
              </a:ext>
            </a:extLst>
          </p:cNvPr>
          <p:cNvSpPr>
            <a:spLocks xmlns:a="http://schemas.openxmlformats.org/drawingml/2006/main" noGrp="1"/>
          </p:cNvSpPr>
          <p:nvPr/>
        </p:nvSpPr>
        <p:spPr>
          <a:xfrm xmlns:a="http://schemas.openxmlformats.org/drawingml/2006/main">
            <a:off x="5052060" y="2381250"/>
            <a:ext cx="996315"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76200" tIns="76200" rIns="76200" bIns="76200" anchor="ctr"/>
          <a:lstStyle xmlns:a="http://schemas.openxmlformats.org/drawingml/2006/main">
            <a:defPPr algn="ctr">
              <a:defRPr sz="1425">
                <a:solidFill>
                  <a:srgbClr val="FFFFFF"/>
                </a:solidFill>
                <a:latin typeface="Arial"/>
                <a:ea typeface="Arial"/>
                <a:cs typeface="Arial"/>
              </a:defRPr>
            </a:defPPr>
          </a:lstStyle>
          <a:p xmlns:a="http://schemas.openxmlformats.org/drawingml/2006/main">
            <a:pPr algn="ctr">
              <a:defRPr sz="1725">
                <a:solidFill>
                  <a:srgbClr val="FFFFFF"/>
                </a:solidFill>
                <a:latin typeface="Arial"/>
                <a:ea typeface="Arial"/>
                <a:cs typeface="Arial"/>
              </a:defRPr>
            </a:pPr>
            <a:r>
              <a:rPr sz="1425">
                <a:solidFill>
                  <a:srgbClr val="FFFFFF"/>
                </a:solidFill>
                <a:latin typeface="Arial"/>
                <a:ea typeface="Arial"/>
                <a:cs typeface="Arial"/>
              </a:rPr>
              <a:t>Node 4</a:t>
            </a:r>
          </a:p>
          <a:p xmlns:a="http://schemas.openxmlformats.org/drawingml/2006/main">
            <a:pPr algn="ctr">
              <a:defRPr sz="1725">
                <a:solidFill>
                  <a:srgbClr val="FFFFFF"/>
                </a:solidFill>
                <a:latin typeface="Arial"/>
                <a:ea typeface="Arial"/>
                <a:cs typeface="Arial"/>
              </a:defRPr>
            </a:pPr>
            <a:r>
              <a:rPr sz="1425">
                <a:solidFill>
                  <a:srgbClr val="FFFFFF"/>
                </a:solidFill>
                <a:latin typeface="Arial"/>
                <a:ea typeface="Arial"/>
                <a:cs typeface="Arial"/>
              </a:rPr>
              <a:t>0.852662</a:t>
            </a:r>
          </a:p>
        </p:txBody>
      </p:sp>
      <p:sp>
        <p:nvSpPr>
          <p:cNvPr id="9" name="">
            <a:extLst xmlns:a="http://schemas.openxmlformats.org/drawingml/2006/main">
              <a:ext uri="{FF2B5EF4-FFF2-40B4-BE49-F238E27FC236}">
                <a16:creationId xmlns:a16="http://schemas.microsoft.com/office/drawing/2014/main" id="{D6DE5575-E35F-48AB-A572-248901A1F97C}"/>
              </a:ext>
            </a:extLst>
          </p:cNvPr>
          <p:cNvSpPr>
            <a:spLocks xmlns:a="http://schemas.openxmlformats.org/drawingml/2006/main" noGrp="1"/>
          </p:cNvSpPr>
          <p:nvPr/>
        </p:nvSpPr>
        <p:spPr>
          <a:xfrm xmlns:a="http://schemas.openxmlformats.org/drawingml/2006/main">
            <a:off x="614362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5</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0.751647</a:t>
            </a:r>
          </a:p>
        </p:txBody>
      </p:sp>
      <p:sp>
        <p:nvSpPr>
          <p:cNvPr id="10" name="">
            <a:extLst xmlns:a="http://schemas.openxmlformats.org/drawingml/2006/main">
              <a:ext uri="{FF2B5EF4-FFF2-40B4-BE49-F238E27FC236}">
                <a16:creationId xmlns:a16="http://schemas.microsoft.com/office/drawing/2014/main" id="{99F72189-4B2A-4486-9719-F539B726E579}"/>
              </a:ext>
            </a:extLst>
          </p:cNvPr>
          <p:cNvSpPr>
            <a:spLocks xmlns:a="http://schemas.openxmlformats.org/drawingml/2006/main" noGrp="1"/>
          </p:cNvSpPr>
          <p:nvPr/>
        </p:nvSpPr>
        <p:spPr>
          <a:xfrm xmlns:a="http://schemas.openxmlformats.org/drawingml/2006/main">
            <a:off x="723519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6</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0.802835</a:t>
            </a:r>
          </a:p>
        </p:txBody>
      </p:sp>
      <p:sp>
        <p:nvSpPr>
          <p:cNvPr id="11" name="">
            <a:extLst xmlns:a="http://schemas.openxmlformats.org/drawingml/2006/main">
              <a:ext uri="{FF2B5EF4-FFF2-40B4-BE49-F238E27FC236}">
                <a16:creationId xmlns:a16="http://schemas.microsoft.com/office/drawing/2014/main" id="{AC40E1F3-92B7-497C-9D59-88C6B455556A}"/>
              </a:ext>
            </a:extLst>
          </p:cNvPr>
          <p:cNvSpPr>
            <a:spLocks xmlns:a="http://schemas.openxmlformats.org/drawingml/2006/main" noGrp="1"/>
          </p:cNvSpPr>
          <p:nvPr/>
        </p:nvSpPr>
        <p:spPr>
          <a:xfrm xmlns:a="http://schemas.openxmlformats.org/drawingml/2006/main">
            <a:off x="832675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7</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0.793679</a:t>
            </a:r>
          </a:p>
        </p:txBody>
      </p:sp>
      <p:sp>
        <p:nvSpPr>
          <p:cNvPr id="12" name="">
            <a:extLst xmlns:a="http://schemas.openxmlformats.org/drawingml/2006/main">
              <a:ext uri="{FF2B5EF4-FFF2-40B4-BE49-F238E27FC236}">
                <a16:creationId xmlns:a16="http://schemas.microsoft.com/office/drawing/2014/main" id="{77336F5F-E259-4040-86B6-A7B95E5D0B5C}"/>
              </a:ext>
            </a:extLst>
          </p:cNvPr>
          <p:cNvSpPr>
            <a:spLocks xmlns:a="http://schemas.openxmlformats.org/drawingml/2006/main" noGrp="1"/>
          </p:cNvSpPr>
          <p:nvPr/>
        </p:nvSpPr>
        <p:spPr>
          <a:xfrm xmlns:a="http://schemas.openxmlformats.org/drawingml/2006/main">
            <a:off x="941832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8</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0.830349</a:t>
            </a:r>
          </a:p>
        </p:txBody>
      </p:sp>
      <p:sp>
        <p:nvSpPr>
          <p:cNvPr id="13" name="">
            <a:extLst xmlns:a="http://schemas.openxmlformats.org/drawingml/2006/main">
              <a:ext uri="{FF2B5EF4-FFF2-40B4-BE49-F238E27FC236}">
                <a16:creationId xmlns:a16="http://schemas.microsoft.com/office/drawing/2014/main" id="{62707D68-F753-43AA-B19E-32940B138847}"/>
              </a:ext>
            </a:extLst>
          </p:cNvPr>
          <p:cNvSpPr>
            <a:spLocks xmlns:a="http://schemas.openxmlformats.org/drawingml/2006/main" noGrp="1"/>
          </p:cNvSpPr>
          <p:nvPr/>
        </p:nvSpPr>
        <p:spPr>
          <a:xfrm xmlns:a="http://schemas.openxmlformats.org/drawingml/2006/main">
            <a:off x="1050988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9</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0.686894</a:t>
            </a:r>
          </a:p>
        </p:txBody>
      </p:sp>
      <p:sp>
        <p:nvSpPr>
          <p:cNvPr id="14" name="">
            <a:extLst xmlns:a="http://schemas.openxmlformats.org/drawingml/2006/main">
              <a:ext uri="{FF2B5EF4-FFF2-40B4-BE49-F238E27FC236}">
                <a16:creationId xmlns:a16="http://schemas.microsoft.com/office/drawing/2014/main" id="{0A3931D4-7428-48EE-BD43-1D76D2DF6B6A}"/>
              </a:ext>
            </a:extLst>
          </p:cNvPr>
          <p:cNvSpPr>
            <a:spLocks xmlns:a="http://schemas.openxmlformats.org/drawingml/2006/main" noGrp="1"/>
          </p:cNvSpPr>
          <p:nvPr/>
        </p:nvSpPr>
        <p:spPr>
          <a:xfrm xmlns:a="http://schemas.openxmlformats.org/drawingml/2006/main">
            <a:off x="685800" y="3857625"/>
            <a:ext cx="4762500" cy="8763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 reachable candidates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Maximum gateway capability</a:t>
            </a:r>
          </a:p>
        </p:txBody>
      </p:sp>
      <p:sp>
        <p:nvSpPr>
          <p:cNvPr id="15" name="">
            <a:extLst xmlns:a="http://schemas.openxmlformats.org/drawingml/2006/main">
              <a:ext uri="{FF2B5EF4-FFF2-40B4-BE49-F238E27FC236}">
                <a16:creationId xmlns:a16="http://schemas.microsoft.com/office/drawing/2014/main" id="{37F9C672-13FB-4E1C-8953-F1CB1DD7AB68}"/>
              </a:ext>
            </a:extLst>
          </p:cNvPr>
          <p:cNvSpPr>
            <a:spLocks xmlns:a="http://schemas.openxmlformats.org/drawingml/2006/main" noGrp="1"/>
          </p:cNvSpPr>
          <p:nvPr/>
        </p:nvSpPr>
        <p:spPr>
          <a:xfrm xmlns:a="http://schemas.openxmlformats.org/drawingml/2006/main">
            <a:off x="7029450" y="3857625"/>
            <a:ext cx="4476750" cy="8763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Node 4</a:t>
            </a:r>
          </a:p>
        </p:txBody>
      </p:sp>
      <p:sp>
        <p:nvSpPr>
          <p:cNvPr id="27" name="">
            <a:extLst xmlns:a="http://schemas.openxmlformats.org/drawingml/2006/main">
              <a:ext uri="{FF2B5EF4-FFF2-40B4-BE49-F238E27FC236}">
                <a16:creationId xmlns:a16="http://schemas.microsoft.com/office/drawing/2014/main" id="{3135EA62-A70F-4034-9245-1727D81FDDA2}"/>
              </a:ext>
            </a:extLst>
          </p:cNvPr>
          <p:cNvSpPr>
            <a:spLocks xmlns:a="http://schemas.openxmlformats.org/drawingml/2006/main" noGrp="1"/>
          </p:cNvSpPr>
          <p:nvPr/>
        </p:nvSpPr>
        <p:spPr>
          <a:xfrm xmlns:a="http://schemas.openxmlformats.org/drawingml/2006/main">
            <a:off x="685800" y="504825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12B3C"/>
                </a:solidFill>
                <a:latin typeface="Arial"/>
                <a:ea typeface="Arial"/>
                <a:cs typeface="Arial"/>
              </a:defRPr>
            </a:defPPr>
          </a:lstStyle>
          <a:p xmlns:a="http://schemas.openxmlformats.org/drawingml/2006/main">
            <a:pPr>
              <a:defRPr sz="1950" b="1">
                <a:solidFill>
                  <a:srgbClr val="112B3C"/>
                </a:solidFill>
                <a:latin typeface="Arial"/>
                <a:ea typeface="Arial"/>
                <a:cs typeface="Arial"/>
              </a:defRPr>
            </a:pPr>
            <a:r>
              <a:rPr sz="1950" b="1">
                <a:solidFill>
                  <a:srgbClr val="112B3C"/>
                </a:solidFill>
                <a:latin typeface="Arial"/>
                <a:ea typeface="Arial"/>
                <a:cs typeface="Arial"/>
              </a:rPr>
              <a:t>Control source: node 0</a:t>
            </a:r>
          </a:p>
        </p:txBody>
      </p:sp>
      <p:sp>
        <p:nvSpPr>
          <p:cNvPr id="28" name="">
            <a:extLst xmlns:a="http://schemas.openxmlformats.org/drawingml/2006/main">
              <a:ext uri="{FF2B5EF4-FFF2-40B4-BE49-F238E27FC236}">
                <a16:creationId xmlns:a16="http://schemas.microsoft.com/office/drawing/2014/main" id="{2D48D7C6-9478-43F3-8B62-CC5E536EC2D7}"/>
              </a:ext>
            </a:extLst>
          </p:cNvPr>
          <p:cNvSpPr>
            <a:spLocks xmlns:a="http://schemas.openxmlformats.org/drawingml/2006/main" noGrp="1"/>
          </p:cNvSpPr>
          <p:nvPr/>
        </p:nvSpPr>
        <p:spPr>
          <a:xfrm xmlns:a="http://schemas.openxmlformats.org/drawingml/2006/main">
            <a:off x="7029450" y="5048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12B3C"/>
                </a:solidFill>
                <a:latin typeface="Arial"/>
                <a:ea typeface="Arial"/>
                <a:cs typeface="Arial"/>
              </a:defRPr>
            </a:defPPr>
          </a:lstStyle>
          <a:p xmlns:a="http://schemas.openxmlformats.org/drawingml/2006/main">
            <a:pPr>
              <a:defRPr sz="1875" b="1">
                <a:solidFill>
                  <a:srgbClr val="112B3C"/>
                </a:solidFill>
                <a:latin typeface="Arial"/>
                <a:ea typeface="Arial"/>
                <a:cs typeface="Arial"/>
              </a:defRPr>
            </a:pPr>
            <a:r>
              <a:rPr sz="1875" b="1">
                <a:solidFill>
                  <a:srgbClr val="112B3C"/>
                </a:solidFill>
                <a:latin typeface="Arial"/>
                <a:ea typeface="Arial"/>
                <a:cs typeface="Arial"/>
              </a:rPr>
              <a:t>Physical representative: node 4</a:t>
            </a:r>
          </a:p>
        </p:txBody>
      </p:sp>
      <p:sp>
        <p:nvSpPr>
          <p:cNvPr id="29" name="">
            <a:extLst xmlns:a="http://schemas.openxmlformats.org/drawingml/2006/main">
              <a:ext uri="{FF2B5EF4-FFF2-40B4-BE49-F238E27FC236}">
                <a16:creationId xmlns:a16="http://schemas.microsoft.com/office/drawing/2014/main" id="{C7E2A44D-2902-4072-8043-F822F5403E47}"/>
              </a:ext>
            </a:extLst>
          </p:cNvPr>
          <p:cNvSpPr>
            <a:spLocks xmlns:a="http://schemas.openxmlformats.org/drawingml/2006/main" noGrp="1"/>
          </p:cNvSpPr>
          <p:nvPr/>
        </p:nvSpPr>
        <p:spPr>
          <a:xfrm xmlns:a="http://schemas.openxmlformats.org/drawingml/2006/main">
            <a:off x="685800" y="5762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anomaly detection: Node 4   /   health monitoring: Node 4   /   discoverability: Node 4</a:t>
            </a:r>
          </a:p>
        </p:txBody>
      </p:sp>
      <p:sp>
        <p:nvSpPr>
          <p:cNvPr id="30" name="">
            <a:extLst xmlns:a="http://schemas.openxmlformats.org/drawingml/2006/main">
              <a:ext uri="{FF2B5EF4-FFF2-40B4-BE49-F238E27FC236}">
                <a16:creationId xmlns:a16="http://schemas.microsoft.com/office/drawing/2014/main" id="{25A0E111-F09F-40BF-B949-EE15E042FEF9}"/>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14 / appendix</a:t>
            </a:r>
          </a:p>
        </p:txBody>
      </p:sp>
      <p:sp>
        <p:nvSpPr>
          <p:cNvPr id="31" name="">
            <a:extLst xmlns:a="http://schemas.openxmlformats.org/drawingml/2006/main">
              <a:ext uri="{FF2B5EF4-FFF2-40B4-BE49-F238E27FC236}">
                <a16:creationId xmlns:a16="http://schemas.microsoft.com/office/drawing/2014/main" id="{4B271267-67FD-4323-ACD4-C1F2AC6E24F8}"/>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simulation/entities.py: scope_candidates; simulation/protocols.py: _select_for_role; _assign</a:t>
            </a:r>
          </a:p>
        </p:txBody>
      </p:sp>
    </p:spTree>
    <p:extLst>
      <p:ext uri="{BB962C8B-B14F-4D97-AF65-F5344CB8AC3E}">
        <p14:creationId xmlns:p14="http://schemas.microsoft.com/office/powerpoint/2010/main" val="1580146276"/>
      </p:ext>
    </p:extLst>
  </p:cSld>
</p:sld>
</file>

<file path=ppt/slides/slide1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EE5E34B4-6AB4-4B4F-982B-E2835FD1AB68}"/>
              </a:ext>
            </a:extLst>
          </p:cNvPr>
          <p:cNvCxnSpPr>
            <a:stCxn xmlns:a="http://schemas.openxmlformats.org/drawingml/2006/main" id="8" idx="3"/>
            <a:endCxn xmlns:a="http://schemas.openxmlformats.org/drawingml/2006/main" id="9" idx="1"/>
          </p:cNvCxnSpPr>
          <p:nvPr/>
        </p:nvCxnSpPr>
        <p:spPr>
          <a:xfrm xmlns:a="http://schemas.openxmlformats.org/drawingml/2006/main">
            <a:off x="5448300" y="4295775"/>
            <a:ext cx="15811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3" name="">
            <a:extLst xmlns:a="http://schemas.openxmlformats.org/drawingml/2006/main">
              <a:ext uri="{FF2B5EF4-FFF2-40B4-BE49-F238E27FC236}">
                <a16:creationId xmlns:a16="http://schemas.microsoft.com/office/drawing/2014/main" id="{37DD770D-A774-4324-BC32-4E0C85327BF0}"/>
              </a:ext>
            </a:extLst>
          </p:cNvPr>
          <p:cNvCxnSpPr>
            <a:stCxn xmlns:a="http://schemas.openxmlformats.org/drawingml/2006/main" id="7" idx="2"/>
            <a:endCxn xmlns:a="http://schemas.openxmlformats.org/drawingml/2006/main" id="8" idx="0"/>
          </p:cNvCxnSpPr>
          <p:nvPr/>
        </p:nvCxnSpPr>
        <p:spPr>
          <a:xfrm xmlns:a="http://schemas.openxmlformats.org/drawingml/2006/main" flipH="1">
            <a:off x="3067050" y="3200400"/>
            <a:ext cx="717947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BB59A1CC-4328-454A-81EE-FCC6E0CD21AC}"/>
              </a:ext>
            </a:extLst>
          </p:cNvPr>
          <p:cNvCxnSpPr>
            <a:stCxn xmlns:a="http://schemas.openxmlformats.org/drawingml/2006/main" id="6" idx="2"/>
            <a:endCxn xmlns:a="http://schemas.openxmlformats.org/drawingml/2006/main" id="8" idx="0"/>
          </p:cNvCxnSpPr>
          <p:nvPr/>
        </p:nvCxnSpPr>
        <p:spPr>
          <a:xfrm xmlns:a="http://schemas.openxmlformats.org/drawingml/2006/main" flipH="1">
            <a:off x="3067050" y="3200400"/>
            <a:ext cx="4412457"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5E55BA23-AF8B-4F4A-8E86-4EDACB74D16E}"/>
              </a:ext>
            </a:extLst>
          </p:cNvPr>
          <p:cNvCxnSpPr>
            <a:stCxn xmlns:a="http://schemas.openxmlformats.org/drawingml/2006/main" id="5" idx="2"/>
            <a:endCxn xmlns:a="http://schemas.openxmlformats.org/drawingml/2006/main" id="8" idx="0"/>
          </p:cNvCxnSpPr>
          <p:nvPr/>
        </p:nvCxnSpPr>
        <p:spPr>
          <a:xfrm xmlns:a="http://schemas.openxmlformats.org/drawingml/2006/main" flipH="1">
            <a:off x="3067050" y="3200400"/>
            <a:ext cx="1645445"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BCEEB549-C729-42E5-8F02-475ACD81BF27}"/>
              </a:ext>
            </a:extLst>
          </p:cNvPr>
          <p:cNvCxnSpPr>
            <a:stCxn xmlns:a="http://schemas.openxmlformats.org/drawingml/2006/main" id="4" idx="2"/>
            <a:endCxn xmlns:a="http://schemas.openxmlformats.org/drawingml/2006/main" id="8" idx="0"/>
          </p:cNvCxnSpPr>
          <p:nvPr/>
        </p:nvCxnSpPr>
        <p:spPr>
          <a:xfrm xmlns:a="http://schemas.openxmlformats.org/drawingml/2006/main">
            <a:off x="1945482" y="3200400"/>
            <a:ext cx="1121569"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20" name="">
            <a:extLst xmlns:a="http://schemas.openxmlformats.org/drawingml/2006/main">
              <a:ext uri="{FF2B5EF4-FFF2-40B4-BE49-F238E27FC236}">
                <a16:creationId xmlns:a16="http://schemas.microsoft.com/office/drawing/2014/main" id="{337EF016-509F-4774-AF1B-4490720A0F5E}"/>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assignment at the network level</a:t>
            </a:r>
          </a:p>
        </p:txBody>
      </p:sp>
      <p:sp>
        <p:nvSpPr>
          <p:cNvPr id="2" name="">
            <a:extLst xmlns:a="http://schemas.openxmlformats.org/drawingml/2006/main">
              <a:ext uri="{FF2B5EF4-FFF2-40B4-BE49-F238E27FC236}">
                <a16:creationId xmlns:a16="http://schemas.microsoft.com/office/drawing/2014/main" id="{0E6F6B39-D06D-474D-9F7C-A3E34BB80A1A}"/>
              </a:ext>
            </a:extLst>
          </p:cNvPr>
          <p:cNvSpPr>
            <a:spLocks xmlns:a="http://schemas.openxmlformats.org/drawingml/2006/main" noGrp="1"/>
          </p:cNvSpPr>
          <p:nvPr/>
        </p:nvSpPr>
        <p:spPr>
          <a:xfrm xmlns:a="http://schemas.openxmlformats.org/drawingml/2006/main">
            <a:off x="685800" y="14954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SCOPE: network_0</a:t>
            </a:r>
          </a:p>
        </p:txBody>
      </p:sp>
      <p:sp>
        <p:nvSpPr>
          <p:cNvPr id="3" name="">
            <a:extLst xmlns:a="http://schemas.openxmlformats.org/drawingml/2006/main">
              <a:ext uri="{FF2B5EF4-FFF2-40B4-BE49-F238E27FC236}">
                <a16:creationId xmlns:a16="http://schemas.microsoft.com/office/drawing/2014/main" id="{EE3DA830-1264-4EA8-84A4-F02B101FF00F}"/>
              </a:ext>
            </a:extLst>
          </p:cNvPr>
          <p:cNvSpPr>
            <a:spLocks xmlns:a="http://schemas.openxmlformats.org/drawingml/2006/main" noGrp="1"/>
          </p:cNvSpPr>
          <p:nvPr/>
        </p:nvSpPr>
        <p:spPr>
          <a:xfrm xmlns:a="http://schemas.openxmlformats.org/drawingml/2006/main">
            <a:off x="685800" y="18383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Seed 42, proposed policy, initial assignments</a:t>
            </a:r>
          </a:p>
        </p:txBody>
      </p:sp>
      <p:sp>
        <p:nvSpPr>
          <p:cNvPr id="4" name="">
            <a:extLst xmlns:a="http://schemas.openxmlformats.org/drawingml/2006/main">
              <a:ext uri="{FF2B5EF4-FFF2-40B4-BE49-F238E27FC236}">
                <a16:creationId xmlns:a16="http://schemas.microsoft.com/office/drawing/2014/main" id="{C5E84D2F-F083-4083-9CCC-28CAB59A7040}"/>
              </a:ext>
            </a:extLst>
          </p:cNvPr>
          <p:cNvSpPr>
            <a:spLocks xmlns:a="http://schemas.openxmlformats.org/drawingml/2006/main" noGrp="1"/>
          </p:cNvSpPr>
          <p:nvPr/>
        </p:nvSpPr>
        <p:spPr>
          <a:xfrm xmlns:a="http://schemas.openxmlformats.org/drawingml/2006/main">
            <a:off x="685800" y="2381250"/>
            <a:ext cx="2519363"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Subnet 0</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0.784504</a:t>
            </a:r>
          </a:p>
        </p:txBody>
      </p:sp>
      <p:sp>
        <p:nvSpPr>
          <p:cNvPr id="5" name="">
            <a:extLst xmlns:a="http://schemas.openxmlformats.org/drawingml/2006/main">
              <a:ext uri="{FF2B5EF4-FFF2-40B4-BE49-F238E27FC236}">
                <a16:creationId xmlns:a16="http://schemas.microsoft.com/office/drawing/2014/main" id="{6598C409-55D1-4FEC-A091-8A56182E79FD}"/>
              </a:ext>
            </a:extLst>
          </p:cNvPr>
          <p:cNvSpPr>
            <a:spLocks xmlns:a="http://schemas.openxmlformats.org/drawingml/2006/main" noGrp="1"/>
          </p:cNvSpPr>
          <p:nvPr/>
        </p:nvSpPr>
        <p:spPr>
          <a:xfrm xmlns:a="http://schemas.openxmlformats.org/drawingml/2006/main">
            <a:off x="3452813" y="2381250"/>
            <a:ext cx="2519363"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Subnet 1</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0.824220</a:t>
            </a:r>
          </a:p>
        </p:txBody>
      </p:sp>
      <p:sp>
        <p:nvSpPr>
          <p:cNvPr id="6" name="">
            <a:extLst xmlns:a="http://schemas.openxmlformats.org/drawingml/2006/main">
              <a:ext uri="{FF2B5EF4-FFF2-40B4-BE49-F238E27FC236}">
                <a16:creationId xmlns:a16="http://schemas.microsoft.com/office/drawing/2014/main" id="{86250A97-DE76-4B0F-AB0F-449ECDD9FC05}"/>
              </a:ext>
            </a:extLst>
          </p:cNvPr>
          <p:cNvSpPr>
            <a:spLocks xmlns:a="http://schemas.openxmlformats.org/drawingml/2006/main" noGrp="1"/>
          </p:cNvSpPr>
          <p:nvPr/>
        </p:nvSpPr>
        <p:spPr>
          <a:xfrm xmlns:a="http://schemas.openxmlformats.org/drawingml/2006/main">
            <a:off x="6219825" y="2381250"/>
            <a:ext cx="2519363"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Subnet 2</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0.805624</a:t>
            </a:r>
          </a:p>
        </p:txBody>
      </p:sp>
      <p:sp>
        <p:nvSpPr>
          <p:cNvPr id="7" name="">
            <a:extLst xmlns:a="http://schemas.openxmlformats.org/drawingml/2006/main">
              <a:ext uri="{FF2B5EF4-FFF2-40B4-BE49-F238E27FC236}">
                <a16:creationId xmlns:a16="http://schemas.microsoft.com/office/drawing/2014/main" id="{94B77064-9C49-4092-BEC5-2E41006481D1}"/>
              </a:ext>
            </a:extLst>
          </p:cNvPr>
          <p:cNvSpPr>
            <a:spLocks xmlns:a="http://schemas.openxmlformats.org/drawingml/2006/main" noGrp="1"/>
          </p:cNvSpPr>
          <p:nvPr/>
        </p:nvSpPr>
        <p:spPr>
          <a:xfrm xmlns:a="http://schemas.openxmlformats.org/drawingml/2006/main">
            <a:off x="8986838" y="2381250"/>
            <a:ext cx="2519363"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76200" tIns="76200" rIns="76200" bIns="76200" anchor="ctr"/>
          <a:lstStyle xmlns:a="http://schemas.openxmlformats.org/drawingml/2006/main">
            <a:defPPr algn="ctr">
              <a:defRPr sz="1875">
                <a:solidFill>
                  <a:srgbClr val="FFFFFF"/>
                </a:solidFill>
                <a:latin typeface="Arial"/>
                <a:ea typeface="Arial"/>
                <a:cs typeface="Arial"/>
              </a:defRPr>
            </a:defPPr>
          </a:lstStyle>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Subnet 3</a:t>
            </a:r>
          </a:p>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0.830605</a:t>
            </a:r>
          </a:p>
        </p:txBody>
      </p:sp>
      <p:sp>
        <p:nvSpPr>
          <p:cNvPr id="8" name="">
            <a:extLst xmlns:a="http://schemas.openxmlformats.org/drawingml/2006/main">
              <a:ext uri="{FF2B5EF4-FFF2-40B4-BE49-F238E27FC236}">
                <a16:creationId xmlns:a16="http://schemas.microsoft.com/office/drawing/2014/main" id="{68110AEC-3C21-4CF8-B8C4-65B2EC6FE02C}"/>
              </a:ext>
            </a:extLst>
          </p:cNvPr>
          <p:cNvSpPr>
            <a:spLocks xmlns:a="http://schemas.openxmlformats.org/drawingml/2006/main" noGrp="1"/>
          </p:cNvSpPr>
          <p:nvPr/>
        </p:nvSpPr>
        <p:spPr>
          <a:xfrm xmlns:a="http://schemas.openxmlformats.org/drawingml/2006/main">
            <a:off x="685800" y="3857625"/>
            <a:ext cx="4762500" cy="8763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 reachable candidates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Maximum gateway capability</a:t>
            </a:r>
          </a:p>
        </p:txBody>
      </p:sp>
      <p:sp>
        <p:nvSpPr>
          <p:cNvPr id="9" name="">
            <a:extLst xmlns:a="http://schemas.openxmlformats.org/drawingml/2006/main">
              <a:ext uri="{FF2B5EF4-FFF2-40B4-BE49-F238E27FC236}">
                <a16:creationId xmlns:a16="http://schemas.microsoft.com/office/drawing/2014/main" id="{887F9B77-FA6E-4D46-952D-A3A49DE9ACC0}"/>
              </a:ext>
            </a:extLst>
          </p:cNvPr>
          <p:cNvSpPr>
            <a:spLocks xmlns:a="http://schemas.openxmlformats.org/drawingml/2006/main" noGrp="1"/>
          </p:cNvSpPr>
          <p:nvPr/>
        </p:nvSpPr>
        <p:spPr>
          <a:xfrm xmlns:a="http://schemas.openxmlformats.org/drawingml/2006/main">
            <a:off x="7029450" y="3857625"/>
            <a:ext cx="4476750" cy="8763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Subnet 3</a:t>
            </a:r>
          </a:p>
        </p:txBody>
      </p:sp>
      <p:sp>
        <p:nvSpPr>
          <p:cNvPr id="15" name="">
            <a:extLst xmlns:a="http://schemas.openxmlformats.org/drawingml/2006/main">
              <a:ext uri="{FF2B5EF4-FFF2-40B4-BE49-F238E27FC236}">
                <a16:creationId xmlns:a16="http://schemas.microsoft.com/office/drawing/2014/main" id="{65FA07A8-59CE-4412-BB7E-74B37F042576}"/>
              </a:ext>
            </a:extLst>
          </p:cNvPr>
          <p:cNvSpPr>
            <a:spLocks xmlns:a="http://schemas.openxmlformats.org/drawingml/2006/main" noGrp="1"/>
          </p:cNvSpPr>
          <p:nvPr/>
        </p:nvSpPr>
        <p:spPr>
          <a:xfrm xmlns:a="http://schemas.openxmlformats.org/drawingml/2006/main">
            <a:off x="685800" y="504825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12B3C"/>
                </a:solidFill>
                <a:latin typeface="Arial"/>
                <a:ea typeface="Arial"/>
                <a:cs typeface="Arial"/>
              </a:defRPr>
            </a:defPPr>
          </a:lstStyle>
          <a:p xmlns:a="http://schemas.openxmlformats.org/drawingml/2006/main">
            <a:pPr>
              <a:defRPr sz="1950" b="1">
                <a:solidFill>
                  <a:srgbClr val="112B3C"/>
                </a:solidFill>
                <a:latin typeface="Arial"/>
                <a:ea typeface="Arial"/>
                <a:cs typeface="Arial"/>
              </a:defRPr>
            </a:pPr>
            <a:r>
              <a:rPr sz="1950" b="1">
                <a:solidFill>
                  <a:srgbClr val="112B3C"/>
                </a:solidFill>
                <a:latin typeface="Arial"/>
                <a:ea typeface="Arial"/>
                <a:cs typeface="Arial"/>
              </a:rPr>
              <a:t>Control source: node 0</a:t>
            </a:r>
          </a:p>
        </p:txBody>
      </p:sp>
      <p:sp>
        <p:nvSpPr>
          <p:cNvPr id="16" name="">
            <a:extLst xmlns:a="http://schemas.openxmlformats.org/drawingml/2006/main">
              <a:ext uri="{FF2B5EF4-FFF2-40B4-BE49-F238E27FC236}">
                <a16:creationId xmlns:a16="http://schemas.microsoft.com/office/drawing/2014/main" id="{65C2676C-2DCB-49F4-A324-6C1E7191EE21}"/>
              </a:ext>
            </a:extLst>
          </p:cNvPr>
          <p:cNvSpPr>
            <a:spLocks xmlns:a="http://schemas.openxmlformats.org/drawingml/2006/main" noGrp="1"/>
          </p:cNvSpPr>
          <p:nvPr/>
        </p:nvSpPr>
        <p:spPr>
          <a:xfrm xmlns:a="http://schemas.openxmlformats.org/drawingml/2006/main">
            <a:off x="7029450" y="5048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12B3C"/>
                </a:solidFill>
                <a:latin typeface="Arial"/>
                <a:ea typeface="Arial"/>
                <a:cs typeface="Arial"/>
              </a:defRPr>
            </a:defPPr>
          </a:lstStyle>
          <a:p xmlns:a="http://schemas.openxmlformats.org/drawingml/2006/main">
            <a:pPr>
              <a:defRPr sz="1875" b="1">
                <a:solidFill>
                  <a:srgbClr val="112B3C"/>
                </a:solidFill>
                <a:latin typeface="Arial"/>
                <a:ea typeface="Arial"/>
                <a:cs typeface="Arial"/>
              </a:defRPr>
            </a:pPr>
            <a:r>
              <a:rPr sz="1875" b="1">
                <a:solidFill>
                  <a:srgbClr val="112B3C"/>
                </a:solidFill>
                <a:latin typeface="Arial"/>
                <a:ea typeface="Arial"/>
                <a:cs typeface="Arial"/>
              </a:rPr>
              <a:t>Physical representative: node 30</a:t>
            </a:r>
          </a:p>
        </p:txBody>
      </p:sp>
      <p:sp>
        <p:nvSpPr>
          <p:cNvPr id="17" name="">
            <a:extLst xmlns:a="http://schemas.openxmlformats.org/drawingml/2006/main">
              <a:ext uri="{FF2B5EF4-FFF2-40B4-BE49-F238E27FC236}">
                <a16:creationId xmlns:a16="http://schemas.microsoft.com/office/drawing/2014/main" id="{BE45CF17-6703-4801-9A48-72B95C76EDFD}"/>
              </a:ext>
            </a:extLst>
          </p:cNvPr>
          <p:cNvSpPr>
            <a:spLocks xmlns:a="http://schemas.openxmlformats.org/drawingml/2006/main" noGrp="1"/>
          </p:cNvSpPr>
          <p:nvPr/>
        </p:nvSpPr>
        <p:spPr>
          <a:xfrm xmlns:a="http://schemas.openxmlformats.org/drawingml/2006/main">
            <a:off x="685800" y="5762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anomaly detection: Subnet 0   /   health monitoring: Subnet 0   /   discoverability: Subnet 0</a:t>
            </a:r>
          </a:p>
        </p:txBody>
      </p:sp>
      <p:sp>
        <p:nvSpPr>
          <p:cNvPr id="18" name="">
            <a:extLst xmlns:a="http://schemas.openxmlformats.org/drawingml/2006/main">
              <a:ext uri="{FF2B5EF4-FFF2-40B4-BE49-F238E27FC236}">
                <a16:creationId xmlns:a16="http://schemas.microsoft.com/office/drawing/2014/main" id="{DE44699A-27F2-4430-9C58-F4F4D14D3D8E}"/>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15 / appendix</a:t>
            </a:r>
          </a:p>
        </p:txBody>
      </p:sp>
      <p:sp>
        <p:nvSpPr>
          <p:cNvPr id="19" name="">
            <a:extLst xmlns:a="http://schemas.openxmlformats.org/drawingml/2006/main">
              <a:ext uri="{FF2B5EF4-FFF2-40B4-BE49-F238E27FC236}">
                <a16:creationId xmlns:a16="http://schemas.microsoft.com/office/drawing/2014/main" id="{7EA038A2-4344-42F7-8BBC-6A16172BB67D}"/>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simulation/entities.py: capability; representative_node_id; simulation/protocols.py: _assign</a:t>
            </a:r>
          </a:p>
        </p:txBody>
      </p:sp>
    </p:spTree>
    <p:extLst>
      <p:ext uri="{BB962C8B-B14F-4D97-AF65-F5344CB8AC3E}">
        <p14:creationId xmlns:p14="http://schemas.microsoft.com/office/powerpoint/2010/main" val="861850621"/>
      </p:ext>
    </p:extLst>
  </p:cSld>
</p:sld>
</file>

<file path=ppt/slides/slide1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0495482E-1C1B-4168-851C-33CDA00F2A76}"/>
              </a:ext>
            </a:extLst>
          </p:cNvPr>
          <p:cNvCxnSpPr>
            <a:stCxn xmlns:a="http://schemas.openxmlformats.org/drawingml/2006/main" id="7" idx="3"/>
            <a:endCxn xmlns:a="http://schemas.openxmlformats.org/drawingml/2006/main" id="8" idx="1"/>
          </p:cNvCxnSpPr>
          <p:nvPr/>
        </p:nvCxnSpPr>
        <p:spPr>
          <a:xfrm xmlns:a="http://schemas.openxmlformats.org/drawingml/2006/main">
            <a:off x="5448300" y="4295775"/>
            <a:ext cx="15811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B9DBA27D-1EE1-4572-B175-D793706B58F9}"/>
              </a:ext>
            </a:extLst>
          </p:cNvPr>
          <p:cNvCxnSpPr>
            <a:stCxn xmlns:a="http://schemas.openxmlformats.org/drawingml/2006/main" id="6" idx="2"/>
            <a:endCxn xmlns:a="http://schemas.openxmlformats.org/drawingml/2006/main" id="7" idx="0"/>
          </p:cNvCxnSpPr>
          <p:nvPr/>
        </p:nvCxnSpPr>
        <p:spPr>
          <a:xfrm xmlns:a="http://schemas.openxmlformats.org/drawingml/2006/main" flipH="1">
            <a:off x="3067050" y="3200400"/>
            <a:ext cx="671830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EF58923F-F353-4C09-B9BA-A880FF915D21}"/>
              </a:ext>
            </a:extLst>
          </p:cNvPr>
          <p:cNvCxnSpPr>
            <a:stCxn xmlns:a="http://schemas.openxmlformats.org/drawingml/2006/main" id="5" idx="2"/>
            <a:endCxn xmlns:a="http://schemas.openxmlformats.org/drawingml/2006/main" id="7" idx="0"/>
          </p:cNvCxnSpPr>
          <p:nvPr/>
        </p:nvCxnSpPr>
        <p:spPr>
          <a:xfrm xmlns:a="http://schemas.openxmlformats.org/drawingml/2006/main" flipH="1">
            <a:off x="3067050" y="3200400"/>
            <a:ext cx="302895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9" name="">
            <a:extLst xmlns:a="http://schemas.openxmlformats.org/drawingml/2006/main">
              <a:ext uri="{FF2B5EF4-FFF2-40B4-BE49-F238E27FC236}">
                <a16:creationId xmlns:a16="http://schemas.microsoft.com/office/drawing/2014/main" id="{63C893C1-16FF-4A08-9449-E2445EB37257}"/>
              </a:ext>
            </a:extLst>
          </p:cNvPr>
          <p:cNvCxnSpPr>
            <a:stCxn xmlns:a="http://schemas.openxmlformats.org/drawingml/2006/main" id="4" idx="2"/>
            <a:endCxn xmlns:a="http://schemas.openxmlformats.org/drawingml/2006/main" id="7" idx="0"/>
          </p:cNvCxnSpPr>
          <p:nvPr/>
        </p:nvCxnSpPr>
        <p:spPr>
          <a:xfrm xmlns:a="http://schemas.openxmlformats.org/drawingml/2006/main">
            <a:off x="2406650" y="3200400"/>
            <a:ext cx="66040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18" name="">
            <a:extLst xmlns:a="http://schemas.openxmlformats.org/drawingml/2006/main">
              <a:ext uri="{FF2B5EF4-FFF2-40B4-BE49-F238E27FC236}">
                <a16:creationId xmlns:a16="http://schemas.microsoft.com/office/drawing/2014/main" id="{0B1A3A1B-E84D-4C0A-A080-AA96EEA59AC9}"/>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assignment at the internetwork level</a:t>
            </a:r>
          </a:p>
        </p:txBody>
      </p:sp>
      <p:sp>
        <p:nvSpPr>
          <p:cNvPr id="2" name="">
            <a:extLst xmlns:a="http://schemas.openxmlformats.org/drawingml/2006/main">
              <a:ext uri="{FF2B5EF4-FFF2-40B4-BE49-F238E27FC236}">
                <a16:creationId xmlns:a16="http://schemas.microsoft.com/office/drawing/2014/main" id="{57DC54AB-86D9-44C8-BA46-4F49D6152403}"/>
              </a:ext>
            </a:extLst>
          </p:cNvPr>
          <p:cNvSpPr>
            <a:spLocks xmlns:a="http://schemas.openxmlformats.org/drawingml/2006/main" noGrp="1"/>
          </p:cNvSpPr>
          <p:nvPr/>
        </p:nvSpPr>
        <p:spPr>
          <a:xfrm xmlns:a="http://schemas.openxmlformats.org/drawingml/2006/main">
            <a:off x="685800" y="14954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SCOPE: internetwork</a:t>
            </a:r>
          </a:p>
        </p:txBody>
      </p:sp>
      <p:sp>
        <p:nvSpPr>
          <p:cNvPr id="3" name="">
            <a:extLst xmlns:a="http://schemas.openxmlformats.org/drawingml/2006/main">
              <a:ext uri="{FF2B5EF4-FFF2-40B4-BE49-F238E27FC236}">
                <a16:creationId xmlns:a16="http://schemas.microsoft.com/office/drawing/2014/main" id="{A6F83072-ECEF-4F82-B8B5-4F940210C45B}"/>
              </a:ext>
            </a:extLst>
          </p:cNvPr>
          <p:cNvSpPr>
            <a:spLocks xmlns:a="http://schemas.openxmlformats.org/drawingml/2006/main" noGrp="1"/>
          </p:cNvSpPr>
          <p:nvPr/>
        </p:nvSpPr>
        <p:spPr>
          <a:xfrm xmlns:a="http://schemas.openxmlformats.org/drawingml/2006/main">
            <a:off x="685800" y="18383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Seed 42, proposed policy, initial assignments</a:t>
            </a:r>
          </a:p>
        </p:txBody>
      </p:sp>
      <p:sp>
        <p:nvSpPr>
          <p:cNvPr id="4" name="">
            <a:extLst xmlns:a="http://schemas.openxmlformats.org/drawingml/2006/main">
              <a:ext uri="{FF2B5EF4-FFF2-40B4-BE49-F238E27FC236}">
                <a16:creationId xmlns:a16="http://schemas.microsoft.com/office/drawing/2014/main" id="{51F8F98E-DC90-4BEC-B790-CF119A756DDC}"/>
              </a:ext>
            </a:extLst>
          </p:cNvPr>
          <p:cNvSpPr>
            <a:spLocks xmlns:a="http://schemas.openxmlformats.org/drawingml/2006/main" noGrp="1"/>
          </p:cNvSpPr>
          <p:nvPr/>
        </p:nvSpPr>
        <p:spPr>
          <a:xfrm xmlns:a="http://schemas.openxmlformats.org/drawingml/2006/main">
            <a:off x="685800" y="2381250"/>
            <a:ext cx="3441700"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Network 0</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0.811238</a:t>
            </a:r>
          </a:p>
        </p:txBody>
      </p:sp>
      <p:sp>
        <p:nvSpPr>
          <p:cNvPr id="5" name="">
            <a:extLst xmlns:a="http://schemas.openxmlformats.org/drawingml/2006/main">
              <a:ext uri="{FF2B5EF4-FFF2-40B4-BE49-F238E27FC236}">
                <a16:creationId xmlns:a16="http://schemas.microsoft.com/office/drawing/2014/main" id="{FE71FE94-5AAE-4227-A94F-E53BB24366FE}"/>
              </a:ext>
            </a:extLst>
          </p:cNvPr>
          <p:cNvSpPr>
            <a:spLocks xmlns:a="http://schemas.openxmlformats.org/drawingml/2006/main" noGrp="1"/>
          </p:cNvSpPr>
          <p:nvPr/>
        </p:nvSpPr>
        <p:spPr>
          <a:xfrm xmlns:a="http://schemas.openxmlformats.org/drawingml/2006/main">
            <a:off x="4375150" y="2381250"/>
            <a:ext cx="3441700"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Network 1</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0.823788</a:t>
            </a:r>
          </a:p>
        </p:txBody>
      </p:sp>
      <p:sp>
        <p:nvSpPr>
          <p:cNvPr id="6" name="">
            <a:extLst xmlns:a="http://schemas.openxmlformats.org/drawingml/2006/main">
              <a:ext uri="{FF2B5EF4-FFF2-40B4-BE49-F238E27FC236}">
                <a16:creationId xmlns:a16="http://schemas.microsoft.com/office/drawing/2014/main" id="{4D0780E7-059D-4414-B7E6-719F315CBB5F}"/>
              </a:ext>
            </a:extLst>
          </p:cNvPr>
          <p:cNvSpPr>
            <a:spLocks xmlns:a="http://schemas.openxmlformats.org/drawingml/2006/main" noGrp="1"/>
          </p:cNvSpPr>
          <p:nvPr/>
        </p:nvSpPr>
        <p:spPr>
          <a:xfrm xmlns:a="http://schemas.openxmlformats.org/drawingml/2006/main">
            <a:off x="8064500" y="2381250"/>
            <a:ext cx="344170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76200" tIns="76200" rIns="76200" bIns="76200" anchor="ctr"/>
          <a:lstStyle xmlns:a="http://schemas.openxmlformats.org/drawingml/2006/main">
            <a:defPPr algn="ctr">
              <a:defRPr sz="1875">
                <a:solidFill>
                  <a:srgbClr val="FFFFFF"/>
                </a:solidFill>
                <a:latin typeface="Arial"/>
                <a:ea typeface="Arial"/>
                <a:cs typeface="Arial"/>
              </a:defRPr>
            </a:defPPr>
          </a:lstStyle>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Network 2</a:t>
            </a:r>
          </a:p>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0.823820</a:t>
            </a:r>
          </a:p>
        </p:txBody>
      </p:sp>
      <p:sp>
        <p:nvSpPr>
          <p:cNvPr id="7" name="">
            <a:extLst xmlns:a="http://schemas.openxmlformats.org/drawingml/2006/main">
              <a:ext uri="{FF2B5EF4-FFF2-40B4-BE49-F238E27FC236}">
                <a16:creationId xmlns:a16="http://schemas.microsoft.com/office/drawing/2014/main" id="{3D317EF0-2DD3-489D-BEB3-C8E21DCDCEA9}"/>
              </a:ext>
            </a:extLst>
          </p:cNvPr>
          <p:cNvSpPr>
            <a:spLocks xmlns:a="http://schemas.openxmlformats.org/drawingml/2006/main" noGrp="1"/>
          </p:cNvSpPr>
          <p:nvPr/>
        </p:nvSpPr>
        <p:spPr>
          <a:xfrm xmlns:a="http://schemas.openxmlformats.org/drawingml/2006/main">
            <a:off x="685800" y="3857625"/>
            <a:ext cx="4762500" cy="8763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 reachable candidates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Maximum gateway capability</a:t>
            </a:r>
          </a:p>
        </p:txBody>
      </p:sp>
      <p:sp>
        <p:nvSpPr>
          <p:cNvPr id="8" name="">
            <a:extLst xmlns:a="http://schemas.openxmlformats.org/drawingml/2006/main">
              <a:ext uri="{FF2B5EF4-FFF2-40B4-BE49-F238E27FC236}">
                <a16:creationId xmlns:a16="http://schemas.microsoft.com/office/drawing/2014/main" id="{03487A14-7AE0-44AF-94B2-2FC367B339E3}"/>
              </a:ext>
            </a:extLst>
          </p:cNvPr>
          <p:cNvSpPr>
            <a:spLocks xmlns:a="http://schemas.openxmlformats.org/drawingml/2006/main" noGrp="1"/>
          </p:cNvSpPr>
          <p:nvPr/>
        </p:nvSpPr>
        <p:spPr>
          <a:xfrm xmlns:a="http://schemas.openxmlformats.org/drawingml/2006/main">
            <a:off x="7029450" y="3857625"/>
            <a:ext cx="4476750" cy="8763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Network 2</a:t>
            </a:r>
          </a:p>
        </p:txBody>
      </p:sp>
      <p:sp>
        <p:nvSpPr>
          <p:cNvPr id="13" name="">
            <a:extLst xmlns:a="http://schemas.openxmlformats.org/drawingml/2006/main">
              <a:ext uri="{FF2B5EF4-FFF2-40B4-BE49-F238E27FC236}">
                <a16:creationId xmlns:a16="http://schemas.microsoft.com/office/drawing/2014/main" id="{A8CF1694-E075-4D7D-A885-D190DDA4A834}"/>
              </a:ext>
            </a:extLst>
          </p:cNvPr>
          <p:cNvSpPr>
            <a:spLocks xmlns:a="http://schemas.openxmlformats.org/drawingml/2006/main" noGrp="1"/>
          </p:cNvSpPr>
          <p:nvPr/>
        </p:nvSpPr>
        <p:spPr>
          <a:xfrm xmlns:a="http://schemas.openxmlformats.org/drawingml/2006/main">
            <a:off x="685800" y="504825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12B3C"/>
                </a:solidFill>
                <a:latin typeface="Arial"/>
                <a:ea typeface="Arial"/>
                <a:cs typeface="Arial"/>
              </a:defRPr>
            </a:defPPr>
          </a:lstStyle>
          <a:p xmlns:a="http://schemas.openxmlformats.org/drawingml/2006/main">
            <a:pPr>
              <a:defRPr sz="1950" b="1">
                <a:solidFill>
                  <a:srgbClr val="112B3C"/>
                </a:solidFill>
                <a:latin typeface="Arial"/>
                <a:ea typeface="Arial"/>
                <a:cs typeface="Arial"/>
              </a:defRPr>
            </a:pPr>
            <a:r>
              <a:rPr sz="1950" b="1">
                <a:solidFill>
                  <a:srgbClr val="112B3C"/>
                </a:solidFill>
                <a:latin typeface="Arial"/>
                <a:ea typeface="Arial"/>
                <a:cs typeface="Arial"/>
              </a:rPr>
              <a:t>Control source: node 0</a:t>
            </a:r>
          </a:p>
        </p:txBody>
      </p:sp>
      <p:sp>
        <p:nvSpPr>
          <p:cNvPr id="14" name="">
            <a:extLst xmlns:a="http://schemas.openxmlformats.org/drawingml/2006/main">
              <a:ext uri="{FF2B5EF4-FFF2-40B4-BE49-F238E27FC236}">
                <a16:creationId xmlns:a16="http://schemas.microsoft.com/office/drawing/2014/main" id="{A19C6959-403A-4CCB-8D45-F8B2C970E5EC}"/>
              </a:ext>
            </a:extLst>
          </p:cNvPr>
          <p:cNvSpPr>
            <a:spLocks xmlns:a="http://schemas.openxmlformats.org/drawingml/2006/main" noGrp="1"/>
          </p:cNvSpPr>
          <p:nvPr/>
        </p:nvSpPr>
        <p:spPr>
          <a:xfrm xmlns:a="http://schemas.openxmlformats.org/drawingml/2006/main">
            <a:off x="7029450" y="5048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12B3C"/>
                </a:solidFill>
                <a:latin typeface="Arial"/>
                <a:ea typeface="Arial"/>
                <a:cs typeface="Arial"/>
              </a:defRPr>
            </a:defPPr>
          </a:lstStyle>
          <a:p xmlns:a="http://schemas.openxmlformats.org/drawingml/2006/main">
            <a:pPr>
              <a:defRPr sz="1875" b="1">
                <a:solidFill>
                  <a:srgbClr val="112B3C"/>
                </a:solidFill>
                <a:latin typeface="Arial"/>
                <a:ea typeface="Arial"/>
                <a:cs typeface="Arial"/>
              </a:defRPr>
            </a:pPr>
            <a:r>
              <a:rPr sz="1875" b="1">
                <a:solidFill>
                  <a:srgbClr val="112B3C"/>
                </a:solidFill>
                <a:latin typeface="Arial"/>
                <a:ea typeface="Arial"/>
                <a:cs typeface="Arial"/>
              </a:rPr>
              <a:t>Physical representative: node 70</a:t>
            </a:r>
          </a:p>
        </p:txBody>
      </p:sp>
      <p:sp>
        <p:nvSpPr>
          <p:cNvPr id="15" name="">
            <a:extLst xmlns:a="http://schemas.openxmlformats.org/drawingml/2006/main">
              <a:ext uri="{FF2B5EF4-FFF2-40B4-BE49-F238E27FC236}">
                <a16:creationId xmlns:a16="http://schemas.microsoft.com/office/drawing/2014/main" id="{38DB7B88-C16E-45CD-AABF-44F3D1C2AF62}"/>
              </a:ext>
            </a:extLst>
          </p:cNvPr>
          <p:cNvSpPr>
            <a:spLocks xmlns:a="http://schemas.openxmlformats.org/drawingml/2006/main" noGrp="1"/>
          </p:cNvSpPr>
          <p:nvPr/>
        </p:nvSpPr>
        <p:spPr>
          <a:xfrm xmlns:a="http://schemas.openxmlformats.org/drawingml/2006/main">
            <a:off x="685800" y="5762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anomaly detection: Network 2   /   health monitoring: Network 2   /   discoverability: Network 2</a:t>
            </a:r>
          </a:p>
        </p:txBody>
      </p:sp>
      <p:sp>
        <p:nvSpPr>
          <p:cNvPr id="16" name="">
            <a:extLst xmlns:a="http://schemas.openxmlformats.org/drawingml/2006/main">
              <a:ext uri="{FF2B5EF4-FFF2-40B4-BE49-F238E27FC236}">
                <a16:creationId xmlns:a16="http://schemas.microsoft.com/office/drawing/2014/main" id="{D5B4942B-DD22-4324-BC2C-DA90A3F5854A}"/>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16 / appendix</a:t>
            </a:r>
          </a:p>
        </p:txBody>
      </p:sp>
      <p:sp>
        <p:nvSpPr>
          <p:cNvPr id="17" name="">
            <a:extLst xmlns:a="http://schemas.openxmlformats.org/drawingml/2006/main">
              <a:ext uri="{FF2B5EF4-FFF2-40B4-BE49-F238E27FC236}">
                <a16:creationId xmlns:a16="http://schemas.microsoft.com/office/drawing/2014/main" id="{63629227-7FB0-4724-BD84-D907DEAEEE18}"/>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simulation/entities.py: scope_candidates; simulation/capability.py: refresh_capabilities; simulation/protocols.py</a:t>
            </a:r>
          </a:p>
        </p:txBody>
      </p:sp>
    </p:spTree>
    <p:extLst>
      <p:ext uri="{BB962C8B-B14F-4D97-AF65-F5344CB8AC3E}">
        <p14:creationId xmlns:p14="http://schemas.microsoft.com/office/powerpoint/2010/main" val="2141000179"/>
      </p:ext>
    </p:extLst>
  </p:cSld>
</p:sld>
</file>

<file path=ppt/slides/slide1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A17F54D-D132-4FC0-A51B-B7C63E4C1D22}"/>
              </a:ext>
            </a:extLst>
          </p:cNvPr>
          <p:cNvCxnSpPr>
            <a:stCxn xmlns:a="http://schemas.openxmlformats.org/drawingml/2006/main" id="10" idx="1"/>
            <a:endCxn xmlns:a="http://schemas.openxmlformats.org/drawingml/2006/main" id="3" idx="2"/>
          </p:cNvCxnSpPr>
          <p:nvPr/>
        </p:nvCxnSpPr>
        <p:spPr>
          <a:xfrm xmlns:a="http://schemas.openxmlformats.org/drawingml/2006/main" flipH="1" flipV="1">
            <a:off x="5924550" y="2714625"/>
            <a:ext cx="1171575" cy="1847850"/>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13" name="">
            <a:extLst xmlns:a="http://schemas.openxmlformats.org/drawingml/2006/main">
              <a:ext uri="{FF2B5EF4-FFF2-40B4-BE49-F238E27FC236}">
                <a16:creationId xmlns:a16="http://schemas.microsoft.com/office/drawing/2014/main" id="{65DA4C01-7B88-4E36-8215-E2F0A4F4A306}"/>
              </a:ext>
            </a:extLst>
          </p:cNvPr>
          <p:cNvCxnSpPr>
            <a:stCxn xmlns:a="http://schemas.openxmlformats.org/drawingml/2006/main" id="3" idx="3"/>
            <a:endCxn xmlns:a="http://schemas.openxmlformats.org/drawingml/2006/main" id="10" idx="0"/>
          </p:cNvCxnSpPr>
          <p:nvPr/>
        </p:nvCxnSpPr>
        <p:spPr>
          <a:xfrm xmlns:a="http://schemas.openxmlformats.org/drawingml/2006/main">
            <a:off x="7162800" y="2357438"/>
            <a:ext cx="1314450" cy="1785938"/>
          </a:xfrm>
          <a:prstGeom xmlns:a="http://schemas.openxmlformats.org/drawingml/2006/main" prst="bentConnector4">
            <a:avLst>
              <a:gd name="adj1" fmla="val 17391"/>
              <a:gd name="adj2" fmla="val 87200"/>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3123CC1C-78E2-4282-AF2C-30A51CF6078F}"/>
              </a:ext>
            </a:extLst>
          </p:cNvPr>
          <p:cNvCxnSpPr>
            <a:stCxn xmlns:a="http://schemas.openxmlformats.org/drawingml/2006/main" id="9" idx="3"/>
            <a:endCxn xmlns:a="http://schemas.openxmlformats.org/drawingml/2006/main" id="3" idx="2"/>
          </p:cNvCxnSpPr>
          <p:nvPr/>
        </p:nvCxnSpPr>
        <p:spPr>
          <a:xfrm xmlns:a="http://schemas.openxmlformats.org/drawingml/2006/main" flipV="1">
            <a:off x="5095875" y="2714625"/>
            <a:ext cx="828675" cy="1847850"/>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1A9A52B9-5F99-480C-A5A6-3BE6D39DB4A0}"/>
              </a:ext>
            </a:extLst>
          </p:cNvPr>
          <p:cNvCxnSpPr>
            <a:stCxn xmlns:a="http://schemas.openxmlformats.org/drawingml/2006/main" id="3" idx="1"/>
            <a:endCxn xmlns:a="http://schemas.openxmlformats.org/drawingml/2006/main" id="9" idx="0"/>
          </p:cNvCxnSpPr>
          <p:nvPr/>
        </p:nvCxnSpPr>
        <p:spPr>
          <a:xfrm xmlns:a="http://schemas.openxmlformats.org/drawingml/2006/main" flipH="1">
            <a:off x="3714750" y="2357438"/>
            <a:ext cx="971550" cy="1785938"/>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0CD6C2C7-B2D8-418D-8CA0-CE46E1DF9D85}"/>
              </a:ext>
            </a:extLst>
          </p:cNvPr>
          <p:cNvCxnSpPr>
            <a:stCxn xmlns:a="http://schemas.openxmlformats.org/drawingml/2006/main" id="3" idx="3"/>
            <a:endCxn xmlns:a="http://schemas.openxmlformats.org/drawingml/2006/main" id="4" idx="1"/>
          </p:cNvCxnSpPr>
          <p:nvPr/>
        </p:nvCxnSpPr>
        <p:spPr>
          <a:xfrm xmlns:a="http://schemas.openxmlformats.org/drawingml/2006/main">
            <a:off x="7162800" y="2357438"/>
            <a:ext cx="21526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3F81C2D7-2E40-47D3-AD70-5B60D107B9E6}"/>
              </a:ext>
            </a:extLst>
          </p:cNvPr>
          <p:cNvCxnSpPr>
            <a:stCxn xmlns:a="http://schemas.openxmlformats.org/drawingml/2006/main" id="2" idx="3"/>
            <a:endCxn xmlns:a="http://schemas.openxmlformats.org/drawingml/2006/main" id="3" idx="1"/>
          </p:cNvCxnSpPr>
          <p:nvPr/>
        </p:nvCxnSpPr>
        <p:spPr>
          <a:xfrm xmlns:a="http://schemas.openxmlformats.org/drawingml/2006/main">
            <a:off x="2876550" y="2357438"/>
            <a:ext cx="180975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22" name="">
            <a:extLst xmlns:a="http://schemas.openxmlformats.org/drawingml/2006/main">
              <a:ext uri="{FF2B5EF4-FFF2-40B4-BE49-F238E27FC236}">
                <a16:creationId xmlns:a16="http://schemas.microsoft.com/office/drawing/2014/main" id="{BB566B7A-9108-4549-8E6F-7401B3D82AC6}"/>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Lease lifecycle and epoch handling</a:t>
            </a:r>
          </a:p>
        </p:txBody>
      </p:sp>
      <p:sp>
        <p:nvSpPr>
          <p:cNvPr id="2" name="">
            <a:extLst xmlns:a="http://schemas.openxmlformats.org/drawingml/2006/main">
              <a:ext uri="{FF2B5EF4-FFF2-40B4-BE49-F238E27FC236}">
                <a16:creationId xmlns:a16="http://schemas.microsoft.com/office/drawing/2014/main" id="{24A3F250-71EE-445B-BDD0-110CA8523222}"/>
              </a:ext>
            </a:extLst>
          </p:cNvPr>
          <p:cNvSpPr>
            <a:spLocks xmlns:a="http://schemas.openxmlformats.org/drawingml/2006/main" noGrp="1"/>
          </p:cNvSpPr>
          <p:nvPr/>
        </p:nvSpPr>
        <p:spPr>
          <a:xfrm xmlns:a="http://schemas.openxmlformats.org/drawingml/2006/main">
            <a:off x="685800" y="2000250"/>
            <a:ext cx="2190750" cy="71437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PENDING</a:t>
            </a:r>
          </a:p>
        </p:txBody>
      </p:sp>
      <p:sp>
        <p:nvSpPr>
          <p:cNvPr id="3" name="">
            <a:extLst xmlns:a="http://schemas.openxmlformats.org/drawingml/2006/main">
              <a:ext uri="{FF2B5EF4-FFF2-40B4-BE49-F238E27FC236}">
                <a16:creationId xmlns:a16="http://schemas.microsoft.com/office/drawing/2014/main" id="{CBDCE1C2-C5FD-476E-9551-0D2E507B0532}"/>
              </a:ext>
            </a:extLst>
          </p:cNvPr>
          <p:cNvSpPr>
            <a:spLocks xmlns:a="http://schemas.openxmlformats.org/drawingml/2006/main" noGrp="1"/>
          </p:cNvSpPr>
          <p:nvPr/>
        </p:nvSpPr>
        <p:spPr>
          <a:xfrm xmlns:a="http://schemas.openxmlformats.org/drawingml/2006/main">
            <a:off x="4686300" y="2000250"/>
            <a:ext cx="2476500" cy="71437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ACTIVE</a:t>
            </a:r>
          </a:p>
        </p:txBody>
      </p:sp>
      <p:sp>
        <p:nvSpPr>
          <p:cNvPr id="4" name="">
            <a:extLst xmlns:a="http://schemas.openxmlformats.org/drawingml/2006/main">
              <a:ext uri="{FF2B5EF4-FFF2-40B4-BE49-F238E27FC236}">
                <a16:creationId xmlns:a16="http://schemas.microsoft.com/office/drawing/2014/main" id="{F363751B-BA20-4E9E-8D44-BB699BA34625}"/>
              </a:ext>
            </a:extLst>
          </p:cNvPr>
          <p:cNvSpPr>
            <a:spLocks xmlns:a="http://schemas.openxmlformats.org/drawingml/2006/main" noGrp="1"/>
          </p:cNvSpPr>
          <p:nvPr/>
        </p:nvSpPr>
        <p:spPr>
          <a:xfrm xmlns:a="http://schemas.openxmlformats.org/drawingml/2006/main">
            <a:off x="9315450" y="2000250"/>
            <a:ext cx="2190750" cy="71437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EXPIRED</a:t>
            </a:r>
          </a:p>
        </p:txBody>
      </p:sp>
      <p:sp>
        <p:nvSpPr>
          <p:cNvPr id="7" name="">
            <a:extLst xmlns:a="http://schemas.openxmlformats.org/drawingml/2006/main">
              <a:ext uri="{FF2B5EF4-FFF2-40B4-BE49-F238E27FC236}">
                <a16:creationId xmlns:a16="http://schemas.microsoft.com/office/drawing/2014/main" id="{7D821645-A260-4281-B69C-64B8A537728B}"/>
              </a:ext>
            </a:extLst>
          </p:cNvPr>
          <p:cNvSpPr>
            <a:spLocks xmlns:a="http://schemas.openxmlformats.org/drawingml/2006/main" noGrp="1"/>
          </p:cNvSpPr>
          <p:nvPr/>
        </p:nvSpPr>
        <p:spPr>
          <a:xfrm xmlns:a="http://schemas.openxmlformats.org/drawingml/2006/main">
            <a:off x="3162300" y="16954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activate</a:t>
            </a:r>
          </a:p>
        </p:txBody>
      </p:sp>
      <p:sp>
        <p:nvSpPr>
          <p:cNvPr id="8" name="">
            <a:extLst xmlns:a="http://schemas.openxmlformats.org/drawingml/2006/main">
              <a:ext uri="{FF2B5EF4-FFF2-40B4-BE49-F238E27FC236}">
                <a16:creationId xmlns:a16="http://schemas.microsoft.com/office/drawing/2014/main" id="{88B896FF-440B-442E-BC34-D4840D0B26B0}"/>
              </a:ext>
            </a:extLst>
          </p:cNvPr>
          <p:cNvSpPr>
            <a:spLocks xmlns:a="http://schemas.openxmlformats.org/drawingml/2006/main" noGrp="1"/>
          </p:cNvSpPr>
          <p:nvPr/>
        </p:nvSpPr>
        <p:spPr>
          <a:xfrm xmlns:a="http://schemas.openxmlformats.org/drawingml/2006/main">
            <a:off x="7496175" y="16954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expire / invalidate</a:t>
            </a:r>
          </a:p>
        </p:txBody>
      </p:sp>
      <p:sp>
        <p:nvSpPr>
          <p:cNvPr id="9" name="">
            <a:extLst xmlns:a="http://schemas.openxmlformats.org/drawingml/2006/main">
              <a:ext uri="{FF2B5EF4-FFF2-40B4-BE49-F238E27FC236}">
                <a16:creationId xmlns:a16="http://schemas.microsoft.com/office/drawing/2014/main" id="{7C678A1A-06AF-4BF8-9997-E1F5817BBA4F}"/>
              </a:ext>
            </a:extLst>
          </p:cNvPr>
          <p:cNvSpPr>
            <a:spLocks xmlns:a="http://schemas.openxmlformats.org/drawingml/2006/main" noGrp="1"/>
          </p:cNvSpPr>
          <p:nvPr/>
        </p:nvSpPr>
        <p:spPr>
          <a:xfrm xmlns:a="http://schemas.openxmlformats.org/drawingml/2006/main">
            <a:off x="2333625" y="4143375"/>
            <a:ext cx="2762250" cy="8382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RENEWING</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update timing</a:t>
            </a:r>
          </a:p>
        </p:txBody>
      </p:sp>
      <p:sp>
        <p:nvSpPr>
          <p:cNvPr id="10" name="">
            <a:extLst xmlns:a="http://schemas.openxmlformats.org/drawingml/2006/main">
              <a:ext uri="{FF2B5EF4-FFF2-40B4-BE49-F238E27FC236}">
                <a16:creationId xmlns:a16="http://schemas.microsoft.com/office/drawing/2014/main" id="{0CAC1CFD-ED47-4775-91D0-6F8988FA08CB}"/>
              </a:ext>
            </a:extLst>
          </p:cNvPr>
          <p:cNvSpPr>
            <a:spLocks xmlns:a="http://schemas.openxmlformats.org/drawingml/2006/main" noGrp="1"/>
          </p:cNvSpPr>
          <p:nvPr/>
        </p:nvSpPr>
        <p:spPr>
          <a:xfrm xmlns:a="http://schemas.openxmlformats.org/drawingml/2006/main">
            <a:off x="7096125" y="4143375"/>
            <a:ext cx="2762250" cy="8382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MIGRATING</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update holder + timing</a:t>
            </a:r>
          </a:p>
        </p:txBody>
      </p:sp>
      <p:sp>
        <p:nvSpPr>
          <p:cNvPr id="15" name="">
            <a:extLst xmlns:a="http://schemas.openxmlformats.org/drawingml/2006/main">
              <a:ext uri="{FF2B5EF4-FFF2-40B4-BE49-F238E27FC236}">
                <a16:creationId xmlns:a16="http://schemas.microsoft.com/office/drawing/2014/main" id="{C796F214-3B99-4E0D-87B7-178ACEB1BD8B}"/>
              </a:ext>
            </a:extLst>
          </p:cNvPr>
          <p:cNvSpPr>
            <a:spLocks xmlns:a="http://schemas.openxmlformats.org/drawingml/2006/main" noGrp="1"/>
          </p:cNvSpPr>
          <p:nvPr/>
        </p:nvSpPr>
        <p:spPr>
          <a:xfrm xmlns:a="http://schemas.openxmlformats.org/drawingml/2006/main">
            <a:off x="1857375" y="32289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renew</a:t>
            </a:r>
          </a:p>
        </p:txBody>
      </p:sp>
      <p:sp>
        <p:nvSpPr>
          <p:cNvPr id="16" name="">
            <a:extLst xmlns:a="http://schemas.openxmlformats.org/drawingml/2006/main">
              <a:ext uri="{FF2B5EF4-FFF2-40B4-BE49-F238E27FC236}">
                <a16:creationId xmlns:a16="http://schemas.microsoft.com/office/drawing/2014/main" id="{269966E7-D5A7-4660-9B34-883ADD5B853A}"/>
              </a:ext>
            </a:extLst>
          </p:cNvPr>
          <p:cNvSpPr>
            <a:spLocks xmlns:a="http://schemas.openxmlformats.org/drawingml/2006/main" noGrp="1"/>
          </p:cNvSpPr>
          <p:nvPr/>
        </p:nvSpPr>
        <p:spPr>
          <a:xfrm xmlns:a="http://schemas.openxmlformats.org/drawingml/2006/main">
            <a:off x="3571875" y="5286375"/>
            <a:ext cx="233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commit_renewal</a:t>
            </a:r>
          </a:p>
        </p:txBody>
      </p:sp>
      <p:sp>
        <p:nvSpPr>
          <p:cNvPr id="17" name="">
            <a:extLst xmlns:a="http://schemas.openxmlformats.org/drawingml/2006/main">
              <a:ext uri="{FF2B5EF4-FFF2-40B4-BE49-F238E27FC236}">
                <a16:creationId xmlns:a16="http://schemas.microsoft.com/office/drawing/2014/main" id="{F438A8E8-FE87-4851-AA9B-E4BFEC9BAF69}"/>
              </a:ext>
            </a:extLst>
          </p:cNvPr>
          <p:cNvSpPr>
            <a:spLocks xmlns:a="http://schemas.openxmlformats.org/drawingml/2006/main" noGrp="1"/>
          </p:cNvSpPr>
          <p:nvPr/>
        </p:nvSpPr>
        <p:spPr>
          <a:xfrm xmlns:a="http://schemas.openxmlformats.org/drawingml/2006/main">
            <a:off x="8096250" y="322897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begin_migration</a:t>
            </a:r>
          </a:p>
        </p:txBody>
      </p:sp>
      <p:sp>
        <p:nvSpPr>
          <p:cNvPr id="18" name="">
            <a:extLst xmlns:a="http://schemas.openxmlformats.org/drawingml/2006/main">
              <a:ext uri="{FF2B5EF4-FFF2-40B4-BE49-F238E27FC236}">
                <a16:creationId xmlns:a16="http://schemas.microsoft.com/office/drawing/2014/main" id="{4188C4B1-CCF4-457B-9123-8E4E8610D64D}"/>
              </a:ext>
            </a:extLst>
          </p:cNvPr>
          <p:cNvSpPr>
            <a:spLocks xmlns:a="http://schemas.openxmlformats.org/drawingml/2006/main" noGrp="1"/>
          </p:cNvSpPr>
          <p:nvPr/>
        </p:nvSpPr>
        <p:spPr>
          <a:xfrm xmlns:a="http://schemas.openxmlformats.org/drawingml/2006/main">
            <a:off x="7429500" y="528637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migrated</a:t>
            </a:r>
          </a:p>
        </p:txBody>
      </p:sp>
      <p:sp>
        <p:nvSpPr>
          <p:cNvPr id="19" name="">
            <a:extLst xmlns:a="http://schemas.openxmlformats.org/drawingml/2006/main">
              <a:ext uri="{FF2B5EF4-FFF2-40B4-BE49-F238E27FC236}">
                <a16:creationId xmlns:a16="http://schemas.microsoft.com/office/drawing/2014/main" id="{7F5270B6-8FAD-4596-9365-72943450E1A7}"/>
              </a:ext>
            </a:extLst>
          </p:cNvPr>
          <p:cNvSpPr>
            <a:spLocks xmlns:a="http://schemas.openxmlformats.org/drawingml/2006/main" noGrp="1"/>
          </p:cNvSpPr>
          <p:nvPr/>
        </p:nvSpPr>
        <p:spPr>
          <a:xfrm xmlns:a="http://schemas.openxmlformats.org/drawingml/2006/main">
            <a:off x="685800" y="56388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Invalidation can also expire a renewing or migrating lease.</a:t>
            </a:r>
          </a:p>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Epoch rollover regrants by default. Retention updates epoch labels in place.</a:t>
            </a:r>
          </a:p>
        </p:txBody>
      </p:sp>
      <p:sp>
        <p:nvSpPr>
          <p:cNvPr id="20" name="">
            <a:extLst xmlns:a="http://schemas.openxmlformats.org/drawingml/2006/main">
              <a:ext uri="{FF2B5EF4-FFF2-40B4-BE49-F238E27FC236}">
                <a16:creationId xmlns:a16="http://schemas.microsoft.com/office/drawing/2014/main" id="{DB78DF1A-A10D-4573-A0A4-9020A9795DAC}"/>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17 / appendix</a:t>
            </a:r>
          </a:p>
        </p:txBody>
      </p:sp>
      <p:sp>
        <p:nvSpPr>
          <p:cNvPr id="21" name="">
            <a:extLst xmlns:a="http://schemas.openxmlformats.org/drawingml/2006/main">
              <a:ext uri="{FF2B5EF4-FFF2-40B4-BE49-F238E27FC236}">
                <a16:creationId xmlns:a16="http://schemas.microsoft.com/office/drawing/2014/main" id="{2C6ADEAD-E2EB-4B35-B653-83C0BEF391D5}"/>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simulation/leases.py; simulation/protocols.py: _advance_epoch; _lease_duration</a:t>
            </a:r>
          </a:p>
        </p:txBody>
      </p:sp>
    </p:spTree>
    <p:extLst>
      <p:ext uri="{BB962C8B-B14F-4D97-AF65-F5344CB8AC3E}">
        <p14:creationId xmlns:p14="http://schemas.microsoft.com/office/powerpoint/2010/main" val="2118890242"/>
      </p:ext>
    </p:extLst>
  </p:cSld>
</p:sld>
</file>

<file path=ppt/slides/slide1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F5C502A-5F54-47C3-A344-8D296BB41C6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Appendix: exact role-management ordering</a:t>
            </a:r>
          </a:p>
        </p:txBody>
      </p:sp>
      <p:sp>
        <p:nvSpPr>
          <p:cNvPr id="2" name="">
            <a:extLst xmlns:a="http://schemas.openxmlformats.org/drawingml/2006/main">
              <a:ext uri="{FF2B5EF4-FFF2-40B4-BE49-F238E27FC236}">
                <a16:creationId xmlns:a16="http://schemas.microsoft.com/office/drawing/2014/main" id="{349043B2-D3FD-42ED-B172-9521ADED0817}"/>
              </a:ext>
            </a:extLst>
          </p:cNvPr>
          <p:cNvSpPr>
            <a:spLocks xmlns:a="http://schemas.openxmlformats.org/drawingml/2006/main" noGrp="1"/>
          </p:cNvSpPr>
          <p:nvPr/>
        </p:nvSpPr>
        <p:spPr>
          <a:xfrm xmlns:a="http://schemas.openxmlformats.org/drawingml/2006/main">
            <a:off x="685800" y="15525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advance_epoch_if_due()  # regrant or configured retention</a:t>
            </a:r>
          </a:p>
        </p:txBody>
      </p:sp>
      <p:sp>
        <p:nvSpPr>
          <p:cNvPr id="3" name="">
            <a:extLst xmlns:a="http://schemas.openxmlformats.org/drawingml/2006/main">
              <a:ext uri="{FF2B5EF4-FFF2-40B4-BE49-F238E27FC236}">
                <a16:creationId xmlns:a16="http://schemas.microsoft.com/office/drawing/2014/main" id="{C09C0993-E4F1-43EF-AD75-C40518FE3EBA}"/>
              </a:ext>
            </a:extLst>
          </p:cNvPr>
          <p:cNvSpPr>
            <a:spLocks xmlns:a="http://schemas.openxmlformats.org/drawingml/2006/main" noGrp="1"/>
          </p:cNvSpPr>
          <p:nvPr/>
        </p:nvSpPr>
        <p:spPr>
          <a:xfrm xmlns:a="http://schemas.openxmlformats.org/drawingml/2006/main">
            <a:off x="685800" y="20097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for each (role, scope):</a:t>
            </a:r>
          </a:p>
        </p:txBody>
      </p:sp>
      <p:sp>
        <p:nvSpPr>
          <p:cNvPr id="4" name="">
            <a:extLst xmlns:a="http://schemas.openxmlformats.org/drawingml/2006/main">
              <a:ext uri="{FF2B5EF4-FFF2-40B4-BE49-F238E27FC236}">
                <a16:creationId xmlns:a16="http://schemas.microsoft.com/office/drawing/2014/main" id="{29118497-8333-4834-B109-20F3CB6B4A46}"/>
              </a:ext>
            </a:extLst>
          </p:cNvPr>
          <p:cNvSpPr>
            <a:spLocks xmlns:a="http://schemas.openxmlformats.org/drawingml/2006/main" noGrp="1"/>
          </p:cNvSpPr>
          <p:nvPr/>
        </p:nvSpPr>
        <p:spPr>
          <a:xfrm xmlns:a="http://schemas.openxmlformats.org/drawingml/2006/main">
            <a:off x="685800" y="24669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observe holder availability and honor detection delay</a:t>
            </a:r>
          </a:p>
        </p:txBody>
      </p:sp>
      <p:sp>
        <p:nvSpPr>
          <p:cNvPr id="5" name="">
            <a:extLst xmlns:a="http://schemas.openxmlformats.org/drawingml/2006/main">
              <a:ext uri="{FF2B5EF4-FFF2-40B4-BE49-F238E27FC236}">
                <a16:creationId xmlns:a16="http://schemas.microsoft.com/office/drawing/2014/main" id="{C6315E9E-741E-4A9C-9FA6-998153FA2958}"/>
              </a:ext>
            </a:extLst>
          </p:cNvPr>
          <p:cNvSpPr>
            <a:spLocks xmlns:a="http://schemas.openxmlformats.org/drawingml/2006/main" noGrp="1"/>
          </p:cNvSpPr>
          <p:nvPr/>
        </p:nvSpPr>
        <p:spPr>
          <a:xfrm xmlns:a="http://schemas.openxmlformats.org/drawingml/2006/main">
            <a:off x="685800" y="29241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if invalid state / failed holder / wrong epoch: invalidate + remove</a:t>
            </a:r>
          </a:p>
        </p:txBody>
      </p:sp>
      <p:sp>
        <p:nvSpPr>
          <p:cNvPr id="6" name="">
            <a:extLst xmlns:a="http://schemas.openxmlformats.org/drawingml/2006/main">
              <a:ext uri="{FF2B5EF4-FFF2-40B4-BE49-F238E27FC236}">
                <a16:creationId xmlns:a16="http://schemas.microsoft.com/office/drawing/2014/main" id="{8E63819A-6A90-45A5-9E08-8E5335F2AD9B}"/>
              </a:ext>
            </a:extLst>
          </p:cNvPr>
          <p:cNvSpPr>
            <a:spLocks xmlns:a="http://schemas.openxmlformats.org/drawingml/2006/main" noGrp="1"/>
          </p:cNvSpPr>
          <p:nvPr/>
        </p:nvSpPr>
        <p:spPr>
          <a:xfrm xmlns:a="http://schemas.openxmlformats.org/drawingml/2006/main">
            <a:off x="685800" y="33813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elif expired: expire + remove</a:t>
            </a:r>
          </a:p>
        </p:txBody>
      </p:sp>
      <p:sp>
        <p:nvSpPr>
          <p:cNvPr id="7" name="">
            <a:extLst xmlns:a="http://schemas.openxmlformats.org/drawingml/2006/main">
              <a:ext uri="{FF2B5EF4-FFF2-40B4-BE49-F238E27FC236}">
                <a16:creationId xmlns:a16="http://schemas.microsoft.com/office/drawing/2014/main" id="{DF6BE427-CD5B-4E03-869B-04E7B1A1CAA8}"/>
              </a:ext>
            </a:extLst>
          </p:cNvPr>
          <p:cNvSpPr>
            <a:spLocks xmlns:a="http://schemas.openxmlformats.org/drawingml/2006/main" noGrp="1"/>
          </p:cNvSpPr>
          <p:nvPr/>
        </p:nvSpPr>
        <p:spPr>
          <a:xfrm xmlns:a="http://schemas.openxmlformats.org/drawingml/2006/main">
            <a:off x="685800" y="38385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if no lease: attempt assignment; continue</a:t>
            </a:r>
          </a:p>
        </p:txBody>
      </p:sp>
      <p:sp>
        <p:nvSpPr>
          <p:cNvPr id="8" name="">
            <a:extLst xmlns:a="http://schemas.openxmlformats.org/drawingml/2006/main">
              <a:ext uri="{FF2B5EF4-FFF2-40B4-BE49-F238E27FC236}">
                <a16:creationId xmlns:a16="http://schemas.microsoft.com/office/drawing/2014/main" id="{FE79DDEA-CCD6-4BF8-AFA8-956CB9D97694}"/>
              </a:ext>
            </a:extLst>
          </p:cNvPr>
          <p:cNvSpPr>
            <a:spLocks xmlns:a="http://schemas.openxmlformats.org/drawingml/2006/main" noGrp="1"/>
          </p:cNvSpPr>
          <p:nvPr/>
        </p:nvSpPr>
        <p:spPr>
          <a:xfrm xmlns:a="http://schemas.openxmlformats.org/drawingml/2006/main">
            <a:off x="685800" y="42957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renew_if_due(); if renewal fails: attempt assignment; continue</a:t>
            </a:r>
          </a:p>
        </p:txBody>
      </p:sp>
      <p:sp>
        <p:nvSpPr>
          <p:cNvPr id="9" name="">
            <a:extLst xmlns:a="http://schemas.openxmlformats.org/drawingml/2006/main">
              <a:ext uri="{FF2B5EF4-FFF2-40B4-BE49-F238E27FC236}">
                <a16:creationId xmlns:a16="http://schemas.microsoft.com/office/drawing/2014/main" id="{E39608A1-7BEE-4E61-B181-B1D39F96BE0F}"/>
              </a:ext>
            </a:extLst>
          </p:cNvPr>
          <p:cNvSpPr>
            <a:spLocks xmlns:a="http://schemas.openxmlformats.org/drawingml/2006/main" noGrp="1"/>
          </p:cNvSpPr>
          <p:nvPr/>
        </p:nvSpPr>
        <p:spPr>
          <a:xfrm xmlns:a="http://schemas.openxmlformats.org/drawingml/2006/main">
            <a:off x="685800" y="47529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consider optional migration: cost, hysteresis, enabled gate</a:t>
            </a:r>
          </a:p>
        </p:txBody>
      </p:sp>
      <p:sp>
        <p:nvSpPr>
          <p:cNvPr id="10" name="">
            <a:extLst xmlns:a="http://schemas.openxmlformats.org/drawingml/2006/main">
              <a:ext uri="{FF2B5EF4-FFF2-40B4-BE49-F238E27FC236}">
                <a16:creationId xmlns:a16="http://schemas.microsoft.com/office/drawing/2014/main" id="{CCFAD91E-8E21-4272-9A34-0CA2D0A6FAF2}"/>
              </a:ext>
            </a:extLst>
          </p:cNvPr>
          <p:cNvSpPr>
            <a:spLocks xmlns:a="http://schemas.openxmlformats.org/drawingml/2006/main" noGrp="1"/>
          </p:cNvSpPr>
          <p:nvPr/>
        </p:nvSpPr>
        <p:spPr>
          <a:xfrm xmlns:a="http://schemas.openxmlformats.org/drawingml/2006/main">
            <a:off x="685800" y="52101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on MIGRATE delivery: update the existing lease object</a:t>
            </a:r>
          </a:p>
        </p:txBody>
      </p:sp>
      <p:sp>
        <p:nvSpPr>
          <p:cNvPr id="11" name="">
            <a:extLst xmlns:a="http://schemas.openxmlformats.org/drawingml/2006/main">
              <a:ext uri="{FF2B5EF4-FFF2-40B4-BE49-F238E27FC236}">
                <a16:creationId xmlns:a16="http://schemas.microsoft.com/office/drawing/2014/main" id="{139EDF1D-BFCC-46D7-A84D-E78A31FB0197}"/>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18 / appendix</a:t>
            </a:r>
          </a:p>
        </p:txBody>
      </p:sp>
      <p:sp>
        <p:nvSpPr>
          <p:cNvPr id="12" name="">
            <a:extLst xmlns:a="http://schemas.openxmlformats.org/drawingml/2006/main">
              <a:ext uri="{FF2B5EF4-FFF2-40B4-BE49-F238E27FC236}">
                <a16:creationId xmlns:a16="http://schemas.microsoft.com/office/drawing/2014/main" id="{45FC16C8-1C76-4B73-BA18-A97961591D85}"/>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simulation/protocols.py: step; _assign; _renew_if_due; _migrate</a:t>
            </a:r>
          </a:p>
        </p:txBody>
      </p:sp>
    </p:spTree>
    <p:extLst>
      <p:ext uri="{BB962C8B-B14F-4D97-AF65-F5344CB8AC3E}">
        <p14:creationId xmlns:p14="http://schemas.microsoft.com/office/powerpoint/2010/main" val="1299011992"/>
      </p:ext>
    </p:extLst>
  </p:cSld>
</p:sld>
</file>

<file path=ppt/slides/slide1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BAD5BC-C704-4EC3-9891-80073E85ED24}"/>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Service continuity across all scenarios</a:t>
            </a:r>
          </a:p>
        </p:txBody>
      </p:sp>
      <p:pic>
        <p:nvPicPr>
          <p:cNvPr id="2" name="">
            <a:extLst xmlns:a="http://schemas.openxmlformats.org/drawingml/2006/main">
              <a:ext uri="{FF2B5EF4-FFF2-40B4-BE49-F238E27FC236}">
                <a16:creationId xmlns:a16="http://schemas.microsoft.com/office/drawing/2014/main" id="{C33361A6-9236-450A-887D-06BF281F0622}"/>
              </a:ext>
            </a:extLst>
          </p:cNvPr>
          <p:cNvPicPr>
            <a:picLocks xmlns:a="http://schemas.openxmlformats.org/drawingml/2006/main" noChangeAspect="1"/>
          </p:cNvPicPr>
          <p:nvPr/>
        </p:nvPicPr>
        <p:blipFill>
          <a:blip xmlns:r="http://schemas.openxmlformats.org/officeDocument/2006/relationships" xmlns:a="http://schemas.openxmlformats.org/drawingml/2006/main" r:embed="Rcc60d3f0ef574494"/>
          <a:stretch xmlns:a="http://schemas.openxmlformats.org/drawingml/2006/main"/>
        </p:blipFill>
        <p:spPr>
          <a:xfrm xmlns:a="http://schemas.openxmlformats.org/drawingml/2006/main">
            <a:off x="2688167" y="1419225"/>
            <a:ext cx="6815667" cy="4381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E7A7407-ED8F-46B1-97FB-064AD53ACD61}"/>
              </a:ext>
            </a:extLst>
          </p:cNvPr>
          <p:cNvSpPr>
            <a:spLocks xmlns:a="http://schemas.openxmlformats.org/drawingml/2006/main" noGrp="1"/>
          </p:cNvSpPr>
          <p:nvPr/>
        </p:nvSpPr>
        <p:spPr>
          <a:xfrm xmlns:a="http://schemas.openxmlformats.org/drawingml/2006/main">
            <a:off x="685800" y="58578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775"/>
                </a:solidFill>
                <a:latin typeface="Arial"/>
                <a:ea typeface="Arial"/>
                <a:cs typeface="Arial"/>
              </a:defRPr>
            </a:defPPr>
          </a:lstStyle>
          <a:p xmlns:a="http://schemas.openxmlformats.org/drawingml/2006/main">
            <a:pPr>
              <a:defRPr sz="1650" b="0">
                <a:solidFill>
                  <a:srgbClr val="526775"/>
                </a:solidFill>
                <a:latin typeface="Arial"/>
                <a:ea typeface="Arial"/>
                <a:cs typeface="Arial"/>
              </a:defRPr>
            </a:pPr>
            <a:r>
              <a:rPr sz="1650" b="0">
                <a:solidFill>
                  <a:srgbClr val="526775"/>
                </a:solidFill>
                <a:latin typeface="Arial"/>
                <a:ea typeface="Arial"/>
                <a:cs typeface="Arial"/>
              </a:rPr>
              <a:t>Role availability is a lease/holder proxy. C and D nearly overlap and the gate does not add a demonstrated availability benefit.</a:t>
            </a:r>
          </a:p>
        </p:txBody>
      </p:sp>
      <p:sp>
        <p:nvSpPr>
          <p:cNvPr id="4" name="">
            <a:extLst xmlns:a="http://schemas.openxmlformats.org/drawingml/2006/main">
              <a:ext uri="{FF2B5EF4-FFF2-40B4-BE49-F238E27FC236}">
                <a16:creationId xmlns:a16="http://schemas.microsoft.com/office/drawing/2014/main" id="{BF102BE9-60BB-4467-8ED7-B66902910C62}"/>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19 / appendix</a:t>
            </a:r>
          </a:p>
        </p:txBody>
      </p:sp>
      <p:sp>
        <p:nvSpPr>
          <p:cNvPr id="5" name="">
            <a:extLst xmlns:a="http://schemas.openxmlformats.org/drawingml/2006/main">
              <a:ext uri="{FF2B5EF4-FFF2-40B4-BE49-F238E27FC236}">
                <a16:creationId xmlns:a16="http://schemas.microsoft.com/office/drawing/2014/main" id="{FD0DEF27-8383-4FCD-AD52-1FDB5AFA709B}"/>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patent-study/results_20000/capability_service_continuity.png</a:t>
            </a:r>
          </a:p>
        </p:txBody>
      </p:sp>
    </p:spTree>
    <p:extLst>
      <p:ext uri="{BB962C8B-B14F-4D97-AF65-F5344CB8AC3E}">
        <p14:creationId xmlns:p14="http://schemas.microsoft.com/office/powerpoint/2010/main" val="381104458"/>
      </p:ext>
    </p:extLst>
  </p:cSld>
</p:sld>
</file>

<file path=ppt/slides/slide2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404DD5-F238-4851-8EA2-D8AB4CEAC019}"/>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Sensor delivery across all scenarios</a:t>
            </a:r>
          </a:p>
        </p:txBody>
      </p:sp>
      <p:pic>
        <p:nvPicPr>
          <p:cNvPr id="2" name="">
            <a:extLst xmlns:a="http://schemas.openxmlformats.org/drawingml/2006/main">
              <a:ext uri="{FF2B5EF4-FFF2-40B4-BE49-F238E27FC236}">
                <a16:creationId xmlns:a16="http://schemas.microsoft.com/office/drawing/2014/main" id="{83914F5E-4896-4EB6-94B2-BE73839A7CDF}"/>
              </a:ext>
            </a:extLst>
          </p:cNvPr>
          <p:cNvPicPr>
            <a:picLocks xmlns:a="http://schemas.openxmlformats.org/drawingml/2006/main" noChangeAspect="1"/>
          </p:cNvPicPr>
          <p:nvPr/>
        </p:nvPicPr>
        <p:blipFill>
          <a:blip xmlns:r="http://schemas.openxmlformats.org/officeDocument/2006/relationships" xmlns:a="http://schemas.openxmlformats.org/drawingml/2006/main" r:embed="Re7c6656bd8134361"/>
          <a:stretch xmlns:a="http://schemas.openxmlformats.org/drawingml/2006/main"/>
        </p:blipFill>
        <p:spPr>
          <a:xfrm xmlns:a="http://schemas.openxmlformats.org/drawingml/2006/main">
            <a:off x="2688167" y="1419225"/>
            <a:ext cx="6815667" cy="4381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CC03A79-D46A-4BDE-8644-6AAB250892AA}"/>
              </a:ext>
            </a:extLst>
          </p:cNvPr>
          <p:cNvSpPr>
            <a:spLocks xmlns:a="http://schemas.openxmlformats.org/drawingml/2006/main" noGrp="1"/>
          </p:cNvSpPr>
          <p:nvPr/>
        </p:nvSpPr>
        <p:spPr>
          <a:xfrm xmlns:a="http://schemas.openxmlformats.org/drawingml/2006/main">
            <a:off x="685800" y="58578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775"/>
                </a:solidFill>
                <a:latin typeface="Arial"/>
                <a:ea typeface="Arial"/>
                <a:cs typeface="Arial"/>
              </a:defRPr>
            </a:defPPr>
          </a:lstStyle>
          <a:p xmlns:a="http://schemas.openxmlformats.org/drawingml/2006/main">
            <a:pPr>
              <a:defRPr sz="1650" b="0">
                <a:solidFill>
                  <a:srgbClr val="526775"/>
                </a:solidFill>
                <a:latin typeface="Arial"/>
                <a:ea typeface="Arial"/>
                <a:cs typeface="Arial"/>
              </a:defRPr>
            </a:pPr>
            <a:r>
              <a:rPr sz="1650" b="0">
                <a:solidFill>
                  <a:srgbClr val="526775"/>
                </a:solidFill>
                <a:latin typeface="Arial"/>
                <a:ea typeface="Arial"/>
                <a:cs typeface="Arial"/>
              </a:rPr>
              <a:t>Counts measure sensor-to-subnet delivery. They include generated but unrouted items, but only online nodes generate load.</a:t>
            </a:r>
          </a:p>
        </p:txBody>
      </p:sp>
      <p:sp>
        <p:nvSpPr>
          <p:cNvPr id="4" name="">
            <a:extLst xmlns:a="http://schemas.openxmlformats.org/drawingml/2006/main">
              <a:ext uri="{FF2B5EF4-FFF2-40B4-BE49-F238E27FC236}">
                <a16:creationId xmlns:a16="http://schemas.microsoft.com/office/drawing/2014/main" id="{93BEEE8A-ACAB-41B6-BA3E-0647E61DCE4B}"/>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20 / appendix</a:t>
            </a:r>
          </a:p>
        </p:txBody>
      </p:sp>
      <p:sp>
        <p:nvSpPr>
          <p:cNvPr id="5" name="">
            <a:extLst xmlns:a="http://schemas.openxmlformats.org/drawingml/2006/main">
              <a:ext uri="{FF2B5EF4-FFF2-40B4-BE49-F238E27FC236}">
                <a16:creationId xmlns:a16="http://schemas.microsoft.com/office/drawing/2014/main" id="{A59F62E0-60D9-4489-98CF-11CDF89B4B3F}"/>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patent-study/results_20000/sensor_delivery.png</a:t>
            </a:r>
          </a:p>
        </p:txBody>
      </p:sp>
    </p:spTree>
    <p:extLst>
      <p:ext uri="{BB962C8B-B14F-4D97-AF65-F5344CB8AC3E}">
        <p14:creationId xmlns:p14="http://schemas.microsoft.com/office/powerpoint/2010/main" val="1824363629"/>
      </p:ext>
    </p:extLst>
  </p:cSld>
</p:sld>
</file>

<file path=ppt/slides/slide2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AC919DB-2F01-48E2-B659-60F0FF98197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Residual battery across all scenarios</a:t>
            </a:r>
          </a:p>
        </p:txBody>
      </p:sp>
      <p:pic>
        <p:nvPicPr>
          <p:cNvPr id="2" name="">
            <a:extLst xmlns:a="http://schemas.openxmlformats.org/drawingml/2006/main">
              <a:ext uri="{FF2B5EF4-FFF2-40B4-BE49-F238E27FC236}">
                <a16:creationId xmlns:a16="http://schemas.microsoft.com/office/drawing/2014/main" id="{D73AB082-B52A-492F-89ED-5E03F1E631E9}"/>
              </a:ext>
            </a:extLst>
          </p:cNvPr>
          <p:cNvPicPr>
            <a:picLocks xmlns:a="http://schemas.openxmlformats.org/drawingml/2006/main" noChangeAspect="1"/>
          </p:cNvPicPr>
          <p:nvPr/>
        </p:nvPicPr>
        <p:blipFill>
          <a:blip xmlns:r="http://schemas.openxmlformats.org/officeDocument/2006/relationships" xmlns:a="http://schemas.openxmlformats.org/drawingml/2006/main" r:embed="Ra1ffdb1dd5c14173"/>
          <a:stretch xmlns:a="http://schemas.openxmlformats.org/drawingml/2006/main"/>
        </p:blipFill>
        <p:spPr>
          <a:xfrm xmlns:a="http://schemas.openxmlformats.org/drawingml/2006/main">
            <a:off x="2688167" y="1419225"/>
            <a:ext cx="6815667" cy="4381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AFDB134-92AD-483D-A382-E6D543F18D50}"/>
              </a:ext>
            </a:extLst>
          </p:cNvPr>
          <p:cNvSpPr>
            <a:spLocks xmlns:a="http://schemas.openxmlformats.org/drawingml/2006/main" noGrp="1"/>
          </p:cNvSpPr>
          <p:nvPr/>
        </p:nvSpPr>
        <p:spPr>
          <a:xfrm xmlns:a="http://schemas.openxmlformats.org/drawingml/2006/main">
            <a:off x="685800" y="58578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775"/>
                </a:solidFill>
                <a:latin typeface="Arial"/>
                <a:ea typeface="Arial"/>
                <a:cs typeface="Arial"/>
              </a:defRPr>
            </a:defPPr>
          </a:lstStyle>
          <a:p xmlns:a="http://schemas.openxmlformats.org/drawingml/2006/main">
            <a:pPr>
              <a:defRPr sz="1650" b="0">
                <a:solidFill>
                  <a:srgbClr val="526775"/>
                </a:solidFill>
                <a:latin typeface="Arial"/>
                <a:ea typeface="Arial"/>
                <a:cs typeface="Arial"/>
              </a:defRPr>
            </a:pPr>
            <a:r>
              <a:rPr sz="1650" b="0">
                <a:solidFill>
                  <a:srgbClr val="526775"/>
                </a:solidFill>
                <a:latin typeface="Arial"/>
                <a:ea typeface="Arial"/>
                <a:cs typeface="Arial"/>
              </a:rPr>
              <a:t>High battery can coexist with service failure. Communication cost and harvested energy must be interpreted together.</a:t>
            </a:r>
          </a:p>
        </p:txBody>
      </p:sp>
      <p:sp>
        <p:nvSpPr>
          <p:cNvPr id="4" name="">
            <a:extLst xmlns:a="http://schemas.openxmlformats.org/drawingml/2006/main">
              <a:ext uri="{FF2B5EF4-FFF2-40B4-BE49-F238E27FC236}">
                <a16:creationId xmlns:a16="http://schemas.microsoft.com/office/drawing/2014/main" id="{D39D3C78-8C80-479E-8C3A-0D82797A144E}"/>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21 / appendix</a:t>
            </a:r>
          </a:p>
        </p:txBody>
      </p:sp>
      <p:sp>
        <p:nvSpPr>
          <p:cNvPr id="5" name="">
            <a:extLst xmlns:a="http://schemas.openxmlformats.org/drawingml/2006/main">
              <a:ext uri="{FF2B5EF4-FFF2-40B4-BE49-F238E27FC236}">
                <a16:creationId xmlns:a16="http://schemas.microsoft.com/office/drawing/2014/main" id="{9E89FA0F-CC67-4B78-8E1F-0B8C88798B1E}"/>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patent-study/results_20000/residual_battery.png</a:t>
            </a:r>
          </a:p>
        </p:txBody>
      </p:sp>
    </p:spTree>
    <p:extLst>
      <p:ext uri="{BB962C8B-B14F-4D97-AF65-F5344CB8AC3E}">
        <p14:creationId xmlns:p14="http://schemas.microsoft.com/office/powerpoint/2010/main" val="1379678031"/>
      </p:ext>
    </p:extLst>
  </p:cSld>
</p:sld>
</file>

<file path=ppt/slides/slide2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8023D8-6A45-4C69-A11B-9D5E91F7927C}"/>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Active-node fraction across all scenarios</a:t>
            </a:r>
          </a:p>
        </p:txBody>
      </p:sp>
      <p:pic>
        <p:nvPicPr>
          <p:cNvPr id="2" name="">
            <a:extLst xmlns:a="http://schemas.openxmlformats.org/drawingml/2006/main">
              <a:ext uri="{FF2B5EF4-FFF2-40B4-BE49-F238E27FC236}">
                <a16:creationId xmlns:a16="http://schemas.microsoft.com/office/drawing/2014/main" id="{F5BBC55C-E149-4E7F-A728-33A8E90CDBD1}"/>
              </a:ext>
            </a:extLst>
          </p:cNvPr>
          <p:cNvPicPr>
            <a:picLocks xmlns:a="http://schemas.openxmlformats.org/drawingml/2006/main" noChangeAspect="1"/>
          </p:cNvPicPr>
          <p:nvPr/>
        </p:nvPicPr>
        <p:blipFill>
          <a:blip xmlns:r="http://schemas.openxmlformats.org/officeDocument/2006/relationships" xmlns:a="http://schemas.openxmlformats.org/drawingml/2006/main" r:embed="Rbf030f1143084f9c"/>
          <a:stretch xmlns:a="http://schemas.openxmlformats.org/drawingml/2006/main"/>
        </p:blipFill>
        <p:spPr>
          <a:xfrm xmlns:a="http://schemas.openxmlformats.org/drawingml/2006/main">
            <a:off x="2688167" y="1419225"/>
            <a:ext cx="6815667" cy="4381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7D6995D-0FC2-4414-927B-4B49B3065BA1}"/>
              </a:ext>
            </a:extLst>
          </p:cNvPr>
          <p:cNvSpPr>
            <a:spLocks xmlns:a="http://schemas.openxmlformats.org/drawingml/2006/main" noGrp="1"/>
          </p:cNvSpPr>
          <p:nvPr/>
        </p:nvSpPr>
        <p:spPr>
          <a:xfrm xmlns:a="http://schemas.openxmlformats.org/drawingml/2006/main">
            <a:off x="685800" y="58578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775"/>
                </a:solidFill>
                <a:latin typeface="Arial"/>
                <a:ea typeface="Arial"/>
                <a:cs typeface="Arial"/>
              </a:defRPr>
            </a:defPPr>
          </a:lstStyle>
          <a:p xmlns:a="http://schemas.openxmlformats.org/drawingml/2006/main">
            <a:pPr>
              <a:defRPr sz="1650" b="0">
                <a:solidFill>
                  <a:srgbClr val="526775"/>
                </a:solidFill>
                <a:latin typeface="Arial"/>
                <a:ea typeface="Arial"/>
                <a:cs typeface="Arial"/>
              </a:defRPr>
            </a:pPr>
            <a:r>
              <a:rPr sz="1650" b="0">
                <a:solidFill>
                  <a:srgbClr val="526775"/>
                </a:solidFill>
                <a:latin typeface="Arial"/>
                <a:ea typeface="Arial"/>
                <a:cs typeface="Arial"/>
              </a:rPr>
              <a:t>Node survival differs from role continuity and sensor delivery. Network lifetime uses the first active fraction below .5.</a:t>
            </a:r>
          </a:p>
        </p:txBody>
      </p:sp>
      <p:sp>
        <p:nvSpPr>
          <p:cNvPr id="4" name="">
            <a:extLst xmlns:a="http://schemas.openxmlformats.org/drawingml/2006/main">
              <a:ext uri="{FF2B5EF4-FFF2-40B4-BE49-F238E27FC236}">
                <a16:creationId xmlns:a16="http://schemas.microsoft.com/office/drawing/2014/main" id="{9EF1034B-7BC6-4ED4-878D-86648F574E25}"/>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22 / appendix</a:t>
            </a:r>
          </a:p>
        </p:txBody>
      </p:sp>
      <p:sp>
        <p:nvSpPr>
          <p:cNvPr id="5" name="">
            <a:extLst xmlns:a="http://schemas.openxmlformats.org/drawingml/2006/main">
              <a:ext uri="{FF2B5EF4-FFF2-40B4-BE49-F238E27FC236}">
                <a16:creationId xmlns:a16="http://schemas.microsoft.com/office/drawing/2014/main" id="{2495569A-7C86-428A-A077-93F473688A03}"/>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patent-study/results_20000/active_node_fraction.png</a:t>
            </a:r>
          </a:p>
        </p:txBody>
      </p:sp>
    </p:spTree>
    <p:extLst>
      <p:ext uri="{BB962C8B-B14F-4D97-AF65-F5344CB8AC3E}">
        <p14:creationId xmlns:p14="http://schemas.microsoft.com/office/powerpoint/2010/main" val="1065180675"/>
      </p:ext>
    </p:extLst>
  </p:cSld>
</p:sld>
</file>

<file path=ppt/slides/slide2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EDE990-C65C-4289-B91C-176DA6853726}"/>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Service lifetime and right-censoring</a:t>
            </a:r>
          </a:p>
        </p:txBody>
      </p:sp>
      <p:pic>
        <p:nvPicPr>
          <p:cNvPr id="2" name="">
            <a:extLst xmlns:a="http://schemas.openxmlformats.org/drawingml/2006/main">
              <a:ext uri="{FF2B5EF4-FFF2-40B4-BE49-F238E27FC236}">
                <a16:creationId xmlns:a16="http://schemas.microsoft.com/office/drawing/2014/main" id="{62218DB4-2161-4347-9C81-22946EBA88A0}"/>
              </a:ext>
            </a:extLst>
          </p:cNvPr>
          <p:cNvPicPr>
            <a:picLocks xmlns:a="http://schemas.openxmlformats.org/drawingml/2006/main" noChangeAspect="1"/>
          </p:cNvPicPr>
          <p:nvPr/>
        </p:nvPicPr>
        <p:blipFill>
          <a:blip xmlns:r="http://schemas.openxmlformats.org/officeDocument/2006/relationships" xmlns:a="http://schemas.openxmlformats.org/drawingml/2006/main" r:embed="R5b5f220da6aa4e88"/>
          <a:stretch xmlns:a="http://schemas.openxmlformats.org/drawingml/2006/main"/>
        </p:blipFill>
        <p:spPr>
          <a:xfrm xmlns:a="http://schemas.openxmlformats.org/drawingml/2006/main">
            <a:off x="2688167" y="1419225"/>
            <a:ext cx="6815667" cy="4381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59BA2FB-AE0C-4C0E-AB51-0C776B251675}"/>
              </a:ext>
            </a:extLst>
          </p:cNvPr>
          <p:cNvSpPr>
            <a:spLocks xmlns:a="http://schemas.openxmlformats.org/drawingml/2006/main" noGrp="1"/>
          </p:cNvSpPr>
          <p:nvPr/>
        </p:nvSpPr>
        <p:spPr>
          <a:xfrm xmlns:a="http://schemas.openxmlformats.org/drawingml/2006/main">
            <a:off x="685800" y="58578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775"/>
                </a:solidFill>
                <a:latin typeface="Arial"/>
                <a:ea typeface="Arial"/>
                <a:cs typeface="Arial"/>
              </a:defRPr>
            </a:defPPr>
          </a:lstStyle>
          <a:p xmlns:a="http://schemas.openxmlformats.org/drawingml/2006/main">
            <a:pPr>
              <a:defRPr sz="1650" b="0">
                <a:solidFill>
                  <a:srgbClr val="526775"/>
                </a:solidFill>
                <a:latin typeface="Arial"/>
                <a:ea typeface="Arial"/>
                <a:cs typeface="Arial"/>
              </a:defRPr>
            </a:pPr>
            <a:r>
              <a:rPr sz="1650" b="0">
                <a:solidFill>
                  <a:srgbClr val="526775"/>
                </a:solidFill>
                <a:latin typeface="Arial"/>
                <a:ea typeface="Arial"/>
                <a:cs typeface="Arial"/>
              </a:rPr>
              <a:t>No crossing by 20,000 ticks is right-censored. Censored horizons are not observed field failure times.</a:t>
            </a:r>
          </a:p>
        </p:txBody>
      </p:sp>
      <p:sp>
        <p:nvSpPr>
          <p:cNvPr id="4" name="">
            <a:extLst xmlns:a="http://schemas.openxmlformats.org/drawingml/2006/main">
              <a:ext uri="{FF2B5EF4-FFF2-40B4-BE49-F238E27FC236}">
                <a16:creationId xmlns:a16="http://schemas.microsoft.com/office/drawing/2014/main" id="{765B9EEA-DA23-4606-A367-08199FF023D3}"/>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23 / appendix</a:t>
            </a:r>
          </a:p>
        </p:txBody>
      </p:sp>
      <p:sp>
        <p:nvSpPr>
          <p:cNvPr id="5" name="">
            <a:extLst xmlns:a="http://schemas.openxmlformats.org/drawingml/2006/main">
              <a:ext uri="{FF2B5EF4-FFF2-40B4-BE49-F238E27FC236}">
                <a16:creationId xmlns:a16="http://schemas.microsoft.com/office/drawing/2014/main" id="{4D642D02-8BB5-480C-BEFA-D7C444F86264}"/>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patent-study/results_20000/service_lifetime.png</a:t>
            </a:r>
          </a:p>
        </p:txBody>
      </p:sp>
    </p:spTree>
    <p:extLst>
      <p:ext uri="{BB962C8B-B14F-4D97-AF65-F5344CB8AC3E}">
        <p14:creationId xmlns:p14="http://schemas.microsoft.com/office/powerpoint/2010/main" val="1862182406"/>
      </p:ext>
    </p:extLst>
  </p:cSld>
</p:sld>
</file>

<file path=ppt/slides/slide2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F4B4CF-7DB3-49C6-9EFE-5723F7D2B5E6}"/>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Focused C versus D assessment</a:t>
            </a:r>
          </a:p>
        </p:txBody>
      </p:sp>
      <p:sp>
        <p:nvSpPr>
          <p:cNvPr id="2" name="">
            <a:extLst xmlns:a="http://schemas.openxmlformats.org/drawingml/2006/main">
              <a:ext uri="{FF2B5EF4-FFF2-40B4-BE49-F238E27FC236}">
                <a16:creationId xmlns:a16="http://schemas.microsoft.com/office/drawing/2014/main" id="{7A9E6C19-722F-4F4F-B923-B1748C2056C1}"/>
              </a:ext>
            </a:extLst>
          </p:cNvPr>
          <p:cNvSpPr>
            <a:spLocks xmlns:a="http://schemas.openxmlformats.org/drawingml/2006/main" noGrp="1"/>
          </p:cNvSpPr>
          <p:nvPr/>
        </p:nvSpPr>
        <p:spPr>
          <a:xfrm xmlns:a="http://schemas.openxmlformats.org/drawingml/2006/main">
            <a:off x="685800" y="15240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Normal scenario: paired D − C differences across 30 seeds</a:t>
            </a:r>
          </a:p>
        </p:txBody>
      </p:sp>
      <p:graphicFrame>
        <p:nvGraphicFramePr>
          <p:cNvPr id="3" name="">
            <a:extLst xmlns:a="http://schemas.openxmlformats.org/drawingml/2006/main">
              <a:ext uri="{FF2B5EF4-FFF2-40B4-BE49-F238E27FC236}">
                <a16:creationId xmlns:a16="http://schemas.microsoft.com/office/drawing/2014/main" id="{D8A872C4-EE1C-4BBC-BA6D-A173DE8F7440}"/>
              </a:ext>
            </a:extLst>
          </p:cNvPr>
          <p:cNvGraphicFramePr/>
          <p:nvPr/>
        </p:nvGraphicFramePr>
        <p:xfrm>
          <a:off xmlns:a="http://schemas.openxmlformats.org/drawingml/2006/main" x="609600" y="2133600"/>
          <a:ext xmlns:a="http://schemas.openxmlformats.org/drawingml/2006/main" cx="10972800" cy="2952750"/>
        </p:xfrm>
        <a:graphic xmlns:a="http://schemas.openxmlformats.org/drawingml/2006/main">
          <a:graphicData uri="http://schemas.openxmlformats.org/drawingml/2006/table">
            <a:tbl>
              <a:tblPr/>
              <a:tblGrid>
                <a:gridCol w="2857500"/>
                <a:gridCol w="1809750"/>
                <a:gridCol w="1809750"/>
                <a:gridCol w="1619250"/>
                <a:gridCol w="2876550"/>
              </a:tblGrid>
              <a:tr h="590550">
                <a:tc>
                  <a:txBody>
                    <a:bodyPr lIns="85725" tIns="85725" rIns="85725" bIns="85725"/>
                    <a:lstStyle/>
                    <a:p>
                      <a:r>
                        <a:rPr sz="1725" b="1">
                          <a:solidFill>
                            <a:srgbClr val="FFFFFF"/>
                          </a:solidFill>
                          <a:latin typeface="Arial"/>
                          <a:ea typeface="Arial"/>
                          <a:cs typeface="Arial"/>
                        </a:rPr>
                        <a:t>Metric</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C: harvest</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D: + gate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D − C</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95% paired CI</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590550">
                <a:tc>
                  <a:txBody>
                    <a:bodyPr lIns="85725" tIns="85725" rIns="85725" bIns="85725"/>
                    <a:lstStyle/>
                    <a:p>
                      <a:r>
                        <a:rPr sz="1725" b="0">
                          <a:solidFill>
                            <a:srgbClr val="112B3C"/>
                          </a:solidFill>
                          <a:latin typeface="Arial"/>
                          <a:ea typeface="Arial"/>
                          <a:cs typeface="Arial"/>
                        </a:rPr>
                        <a:t>Migrations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542.03</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515.80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-26.23</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[-39.88, -12.59]</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90550">
                <a:tc>
                  <a:txBody>
                    <a:bodyPr lIns="85725" tIns="85725" rIns="85725" bIns="85725"/>
                    <a:lstStyle/>
                    <a:p>
                      <a:r>
                        <a:rPr sz="1725" b="0">
                          <a:solidFill>
                            <a:srgbClr val="112B3C"/>
                          </a:solidFill>
                          <a:latin typeface="Arial"/>
                          <a:ea typeface="Arial"/>
                          <a:cs typeface="Arial"/>
                        </a:rPr>
                        <a:t>Energy/item × 10⁻⁶</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154.377</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154.823</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0.446</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[0.056, 0.836]</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90550">
                <a:tc>
                  <a:txBody>
                    <a:bodyPr lIns="85725" tIns="85725" rIns="85725" bIns="85725"/>
                    <a:lstStyle/>
                    <a:p>
                      <a:r>
                        <a:rPr sz="1725" b="0">
                          <a:solidFill>
                            <a:srgbClr val="112B3C"/>
                          </a:solidFill>
                          <a:latin typeface="Arial"/>
                          <a:ea typeface="Arial"/>
                          <a:cs typeface="Arial"/>
                        </a:rPr>
                        <a:t>Communication energy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297.082</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297.813</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0.730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[0.012, 1.449]</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90550">
                <a:tc>
                  <a:txBody>
                    <a:bodyPr lIns="85725" tIns="85725" rIns="85725" bIns="85725"/>
                    <a:lstStyle/>
                    <a:p>
                      <a:r>
                        <a:rPr sz="1725" b="0">
                          <a:solidFill>
                            <a:srgbClr val="112B3C"/>
                          </a:solidFill>
                          <a:latin typeface="Arial"/>
                          <a:ea typeface="Arial"/>
                          <a:cs typeface="Arial"/>
                        </a:rPr>
                        <a:t>CSC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1.0000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1.0000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0.0000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[0.0000, 0.0000]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4" name="">
            <a:extLst xmlns:a="http://schemas.openxmlformats.org/drawingml/2006/main">
              <a:ext uri="{FF2B5EF4-FFF2-40B4-BE49-F238E27FC236}">
                <a16:creationId xmlns:a16="http://schemas.microsoft.com/office/drawing/2014/main" id="{882220F2-A34C-4942-B62C-52ACFF583B75}"/>
              </a:ext>
            </a:extLst>
          </p:cNvPr>
          <p:cNvSpPr>
            <a:spLocks xmlns:a="http://schemas.openxmlformats.org/drawingml/2006/main" noGrp="1"/>
          </p:cNvSpPr>
          <p:nvPr/>
        </p:nvSpPr>
        <p:spPr>
          <a:xfrm xmlns:a="http://schemas.openxmlformats.org/drawingml/2006/main">
            <a:off x="685800" y="5381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007F7B"/>
                </a:solidFill>
                <a:latin typeface="Arial"/>
                <a:ea typeface="Arial"/>
                <a:cs typeface="Arial"/>
              </a:defRPr>
            </a:def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Fewer migrations do not imply lower energy use.</a:t>
            </a:r>
          </a:p>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Energy intervals include zero in other scenarios. Energy uses normalized model units.</a:t>
            </a:r>
          </a:p>
        </p:txBody>
      </p:sp>
      <p:sp>
        <p:nvSpPr>
          <p:cNvPr id="5" name="">
            <a:extLst xmlns:a="http://schemas.openxmlformats.org/drawingml/2006/main">
              <a:ext uri="{FF2B5EF4-FFF2-40B4-BE49-F238E27FC236}">
                <a16:creationId xmlns:a16="http://schemas.microsoft.com/office/drawing/2014/main" id="{A9C0D848-6B53-4D53-8E0A-4FC8D7D381DE}"/>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24 / appendix</a:t>
            </a:r>
          </a:p>
        </p:txBody>
      </p:sp>
      <p:sp>
        <p:nvSpPr>
          <p:cNvPr id="6" name="">
            <a:extLst xmlns:a="http://schemas.openxmlformats.org/drawingml/2006/main">
              <a:ext uri="{FF2B5EF4-FFF2-40B4-BE49-F238E27FC236}">
                <a16:creationId xmlns:a16="http://schemas.microsoft.com/office/drawing/2014/main" id="{DC900D5E-C76C-4B8D-A23F-81C9D093E083}"/>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patent-study/results_20000/per_run_metrics.csv; paired_comparison.csv</a:t>
            </a:r>
          </a:p>
        </p:txBody>
      </p:sp>
    </p:spTree>
    <p:extLst>
      <p:ext uri="{BB962C8B-B14F-4D97-AF65-F5344CB8AC3E}">
        <p14:creationId xmlns:p14="http://schemas.microsoft.com/office/powerpoint/2010/main" val="1307183160"/>
      </p:ext>
    </p:extLst>
  </p:cSld>
</p:sld>
</file>

<file path=ppt/slides/slide2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036C43-9889-4DCD-A985-7E7134072728}"/>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Implementation references and verification</a:t>
            </a:r>
          </a:p>
        </p:txBody>
      </p:sp>
      <p:sp>
        <p:nvSpPr>
          <p:cNvPr id="2" name="">
            <a:extLst xmlns:a="http://schemas.openxmlformats.org/drawingml/2006/main">
              <a:ext uri="{FF2B5EF4-FFF2-40B4-BE49-F238E27FC236}">
                <a16:creationId xmlns:a16="http://schemas.microsoft.com/office/drawing/2014/main" id="{D34993A1-6293-40E9-9DB1-38F2CA53A242}"/>
              </a:ext>
            </a:extLst>
          </p:cNvPr>
          <p:cNvSpPr>
            <a:spLocks xmlns:a="http://schemas.openxmlformats.org/drawingml/2006/main" noGrp="1"/>
          </p:cNvSpPr>
          <p:nvPr/>
        </p:nvSpPr>
        <p:spPr>
          <a:xfrm xmlns:a="http://schemas.openxmlformats.org/drawingml/2006/main">
            <a:off x="685800" y="1666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Protocol and world: nodes.py and simulation/{entities,capability,leases,protocols,runner}.py</a:t>
            </a:r>
          </a:p>
        </p:txBody>
      </p:sp>
      <p:sp>
        <p:nvSpPr>
          <p:cNvPr id="3" name="">
            <a:extLst xmlns:a="http://schemas.openxmlformats.org/drawingml/2006/main">
              <a:ext uri="{FF2B5EF4-FFF2-40B4-BE49-F238E27FC236}">
                <a16:creationId xmlns:a16="http://schemas.microsoft.com/office/drawing/2014/main" id="{959CBB40-6F5B-4986-B1A1-A5A1CDEE87E5}"/>
              </a:ext>
            </a:extLst>
          </p:cNvPr>
          <p:cNvSpPr>
            <a:spLocks xmlns:a="http://schemas.openxmlformats.org/drawingml/2006/main" noGrp="1"/>
          </p:cNvSpPr>
          <p:nvPr/>
        </p:nvSpPr>
        <p:spPr>
          <a:xfrm xmlns:a="http://schemas.openxmlformats.org/drawingml/2006/main">
            <a:off x="685800" y="25241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Routing and model costs: simulation/communications.py and config.py</a:t>
            </a:r>
          </a:p>
        </p:txBody>
      </p:sp>
      <p:sp>
        <p:nvSpPr>
          <p:cNvPr id="4" name="">
            <a:extLst xmlns:a="http://schemas.openxmlformats.org/drawingml/2006/main">
              <a:ext uri="{FF2B5EF4-FFF2-40B4-BE49-F238E27FC236}">
                <a16:creationId xmlns:a16="http://schemas.microsoft.com/office/drawing/2014/main" id="{4AE4A0BF-5BAA-46B5-85F0-AACC50C40806}"/>
              </a:ext>
            </a:extLst>
          </p:cNvPr>
          <p:cNvSpPr>
            <a:spLocks xmlns:a="http://schemas.openxmlformats.org/drawingml/2006/main" noGrp="1"/>
          </p:cNvSpPr>
          <p:nvPr/>
        </p:nvSpPr>
        <p:spPr>
          <a:xfrm xmlns:a="http://schemas.openxmlformats.org/drawingml/2006/main">
            <a:off x="685800" y="33813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Study execution and statistics: patent-study/run_patent_study.py and analyze_patent_study.py</a:t>
            </a:r>
          </a:p>
        </p:txBody>
      </p:sp>
      <p:sp>
        <p:nvSpPr>
          <p:cNvPr id="5" name="">
            <a:extLst xmlns:a="http://schemas.openxmlformats.org/drawingml/2006/main">
              <a:ext uri="{FF2B5EF4-FFF2-40B4-BE49-F238E27FC236}">
                <a16:creationId xmlns:a16="http://schemas.microsoft.com/office/drawing/2014/main" id="{9CA947DD-4326-4459-B5E9-C7948BB6656B}"/>
              </a:ext>
            </a:extLst>
          </p:cNvPr>
          <p:cNvSpPr>
            <a:spLocks xmlns:a="http://schemas.openxmlformats.org/drawingml/2006/main" noGrp="1"/>
          </p:cNvSpPr>
          <p:nvPr/>
        </p:nvSpPr>
        <p:spPr>
          <a:xfrm xmlns:a="http://schemas.openxmlformats.org/drawingml/2006/main">
            <a:off x="685800" y="4238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Evidence: results_20000/{per_run_metrics,paired_comparison,threshold_crossings}.csv and runs/</a:t>
            </a:r>
          </a:p>
        </p:txBody>
      </p:sp>
      <p:sp>
        <p:nvSpPr>
          <p:cNvPr id="6" name="">
            <a:extLst xmlns:a="http://schemas.openxmlformats.org/drawingml/2006/main">
              <a:ext uri="{FF2B5EF4-FFF2-40B4-BE49-F238E27FC236}">
                <a16:creationId xmlns:a16="http://schemas.microsoft.com/office/drawing/2014/main" id="{703CA615-B4CA-4B9F-A656-5176AAB8C5E0}"/>
              </a:ext>
            </a:extLst>
          </p:cNvPr>
          <p:cNvSpPr>
            <a:spLocks xmlns:a="http://schemas.openxmlformats.org/drawingml/2006/main" noGrp="1"/>
          </p:cNvSpPr>
          <p:nvPr/>
        </p:nvSpPr>
        <p:spPr>
          <a:xfrm xmlns:a="http://schemas.openxmlformats.org/drawingml/2006/main">
            <a:off x="685800" y="5095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Verification: 82 tests passed on Mesa 3.3.1. Newest Mesa compatibility requires pinning.</a:t>
            </a:r>
          </a:p>
        </p:txBody>
      </p:sp>
      <p:sp>
        <p:nvSpPr>
          <p:cNvPr id="7" name="">
            <a:extLst xmlns:a="http://schemas.openxmlformats.org/drawingml/2006/main">
              <a:ext uri="{FF2B5EF4-FFF2-40B4-BE49-F238E27FC236}">
                <a16:creationId xmlns:a16="http://schemas.microsoft.com/office/drawing/2014/main" id="{2D374353-9540-4D7B-94ED-7D43A8E1B762}"/>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25 / appendix</a:t>
            </a:r>
          </a:p>
        </p:txBody>
      </p:sp>
      <p:sp>
        <p:nvSpPr>
          <p:cNvPr id="8" name="">
            <a:extLst xmlns:a="http://schemas.openxmlformats.org/drawingml/2006/main">
              <a:ext uri="{FF2B5EF4-FFF2-40B4-BE49-F238E27FC236}">
                <a16:creationId xmlns:a16="http://schemas.microsoft.com/office/drawing/2014/main" id="{5842469B-2C2A-46AE-B521-CAC4531E285C}"/>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nodes.py; simulation/; tests/; patent-study/</a:t>
            </a:r>
          </a:p>
        </p:txBody>
      </p:sp>
    </p:spTree>
    <p:extLst>
      <p:ext uri="{BB962C8B-B14F-4D97-AF65-F5344CB8AC3E}">
        <p14:creationId xmlns:p14="http://schemas.microsoft.com/office/powerpoint/2010/main" val="741586461"/>
      </p:ext>
    </p:extLst>
  </p:cSld>
</p:sld>
</file>

<file path=ppt/slides/slide2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4D1B5D-C30F-409D-93CD-8FB5E2B38F2D}"/>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1 of 6</a:t>
            </a:r>
          </a:p>
        </p:txBody>
      </p:sp>
      <p:sp>
        <p:nvSpPr>
          <p:cNvPr id="2" name="">
            <a:extLst xmlns:a="http://schemas.openxmlformats.org/drawingml/2006/main">
              <a:ext uri="{FF2B5EF4-FFF2-40B4-BE49-F238E27FC236}">
                <a16:creationId xmlns:a16="http://schemas.microsoft.com/office/drawing/2014/main" id="{715821A8-8835-4813-8381-B70EAF454BF2}"/>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separate logical hierarchy from physical mesh?</a:t>
            </a:r>
          </a:p>
        </p:txBody>
      </p:sp>
      <p:sp>
        <p:nvSpPr>
          <p:cNvPr id="3" name="">
            <a:extLst xmlns:a="http://schemas.openxmlformats.org/drawingml/2006/main">
              <a:ext uri="{FF2B5EF4-FFF2-40B4-BE49-F238E27FC236}">
                <a16:creationId xmlns:a16="http://schemas.microsoft.com/office/drawing/2014/main" id="{9BCB05DC-6B7E-4B88-B8E3-AADFEE493D60}"/>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Membership defines role candidates and aggregation. Physical adjacency determines whether their representatives can actually communicate.</a:t>
            </a:r>
          </a:p>
        </p:txBody>
      </p:sp>
      <p:sp>
        <p:nvSpPr>
          <p:cNvPr id="4" name="">
            <a:extLst xmlns:a="http://schemas.openxmlformats.org/drawingml/2006/main">
              <a:ext uri="{FF2B5EF4-FFF2-40B4-BE49-F238E27FC236}">
                <a16:creationId xmlns:a16="http://schemas.microsoft.com/office/drawing/2014/main" id="{880BD211-9CE1-421A-A491-83127D777D5A}"/>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many assignments does the default world require?</a:t>
            </a:r>
          </a:p>
        </p:txBody>
      </p:sp>
      <p:sp>
        <p:nvSpPr>
          <p:cNvPr id="5" name="">
            <a:extLst xmlns:a="http://schemas.openxmlformats.org/drawingml/2006/main">
              <a:ext uri="{FF2B5EF4-FFF2-40B4-BE49-F238E27FC236}">
                <a16:creationId xmlns:a16="http://schemas.microsoft.com/office/drawing/2014/main" id="{6EA130BA-45FA-4BE5-8279-8967CD342EFD}"/>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Four roles across ten subnet, three network, and one internetwork scopes: 4 × 14 = 56.</a:t>
            </a:r>
          </a:p>
        </p:txBody>
      </p:sp>
      <p:sp>
        <p:nvSpPr>
          <p:cNvPr id="6" name="">
            <a:extLst xmlns:a="http://schemas.openxmlformats.org/drawingml/2006/main">
              <a:ext uri="{FF2B5EF4-FFF2-40B4-BE49-F238E27FC236}">
                <a16:creationId xmlns:a16="http://schemas.microsoft.com/office/drawing/2014/main" id="{86308BDA-680F-4D2F-86EF-9DDAF728126D}"/>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Does anomaly_detection execute a detection model?</a:t>
            </a:r>
          </a:p>
        </p:txBody>
      </p:sp>
      <p:sp>
        <p:nvSpPr>
          <p:cNvPr id="7" name="">
            <a:extLst xmlns:a="http://schemas.openxmlformats.org/drawingml/2006/main">
              <a:ext uri="{FF2B5EF4-FFF2-40B4-BE49-F238E27FC236}">
                <a16:creationId xmlns:a16="http://schemas.microsoft.com/office/drawing/2014/main" id="{828B8A52-9824-4308-A632-72C50105DE18}"/>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It is a role label scored from energy and health. No anomaly classifier or sensor-payload detector is implemented.</a:t>
            </a:r>
          </a:p>
        </p:txBody>
      </p:sp>
      <p:sp>
        <p:nvSpPr>
          <p:cNvPr id="8" name="">
            <a:extLst xmlns:a="http://schemas.openxmlformats.org/drawingml/2006/main">
              <a:ext uri="{FF2B5EF4-FFF2-40B4-BE49-F238E27FC236}">
                <a16:creationId xmlns:a16="http://schemas.microsoft.com/office/drawing/2014/main" id="{61A84A21-1230-4B1C-98DB-BE97E6776369}"/>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are node scores calculated?</a:t>
            </a:r>
          </a:p>
        </p:txBody>
      </p:sp>
      <p:sp>
        <p:nvSpPr>
          <p:cNvPr id="9" name="">
            <a:extLst xmlns:a="http://schemas.openxmlformats.org/drawingml/2006/main">
              <a:ext uri="{FF2B5EF4-FFF2-40B4-BE49-F238E27FC236}">
                <a16:creationId xmlns:a16="http://schemas.microsoft.com/office/drawing/2014/main" id="{6FC26315-40A1-4603-81A6-955A92C2EBE1}"/>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ROLE_WEIGHTS defines normalized weighted sums. Gateway uses .40 energy, .35 link quality, and .25 initial degree centrality.</a:t>
            </a:r>
          </a:p>
        </p:txBody>
      </p:sp>
      <p:sp>
        <p:nvSpPr>
          <p:cNvPr id="10" name="">
            <a:extLst xmlns:a="http://schemas.openxmlformats.org/drawingml/2006/main">
              <a:ext uri="{FF2B5EF4-FFF2-40B4-BE49-F238E27FC236}">
                <a16:creationId xmlns:a16="http://schemas.microsoft.com/office/drawing/2014/main" id="{57B9D8A7-97C0-4902-8BDD-D1F1394298F8}"/>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26 / appendix</a:t>
            </a:r>
          </a:p>
        </p:txBody>
      </p:sp>
      <p:sp>
        <p:nvSpPr>
          <p:cNvPr id="11" name="">
            <a:extLst xmlns:a="http://schemas.openxmlformats.org/drawingml/2006/main">
              <a:ext uri="{FF2B5EF4-FFF2-40B4-BE49-F238E27FC236}">
                <a16:creationId xmlns:a16="http://schemas.microsoft.com/office/drawing/2014/main" id="{753FD135-1F69-40A4-9575-10039970EB27}"/>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simulation/entities.py; simulation/topology.py; simulation/config.py; ProtocolEngine.assignment_keys; nodes.py; simulation/runner.py; nodes.py</a:t>
            </a:r>
          </a:p>
        </p:txBody>
      </p:sp>
    </p:spTree>
    <p:extLst>
      <p:ext uri="{BB962C8B-B14F-4D97-AF65-F5344CB8AC3E}">
        <p14:creationId xmlns:p14="http://schemas.microsoft.com/office/powerpoint/2010/main" val="1697724681"/>
      </p:ext>
    </p:extLst>
  </p:cSld>
</p:sld>
</file>

<file path=ppt/slides/slide2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D22A0C-228E-4C1B-995C-E18C2E0B1EB0}"/>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2 of 6</a:t>
            </a:r>
          </a:p>
        </p:txBody>
      </p:sp>
      <p:sp>
        <p:nvSpPr>
          <p:cNvPr id="2" name="">
            <a:extLst xmlns:a="http://schemas.openxmlformats.org/drawingml/2006/main">
              <a:ext uri="{FF2B5EF4-FFF2-40B4-BE49-F238E27FC236}">
                <a16:creationId xmlns:a16="http://schemas.microsoft.com/office/drawing/2014/main" id="{C249C328-893F-4B50-A354-FD81CCDD7CCA}"/>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happens to a failed node during aggregation?</a:t>
            </a:r>
          </a:p>
        </p:txBody>
      </p:sp>
      <p:sp>
        <p:nvSpPr>
          <p:cNvPr id="3" name="">
            <a:extLst xmlns:a="http://schemas.openxmlformats.org/drawingml/2006/main">
              <a:ext uri="{FF2B5EF4-FFF2-40B4-BE49-F238E27FC236}">
                <a16:creationId xmlns:a16="http://schemas.microsoft.com/office/drawing/2014/main" id="{4EC88931-7946-455F-86EB-481C3A31CF6E}"/>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Its capability becomes zero but its child weight remains in the denominator, reducing the parent aggregate.</a:t>
            </a:r>
          </a:p>
        </p:txBody>
      </p:sp>
      <p:sp>
        <p:nvSpPr>
          <p:cNvPr id="4" name="">
            <a:extLst xmlns:a="http://schemas.openxmlformats.org/drawingml/2006/main">
              <a:ext uri="{FF2B5EF4-FFF2-40B4-BE49-F238E27FC236}">
                <a16:creationId xmlns:a16="http://schemas.microsoft.com/office/drawing/2014/main" id="{2AF19D48-6F10-4591-8856-A055011B0617}"/>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Is the root aggregate the global average node score?</a:t>
            </a:r>
          </a:p>
        </p:txBody>
      </p:sp>
      <p:sp>
        <p:nvSpPr>
          <p:cNvPr id="5" name="">
            <a:extLst xmlns:a="http://schemas.openxmlformats.org/drawingml/2006/main">
              <a:ext uri="{FF2B5EF4-FFF2-40B4-BE49-F238E27FC236}">
                <a16:creationId xmlns:a16="http://schemas.microsoft.com/office/drawing/2014/main" id="{BE583702-0C30-4EF5-8510-43341233B11A}"/>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Not necessarily. Default aggregation averages immediate children at each level, and the networks have unequal descendant counts.</a:t>
            </a:r>
          </a:p>
        </p:txBody>
      </p:sp>
      <p:sp>
        <p:nvSpPr>
          <p:cNvPr id="6" name="">
            <a:extLst xmlns:a="http://schemas.openxmlformats.org/drawingml/2006/main">
              <a:ext uri="{FF2B5EF4-FFF2-40B4-BE49-F238E27FC236}">
                <a16:creationId xmlns:a16="http://schemas.microsoft.com/office/drawing/2014/main" id="{47CF13B4-588A-4C46-A10B-47C55C86CCD7}"/>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a container represented on the physical mesh?</a:t>
            </a:r>
          </a:p>
        </p:txBody>
      </p:sp>
      <p:sp>
        <p:nvSpPr>
          <p:cNvPr id="7" name="">
            <a:extLst xmlns:a="http://schemas.openxmlformats.org/drawingml/2006/main">
              <a:ext uri="{FF2B5EF4-FFF2-40B4-BE49-F238E27FC236}">
                <a16:creationId xmlns:a16="http://schemas.microsoft.com/office/drawing/2014/main" id="{62584D1F-3E8C-465B-BF0C-EEC0365EDB57}"/>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first available descendant node in its stored order represents it. This is an abstraction rather than optimized representative election.</a:t>
            </a:r>
          </a:p>
        </p:txBody>
      </p:sp>
      <p:sp>
        <p:nvSpPr>
          <p:cNvPr id="8" name="">
            <a:extLst xmlns:a="http://schemas.openxmlformats.org/drawingml/2006/main">
              <a:ext uri="{FF2B5EF4-FFF2-40B4-BE49-F238E27FC236}">
                <a16:creationId xmlns:a16="http://schemas.microsoft.com/office/drawing/2014/main" id="{4E0B2212-F92B-4AB2-A2DC-79D1D3DF3DDF}"/>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prevents optional migration oscillation?</a:t>
            </a:r>
          </a:p>
        </p:txBody>
      </p:sp>
      <p:sp>
        <p:nvSpPr>
          <p:cNvPr id="9" name="">
            <a:extLst xmlns:a="http://schemas.openxmlformats.org/drawingml/2006/main">
              <a:ext uri="{FF2B5EF4-FFF2-40B4-BE49-F238E27FC236}">
                <a16:creationId xmlns:a16="http://schemas.microsoft.com/office/drawing/2014/main" id="{8FBC6357-BDA6-49C6-B8E2-73D40BE2E8D7}"/>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Candidate capability minus weighted migration cost must strictly exceed current capability plus hysteresis. Cooldown and adaptive hysteresis are optional.</a:t>
            </a:r>
          </a:p>
        </p:txBody>
      </p:sp>
      <p:sp>
        <p:nvSpPr>
          <p:cNvPr id="10" name="">
            <a:extLst xmlns:a="http://schemas.openxmlformats.org/drawingml/2006/main">
              <a:ext uri="{FF2B5EF4-FFF2-40B4-BE49-F238E27FC236}">
                <a16:creationId xmlns:a16="http://schemas.microsoft.com/office/drawing/2014/main" id="{476FE196-92FB-4A50-BE29-09B06F97C565}"/>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27 / appendix</a:t>
            </a:r>
          </a:p>
        </p:txBody>
      </p:sp>
      <p:sp>
        <p:nvSpPr>
          <p:cNvPr id="11" name="">
            <a:extLst xmlns:a="http://schemas.openxmlformats.org/drawingml/2006/main">
              <a:ext uri="{FF2B5EF4-FFF2-40B4-BE49-F238E27FC236}">
                <a16:creationId xmlns:a16="http://schemas.microsoft.com/office/drawing/2014/main" id="{EFBA6146-D308-4A7F-9D88-5EA7026CF301}"/>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nodes.py; simulation/capability.py; simulation/capability.py; SimulationConfig.subnet_counts; EntityHierarchy.representative_node_id; ProtocolEng...</a:t>
            </a:r>
          </a:p>
        </p:txBody>
      </p:sp>
    </p:spTree>
    <p:extLst>
      <p:ext uri="{BB962C8B-B14F-4D97-AF65-F5344CB8AC3E}">
        <p14:creationId xmlns:p14="http://schemas.microsoft.com/office/powerpoint/2010/main" val="1453478206"/>
      </p:ext>
    </p:extLst>
  </p:cSld>
</p:sld>
</file>

<file path=ppt/slides/slide2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FC4EBA9-E47F-43E0-AE4C-4DB172CF23F8}"/>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3 of 6</a:t>
            </a:r>
          </a:p>
        </p:txBody>
      </p:sp>
      <p:sp>
        <p:nvSpPr>
          <p:cNvPr id="2" name="">
            <a:extLst xmlns:a="http://schemas.openxmlformats.org/drawingml/2006/main">
              <a:ext uri="{FF2B5EF4-FFF2-40B4-BE49-F238E27FC236}">
                <a16:creationId xmlns:a16="http://schemas.microsoft.com/office/drawing/2014/main" id="{149E9BDC-CA29-4A8F-8C33-2769D2921902}"/>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migration cost different from charged energy?</a:t>
            </a:r>
          </a:p>
        </p:txBody>
      </p:sp>
      <p:sp>
        <p:nvSpPr>
          <p:cNvPr id="3" name="">
            <a:extLst xmlns:a="http://schemas.openxmlformats.org/drawingml/2006/main">
              <a:ext uri="{FF2B5EF4-FFF2-40B4-BE49-F238E27FC236}">
                <a16:creationId xmlns:a16="http://schemas.microsoft.com/office/drawing/2014/main" id="{9203EEA4-E6C3-4CAF-921E-1A4065D0225C}"/>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score cost combines estimated messages, transfer, route-based energy, and disruption. Actual router counters charge the modeled exchanges that execute.</a:t>
            </a:r>
          </a:p>
        </p:txBody>
      </p:sp>
      <p:sp>
        <p:nvSpPr>
          <p:cNvPr id="4" name="">
            <a:extLst xmlns:a="http://schemas.openxmlformats.org/drawingml/2006/main">
              <a:ext uri="{FF2B5EF4-FFF2-40B4-BE49-F238E27FC236}">
                <a16:creationId xmlns:a16="http://schemas.microsoft.com/office/drawing/2014/main" id="{A7055BA8-54D1-4FEC-B68A-0C6CA64C30F7}"/>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do lease renewal and epoch retention interact?</a:t>
            </a:r>
          </a:p>
        </p:txBody>
      </p:sp>
      <p:sp>
        <p:nvSpPr>
          <p:cNvPr id="5" name="">
            <a:extLst xmlns:a="http://schemas.openxmlformats.org/drawingml/2006/main">
              <a:ext uri="{FF2B5EF4-FFF2-40B4-BE49-F238E27FC236}">
                <a16:creationId xmlns:a16="http://schemas.microsoft.com/office/drawing/2014/main" id="{A8E4395A-24EA-4B3E-B0EB-14588EEA1F66}"/>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Renewal updates lease timing at its configured fraction. Without retention, epoch changes regrant leases, potentially occurring before long leases renew.</a:t>
            </a:r>
          </a:p>
        </p:txBody>
      </p:sp>
      <p:sp>
        <p:nvSpPr>
          <p:cNvPr id="6" name="">
            <a:extLst xmlns:a="http://schemas.openxmlformats.org/drawingml/2006/main">
              <a:ext uri="{FF2B5EF4-FFF2-40B4-BE49-F238E27FC236}">
                <a16:creationId xmlns:a16="http://schemas.microsoft.com/office/drawing/2014/main" id="{420ECCD5-4C3B-4FB9-95B2-7F40E2A2DB29}"/>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Does epoch fencing solve distributed split-brain?</a:t>
            </a:r>
          </a:p>
        </p:txBody>
      </p:sp>
      <p:sp>
        <p:nvSpPr>
          <p:cNvPr id="7" name="">
            <a:extLst xmlns:a="http://schemas.openxmlformats.org/drawingml/2006/main">
              <a:ext uri="{FF2B5EF4-FFF2-40B4-BE49-F238E27FC236}">
                <a16:creationId xmlns:a16="http://schemas.microsoft.com/office/drawing/2014/main" id="{8241A307-CA8A-4647-835F-A584DF409A1D}"/>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Epoch labels and invalidation operate in one process. Independent receivers, delayed messages, and stale-epoch rejection are not simulated.</a:t>
            </a:r>
          </a:p>
        </p:txBody>
      </p:sp>
      <p:sp>
        <p:nvSpPr>
          <p:cNvPr id="8" name="">
            <a:extLst xmlns:a="http://schemas.openxmlformats.org/drawingml/2006/main">
              <a:ext uri="{FF2B5EF4-FFF2-40B4-BE49-F238E27FC236}">
                <a16:creationId xmlns:a16="http://schemas.microsoft.com/office/drawing/2014/main" id="{6335C944-722E-4AFC-9999-29F8E3C41FF9}"/>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does routing sometimes choose more hops?</a:t>
            </a:r>
          </a:p>
        </p:txBody>
      </p:sp>
      <p:sp>
        <p:nvSpPr>
          <p:cNvPr id="9" name="">
            <a:extLst xmlns:a="http://schemas.openxmlformats.org/drawingml/2006/main">
              <a:ext uri="{FF2B5EF4-FFF2-40B4-BE49-F238E27FC236}">
                <a16:creationId xmlns:a16="http://schemas.microsoft.com/office/drawing/2014/main" id="{C2C40B4D-1AB2-4014-AA88-F1D3B296A687}"/>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Dijkstra minimizes quality-weighted cost, so two reliable edges can cost less than one poor edge.</a:t>
            </a:r>
          </a:p>
        </p:txBody>
      </p:sp>
      <p:sp>
        <p:nvSpPr>
          <p:cNvPr id="10" name="">
            <a:extLst xmlns:a="http://schemas.openxmlformats.org/drawingml/2006/main">
              <a:ext uri="{FF2B5EF4-FFF2-40B4-BE49-F238E27FC236}">
                <a16:creationId xmlns:a16="http://schemas.microsoft.com/office/drawing/2014/main" id="{2F3CC40E-1D24-4008-8F5C-239603926590}"/>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28 / appendix</a:t>
            </a:r>
          </a:p>
        </p:txBody>
      </p:sp>
      <p:sp>
        <p:nvSpPr>
          <p:cNvPr id="11" name="">
            <a:extLst xmlns:a="http://schemas.openxmlformats.org/drawingml/2006/main">
              <a:ext uri="{FF2B5EF4-FFF2-40B4-BE49-F238E27FC236}">
                <a16:creationId xmlns:a16="http://schemas.microsoft.com/office/drawing/2014/main" id="{6605CC70-C92B-4D3D-BD06-66A1C151EB66}"/>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calculate_migration_cost; ProtocolEngine._migrate; ProtocolEngine._renew_if_due; _advance_epoch; simulation/protocols.py; simulation/leases.py; N...</a:t>
            </a:r>
          </a:p>
        </p:txBody>
      </p:sp>
    </p:spTree>
    <p:extLst>
      <p:ext uri="{BB962C8B-B14F-4D97-AF65-F5344CB8AC3E}">
        <p14:creationId xmlns:p14="http://schemas.microsoft.com/office/powerpoint/2010/main" val="957893652"/>
      </p:ext>
    </p:extLst>
  </p:cSld>
</p:sld>
</file>

<file path=ppt/slides/slide2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08BBCDD-F36D-4E6C-BD84-474CADA3661B}"/>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4 of 6</a:t>
            </a:r>
          </a:p>
        </p:txBody>
      </p:sp>
      <p:sp>
        <p:nvSpPr>
          <p:cNvPr id="2" name="">
            <a:extLst xmlns:a="http://schemas.openxmlformats.org/drawingml/2006/main">
              <a:ext uri="{FF2B5EF4-FFF2-40B4-BE49-F238E27FC236}">
                <a16:creationId xmlns:a16="http://schemas.microsoft.com/office/drawing/2014/main" id="{86B0DEE2-648B-4777-9AD4-624540BD6220}"/>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When are cached routes invalidated?</a:t>
            </a:r>
          </a:p>
        </p:txBody>
      </p:sp>
      <p:sp>
        <p:nvSpPr>
          <p:cNvPr id="3" name="">
            <a:extLst xmlns:a="http://schemas.openxmlformats.org/drawingml/2006/main">
              <a:ext uri="{FF2B5EF4-FFF2-40B4-BE49-F238E27FC236}">
                <a16:creationId xmlns:a16="http://schemas.microsoft.com/office/drawing/2014/main" id="{C8F2CF14-7E7F-4F9C-8279-A5F757008A45}"/>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Failure, recovery, link degradation, and depletion invalidate usable graph and source-route caches.</a:t>
            </a:r>
          </a:p>
        </p:txBody>
      </p:sp>
      <p:sp>
        <p:nvSpPr>
          <p:cNvPr id="4" name="">
            <a:extLst xmlns:a="http://schemas.openxmlformats.org/drawingml/2006/main">
              <a:ext uri="{FF2B5EF4-FFF2-40B4-BE49-F238E27FC236}">
                <a16:creationId xmlns:a16="http://schemas.microsoft.com/office/drawing/2014/main" id="{45DFC2EB-F49D-458D-86CF-F1E78211030D}"/>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is the routing complexity caveat?</a:t>
            </a:r>
          </a:p>
        </p:txBody>
      </p:sp>
      <p:sp>
        <p:nvSpPr>
          <p:cNvPr id="5" name="">
            <a:extLst xmlns:a="http://schemas.openxmlformats.org/drawingml/2006/main">
              <a:ext uri="{FF2B5EF4-FFF2-40B4-BE49-F238E27FC236}">
                <a16:creationId xmlns:a16="http://schemas.microsoft.com/office/drawing/2014/main" id="{9DC351FE-235A-4A4B-BD34-88E7C529EAD6}"/>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Heap-based shortest paths are followed by explicit reconstruction of every destination path. Path storage can dominate textbook distance-only bounds.</a:t>
            </a:r>
          </a:p>
        </p:txBody>
      </p:sp>
      <p:sp>
        <p:nvSpPr>
          <p:cNvPr id="6" name="">
            <a:extLst xmlns:a="http://schemas.openxmlformats.org/drawingml/2006/main">
              <a:ext uri="{FF2B5EF4-FFF2-40B4-BE49-F238E27FC236}">
                <a16:creationId xmlns:a16="http://schemas.microsoft.com/office/drawing/2014/main" id="{67389D9C-3997-4A38-80AA-12E4A6A05F05}"/>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solar energy modeled?</a:t>
            </a:r>
          </a:p>
        </p:txBody>
      </p:sp>
      <p:sp>
        <p:nvSpPr>
          <p:cNvPr id="7" name="">
            <a:extLst xmlns:a="http://schemas.openxmlformats.org/drawingml/2006/main">
              <a:ext uri="{FF2B5EF4-FFF2-40B4-BE49-F238E27FC236}">
                <a16:creationId xmlns:a16="http://schemas.microsoft.com/office/drawing/2014/main" id="{E6B8CE8A-A35B-4D23-944F-AB02A1D775DA}"/>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A constant seeded per-node rate charges batteries up to capacity. Overflow is curtailed, and depleted nodes rejoin after reaching reserve.</a:t>
            </a:r>
          </a:p>
        </p:txBody>
      </p:sp>
      <p:sp>
        <p:nvSpPr>
          <p:cNvPr id="8" name="">
            <a:extLst xmlns:a="http://schemas.openxmlformats.org/drawingml/2006/main">
              <a:ext uri="{FF2B5EF4-FFF2-40B4-BE49-F238E27FC236}">
                <a16:creationId xmlns:a16="http://schemas.microsoft.com/office/drawing/2014/main" id="{53705E18-60BD-4163-B8DB-EE43810B8392}"/>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Can the solar gate block failure recovery?</a:t>
            </a:r>
          </a:p>
        </p:txBody>
      </p:sp>
      <p:sp>
        <p:nvSpPr>
          <p:cNvPr id="9" name="">
            <a:extLst xmlns:a="http://schemas.openxmlformats.org/drawingml/2006/main">
              <a:ext uri="{FF2B5EF4-FFF2-40B4-BE49-F238E27FC236}">
                <a16:creationId xmlns:a16="http://schemas.microsoft.com/office/drawing/2014/main" id="{6B1C1979-972F-419B-82CE-720764D25F78}"/>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The gate restricts optional migrations. Assignment after holder failure takes the recovery path instead.</a:t>
            </a:r>
          </a:p>
        </p:txBody>
      </p:sp>
      <p:sp>
        <p:nvSpPr>
          <p:cNvPr id="10" name="">
            <a:extLst xmlns:a="http://schemas.openxmlformats.org/drawingml/2006/main">
              <a:ext uri="{FF2B5EF4-FFF2-40B4-BE49-F238E27FC236}">
                <a16:creationId xmlns:a16="http://schemas.microsoft.com/office/drawing/2014/main" id="{56A34850-42DA-4837-B7AB-2CFAC2350E9F}"/>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29 / appendix</a:t>
            </a:r>
          </a:p>
        </p:txBody>
      </p:sp>
      <p:sp>
        <p:nvSpPr>
          <p:cNvPr id="11" name="">
            <a:extLst xmlns:a="http://schemas.openxmlformats.org/drawingml/2006/main">
              <a:ext uri="{FF2B5EF4-FFF2-40B4-BE49-F238E27FC236}">
                <a16:creationId xmlns:a16="http://schemas.microsoft.com/office/drawing/2014/main" id="{289E6C16-E071-4FA9-B65E-9013706A37EC}"/>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simulation/runner.py; NetworkRouter.invalidate_graph; NetworkRouter._routes_from; RoleSimulationModel._harvest_solar_energy; ProtocolEngine.step;...</a:t>
            </a:r>
          </a:p>
        </p:txBody>
      </p:sp>
    </p:spTree>
    <p:extLst>
      <p:ext uri="{BB962C8B-B14F-4D97-AF65-F5344CB8AC3E}">
        <p14:creationId xmlns:p14="http://schemas.microsoft.com/office/powerpoint/2010/main" val="1432214133"/>
      </p:ext>
    </p:extLst>
  </p:cSld>
</p:sld>
</file>

<file path=ppt/slides/slide3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DA0C7E5-6788-4D24-AB26-6D2074385C12}"/>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5 of 6</a:t>
            </a:r>
          </a:p>
        </p:txBody>
      </p:sp>
      <p:sp>
        <p:nvSpPr>
          <p:cNvPr id="2" name="">
            <a:extLst xmlns:a="http://schemas.openxmlformats.org/drawingml/2006/main">
              <a:ext uri="{FF2B5EF4-FFF2-40B4-BE49-F238E27FC236}">
                <a16:creationId xmlns:a16="http://schemas.microsoft.com/office/drawing/2014/main" id="{BA8FCE93-9071-4E09-83F4-1CA297BEE72B}"/>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CSC measure?</a:t>
            </a:r>
          </a:p>
        </p:txBody>
      </p:sp>
      <p:sp>
        <p:nvSpPr>
          <p:cNvPr id="3" name="">
            <a:extLst xmlns:a="http://schemas.openxmlformats.org/drawingml/2006/main">
              <a:ext uri="{FF2B5EF4-FFF2-40B4-BE49-F238E27FC236}">
                <a16:creationId xmlns:a16="http://schemas.microsoft.com/office/drawing/2014/main" id="{C20F609A-0B62-4927-8890-EE716288B3D6}"/>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fraction of required role-time intervals whose lease and holder satisfy role_available. It excludes time zero and does not prove service-task execution.</a:t>
            </a:r>
          </a:p>
        </p:txBody>
      </p:sp>
      <p:sp>
        <p:nvSpPr>
          <p:cNvPr id="4" name="">
            <a:extLst xmlns:a="http://schemas.openxmlformats.org/drawingml/2006/main">
              <a:ext uri="{FF2B5EF4-FFF2-40B4-BE49-F238E27FC236}">
                <a16:creationId xmlns:a16="http://schemas.microsoft.com/office/drawing/2014/main" id="{CEF283B7-7E30-425C-8AA1-55757DA1487B}"/>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Is sensor delivery measured at the root?</a:t>
            </a:r>
          </a:p>
        </p:txBody>
      </p:sp>
      <p:sp>
        <p:nvSpPr>
          <p:cNvPr id="5" name="">
            <a:extLst xmlns:a="http://schemas.openxmlformats.org/drawingml/2006/main">
              <a:ext uri="{FF2B5EF4-FFF2-40B4-BE49-F238E27FC236}">
                <a16:creationId xmlns:a16="http://schemas.microsoft.com/office/drawing/2014/main" id="{AAB3A850-86AE-496E-84E9-6F08BB9665D7}"/>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It counts successful sensor items reaching subnet gateways. Optional aggregate backhaul has separate counters.</a:t>
            </a:r>
          </a:p>
        </p:txBody>
      </p:sp>
      <p:sp>
        <p:nvSpPr>
          <p:cNvPr id="6" name="">
            <a:extLst xmlns:a="http://schemas.openxmlformats.org/drawingml/2006/main">
              <a:ext uri="{FF2B5EF4-FFF2-40B4-BE49-F238E27FC236}">
                <a16:creationId xmlns:a16="http://schemas.microsoft.com/office/drawing/2014/main" id="{A0E1C745-BCF9-43E5-B6B1-8E0FF843496F}"/>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can high residual energy coexist with poor service?</a:t>
            </a:r>
          </a:p>
        </p:txBody>
      </p:sp>
      <p:sp>
        <p:nvSpPr>
          <p:cNvPr id="7" name="">
            <a:extLst xmlns:a="http://schemas.openxmlformats.org/drawingml/2006/main">
              <a:ext uri="{FF2B5EF4-FFF2-40B4-BE49-F238E27FC236}">
                <a16:creationId xmlns:a16="http://schemas.microsoft.com/office/drawing/2014/main" id="{1D045933-A47B-4B5C-9F05-87A2C96F9A67}"/>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A failed controller or unavailable gateway can suppress traffic and leave nodes alive but unable to provide modeled service.</a:t>
            </a:r>
          </a:p>
        </p:txBody>
      </p:sp>
      <p:sp>
        <p:nvSpPr>
          <p:cNvPr id="8" name="">
            <a:extLst xmlns:a="http://schemas.openxmlformats.org/drawingml/2006/main">
              <a:ext uri="{FF2B5EF4-FFF2-40B4-BE49-F238E27FC236}">
                <a16:creationId xmlns:a16="http://schemas.microsoft.com/office/drawing/2014/main" id="{21CD7ECC-C9D0-404A-86B5-9B37B384EEE0}"/>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right-censored lifetime mean?</a:t>
            </a:r>
          </a:p>
        </p:txBody>
      </p:sp>
      <p:sp>
        <p:nvSpPr>
          <p:cNvPr id="9" name="">
            <a:extLst xmlns:a="http://schemas.openxmlformats.org/drawingml/2006/main">
              <a:ext uri="{FF2B5EF4-FFF2-40B4-BE49-F238E27FC236}">
                <a16:creationId xmlns:a16="http://schemas.microsoft.com/office/drawing/2014/main" id="{A7AD3D79-678D-4B85-947B-09897D4BA5E4}"/>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threshold did not cross during the observation horizon. The horizon is a bound on observation, not a measured failure time.</a:t>
            </a:r>
          </a:p>
        </p:txBody>
      </p:sp>
      <p:sp>
        <p:nvSpPr>
          <p:cNvPr id="10" name="">
            <a:extLst xmlns:a="http://schemas.openxmlformats.org/drawingml/2006/main">
              <a:ext uri="{FF2B5EF4-FFF2-40B4-BE49-F238E27FC236}">
                <a16:creationId xmlns:a16="http://schemas.microsoft.com/office/drawing/2014/main" id="{91CF5108-DE04-4997-A338-F6AB64B8D30D}"/>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30 / appendix</a:t>
            </a:r>
          </a:p>
        </p:txBody>
      </p:sp>
      <p:sp>
        <p:nvSpPr>
          <p:cNvPr id="11" name="">
            <a:extLst xmlns:a="http://schemas.openxmlformats.org/drawingml/2006/main">
              <a:ext uri="{FF2B5EF4-FFF2-40B4-BE49-F238E27FC236}">
                <a16:creationId xmlns:a16="http://schemas.microsoft.com/office/drawing/2014/main" id="{A95B4E92-EC40-411C-B2E4-B493E54FEED9}"/>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MetricsRecorder.record; ProtocolEngine.role_available; RoleSimulationModel._route_sensor_traffic; simulation/runner.py; stored per_run_metrics.cs...</a:t>
            </a:r>
          </a:p>
        </p:txBody>
      </p:sp>
    </p:spTree>
    <p:extLst>
      <p:ext uri="{BB962C8B-B14F-4D97-AF65-F5344CB8AC3E}">
        <p14:creationId xmlns:p14="http://schemas.microsoft.com/office/powerpoint/2010/main" val="851444668"/>
      </p:ext>
    </p:extLst>
  </p:cSld>
</p:sld>
</file>

<file path=ppt/slides/slide3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A6FBB95-56B3-4397-9C2E-BD26EA1CB4E2}"/>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6 of 6</a:t>
            </a:r>
          </a:p>
        </p:txBody>
      </p:sp>
      <p:sp>
        <p:nvSpPr>
          <p:cNvPr id="2" name="">
            <a:extLst xmlns:a="http://schemas.openxmlformats.org/drawingml/2006/main">
              <a:ext uri="{FF2B5EF4-FFF2-40B4-BE49-F238E27FC236}">
                <a16:creationId xmlns:a16="http://schemas.microsoft.com/office/drawing/2014/main" id="{E3306E6E-801D-4850-867A-B16A08420C6D}"/>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compare paired seeds?</a:t>
            </a:r>
          </a:p>
        </p:txBody>
      </p:sp>
      <p:sp>
        <p:nvSpPr>
          <p:cNvPr id="3" name="">
            <a:extLst xmlns:a="http://schemas.openxmlformats.org/drawingml/2006/main">
              <a:ext uri="{FF2B5EF4-FFF2-40B4-BE49-F238E27FC236}">
                <a16:creationId xmlns:a16="http://schemas.microsoft.com/office/drawing/2014/main" id="{54143E6A-A707-46BB-A417-D9C69EC449EF}"/>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arms share topology and event schedules for each seed/scenario, reducing unrelated world variation in within-seed differences.</a:t>
            </a:r>
          </a:p>
        </p:txBody>
      </p:sp>
      <p:sp>
        <p:nvSpPr>
          <p:cNvPr id="4" name="">
            <a:extLst xmlns:a="http://schemas.openxmlformats.org/drawingml/2006/main">
              <a:ext uri="{FF2B5EF4-FFF2-40B4-BE49-F238E27FC236}">
                <a16:creationId xmlns:a16="http://schemas.microsoft.com/office/drawing/2014/main" id="{3D3F71C3-8EB3-4103-B35E-432CB41D4497}"/>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D minus C establish about the gate?</a:t>
            </a:r>
          </a:p>
        </p:txBody>
      </p:sp>
      <p:sp>
        <p:nvSpPr>
          <p:cNvPr id="5" name="">
            <a:extLst xmlns:a="http://schemas.openxmlformats.org/drawingml/2006/main">
              <a:ext uri="{FF2B5EF4-FFF2-40B4-BE49-F238E27FC236}">
                <a16:creationId xmlns:a16="http://schemas.microsoft.com/office/drawing/2014/main" id="{D67B68CA-3A4D-460C-86FB-12DB3D976686}"/>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In the stored study it does not establish an overall delivery or energy-efficiency improvement. Normal delivery is unchanged and energy/item slightly rises.</a:t>
            </a:r>
          </a:p>
        </p:txBody>
      </p:sp>
      <p:sp>
        <p:nvSpPr>
          <p:cNvPr id="6" name="">
            <a:extLst xmlns:a="http://schemas.openxmlformats.org/drawingml/2006/main">
              <a:ext uri="{FF2B5EF4-FFF2-40B4-BE49-F238E27FC236}">
                <a16:creationId xmlns:a16="http://schemas.microsoft.com/office/drawing/2014/main" id="{FD77878C-F810-428A-ADAE-2FEBCC26F576}"/>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security mechanisms exist?</a:t>
            </a:r>
          </a:p>
        </p:txBody>
      </p:sp>
      <p:sp>
        <p:nvSpPr>
          <p:cNvPr id="7" name="">
            <a:extLst xmlns:a="http://schemas.openxmlformats.org/drawingml/2006/main">
              <a:ext uri="{FF2B5EF4-FFF2-40B4-BE49-F238E27FC236}">
                <a16:creationId xmlns:a16="http://schemas.microsoft.com/office/drawing/2014/main" id="{B5C0AF22-AFD4-4D51-A6AD-AFB6BA747F32}"/>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Input validation and state consistency checks exist. Authentication, encryption, authorization, and adversarial-node defenses do not.</a:t>
            </a:r>
          </a:p>
        </p:txBody>
      </p:sp>
      <p:sp>
        <p:nvSpPr>
          <p:cNvPr id="8" name="">
            <a:extLst xmlns:a="http://schemas.openxmlformats.org/drawingml/2006/main">
              <a:ext uri="{FF2B5EF4-FFF2-40B4-BE49-F238E27FC236}">
                <a16:creationId xmlns:a16="http://schemas.microsoft.com/office/drawing/2014/main" id="{35643DF1-9B82-4A65-A9D5-3FC73CF88B29}"/>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should be improved first?</a:t>
            </a:r>
          </a:p>
        </p:txBody>
      </p:sp>
      <p:sp>
        <p:nvSpPr>
          <p:cNvPr id="9" name="">
            <a:extLst xmlns:a="http://schemas.openxmlformats.org/drawingml/2006/main">
              <a:ext uri="{FF2B5EF4-FFF2-40B4-BE49-F238E27FC236}">
                <a16:creationId xmlns:a16="http://schemas.microsoft.com/office/drawing/2014/main" id="{DAD52559-B427-4027-A0A5-EFD40C6F5146}"/>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Define real role-task execution and end-to-end item delivery, then add asynchronous communication and calibrated energy before deployment claims.</a:t>
            </a:r>
          </a:p>
        </p:txBody>
      </p:sp>
      <p:sp>
        <p:nvSpPr>
          <p:cNvPr id="10" name="">
            <a:extLst xmlns:a="http://schemas.openxmlformats.org/drawingml/2006/main">
              <a:ext uri="{FF2B5EF4-FFF2-40B4-BE49-F238E27FC236}">
                <a16:creationId xmlns:a16="http://schemas.microsoft.com/office/drawing/2014/main" id="{135CAB50-9C42-4A44-925E-E13EF6D09AF8}"/>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31 / appendix</a:t>
            </a:r>
          </a:p>
        </p:txBody>
      </p:sp>
      <p:sp>
        <p:nvSpPr>
          <p:cNvPr id="11" name="">
            <a:extLst xmlns:a="http://schemas.openxmlformats.org/drawingml/2006/main">
              <a:ext uri="{FF2B5EF4-FFF2-40B4-BE49-F238E27FC236}">
                <a16:creationId xmlns:a16="http://schemas.microsoft.com/office/drawing/2014/main" id="{0F747679-2C53-46AF-9989-F7E674BEB47F}"/>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patent-study/run_patent_study.py; patent-study/results_20000/paired_comparison.csv; simulation/config.py; simulation/leases.py; Architectural rec...</a:t>
            </a:r>
          </a:p>
        </p:txBody>
      </p:sp>
    </p:spTree>
    <p:extLst>
      <p:ext uri="{BB962C8B-B14F-4D97-AF65-F5344CB8AC3E}">
        <p14:creationId xmlns:p14="http://schemas.microsoft.com/office/powerpoint/2010/main" val="9808598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2026-10-15T17:27:07.3830000Z</dcterms:created>
  <dcterms:modified xsi:type="dcterms:W3CDTF">2026-10-15T17:27:07.3830000Z</dcterms:modified>
</coreProperties>
</file>